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8" r:id="rId2"/>
  </p:sldMasterIdLst>
  <p:notesMasterIdLst>
    <p:notesMasterId r:id="rId80"/>
  </p:notesMasterIdLst>
  <p:sldIdLst>
    <p:sldId id="256" r:id="rId3"/>
    <p:sldId id="257" r:id="rId4"/>
    <p:sldId id="258" r:id="rId5"/>
    <p:sldId id="259" r:id="rId6"/>
    <p:sldId id="260" r:id="rId7"/>
    <p:sldId id="261" r:id="rId8"/>
    <p:sldId id="262" r:id="rId9"/>
    <p:sldId id="263" r:id="rId10"/>
    <p:sldId id="264" r:id="rId11"/>
    <p:sldId id="265" r:id="rId12"/>
    <p:sldId id="267" r:id="rId13"/>
    <p:sldId id="269" r:id="rId14"/>
    <p:sldId id="271" r:id="rId15"/>
    <p:sldId id="273"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90" r:id="rId30"/>
    <p:sldId id="291" r:id="rId31"/>
    <p:sldId id="289" r:id="rId32"/>
    <p:sldId id="288"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316" r:id="rId48"/>
    <p:sldId id="318" r:id="rId49"/>
    <p:sldId id="307" r:id="rId50"/>
    <p:sldId id="308" r:id="rId51"/>
    <p:sldId id="309" r:id="rId52"/>
    <p:sldId id="310" r:id="rId53"/>
    <p:sldId id="311" r:id="rId54"/>
    <p:sldId id="312" r:id="rId55"/>
    <p:sldId id="314" r:id="rId56"/>
    <p:sldId id="319" r:id="rId57"/>
    <p:sldId id="320" r:id="rId58"/>
    <p:sldId id="322" r:id="rId59"/>
    <p:sldId id="323" r:id="rId60"/>
    <p:sldId id="324" r:id="rId61"/>
    <p:sldId id="325" r:id="rId62"/>
    <p:sldId id="326" r:id="rId63"/>
    <p:sldId id="328" r:id="rId64"/>
    <p:sldId id="330" r:id="rId65"/>
    <p:sldId id="332" r:id="rId66"/>
    <p:sldId id="333" r:id="rId67"/>
    <p:sldId id="335" r:id="rId68"/>
    <p:sldId id="337" r:id="rId69"/>
    <p:sldId id="339" r:id="rId70"/>
    <p:sldId id="340" r:id="rId71"/>
    <p:sldId id="341" r:id="rId72"/>
    <p:sldId id="342" r:id="rId73"/>
    <p:sldId id="343" r:id="rId74"/>
    <p:sldId id="344" r:id="rId75"/>
    <p:sldId id="345" r:id="rId76"/>
    <p:sldId id="346" r:id="rId77"/>
    <p:sldId id="347" r:id="rId78"/>
    <p:sldId id="349" r:id="rId7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86" d="100"/>
          <a:sy n="86" d="100"/>
        </p:scale>
        <p:origin x="552"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635F43-56EA-4B64-BCA1-1981BD022384}" type="datetimeFigureOut">
              <a:rPr lang="tr-TR" smtClean="0"/>
              <a:t>14.01.2022</a:t>
            </a:fld>
            <a:endParaRPr lang="tr-TR"/>
          </a:p>
        </p:txBody>
      </p:sp>
      <p:sp>
        <p:nvSpPr>
          <p:cNvPr id="4" name="Slayt Görüntüsü Yer Tutucusu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97544A2-3612-4B44-AF13-63E6777292CF}" type="slidenum">
              <a:rPr lang="tr-TR" smtClean="0"/>
              <a:t>‹#›</a:t>
            </a:fld>
            <a:endParaRPr lang="tr-TR"/>
          </a:p>
        </p:txBody>
      </p:sp>
    </p:spTree>
    <p:extLst>
      <p:ext uri="{BB962C8B-B14F-4D97-AF65-F5344CB8AC3E}">
        <p14:creationId xmlns:p14="http://schemas.microsoft.com/office/powerpoint/2010/main" val="1427758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E4B74BE8-56B9-41AB-A645-4F447A254045}" type="slidenum">
              <a:rPr lang="tr-TR" smtClean="0"/>
              <a:pPr/>
              <a:t>71</a:t>
            </a:fld>
            <a:endParaRPr lang="tr-TR">
              <a:latin typeface="Arial Tur" charset="-94"/>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p:spPr>
        <p:txBody>
          <a:bodyPr/>
          <a:lstStyle/>
          <a:p>
            <a:pPr eaLnBrk="1" hangingPunct="1"/>
            <a:r>
              <a:rPr lang="tr-TR" dirty="0"/>
              <a:t>ŞEKİL ’de görüleceği üzere etik davranış, sosyal çevre, kişisel ahlak ve işletme özelliklerinin oluşturduğu bir bütündür Kişilerin bir örgüt içinde ahlaki ya da ahlaki olmayan davranışları, yaşamını sürdürdüğü sosyal çevrenin, aileden aldığı eğitimin, dinin ve çalıştığı firmanın örgüt kültürünün etkisiyle ortaya çıkar. </a:t>
            </a:r>
          </a:p>
          <a:p>
            <a:pPr eaLnBrk="1" hangingPunct="1">
              <a:buFont typeface="Arial" pitchFamily="34" charset="0"/>
              <a:buNone/>
            </a:pPr>
            <a:r>
              <a:rPr lang="tr-TR" b="1" u="sng" dirty="0">
                <a:solidFill>
                  <a:srgbClr val="000000"/>
                </a:solidFill>
              </a:rPr>
              <a:t>Karar almamızı etkileyen unsurlar:</a:t>
            </a:r>
          </a:p>
          <a:p>
            <a:pPr eaLnBrk="1" hangingPunct="1">
              <a:lnSpc>
                <a:spcPct val="90000"/>
              </a:lnSpc>
              <a:buFont typeface="Arial" pitchFamily="34" charset="0"/>
              <a:buChar char="•"/>
            </a:pPr>
            <a:r>
              <a:rPr lang="tr-TR" b="1" dirty="0"/>
              <a:t> Bilişsel sınırlamalar</a:t>
            </a:r>
            <a:r>
              <a:rPr lang="tr-TR" dirty="0"/>
              <a:t> ve </a:t>
            </a:r>
            <a:r>
              <a:rPr lang="tr-TR" b="1" dirty="0"/>
              <a:t>yanlılık</a:t>
            </a:r>
            <a:r>
              <a:rPr lang="tr-TR" dirty="0"/>
              <a:t> “en doğru” kararlar almamızı engeller. </a:t>
            </a:r>
          </a:p>
          <a:p>
            <a:pPr eaLnBrk="1" hangingPunct="1">
              <a:lnSpc>
                <a:spcPct val="90000"/>
              </a:lnSpc>
              <a:buFont typeface="Arial" pitchFamily="34" charset="0"/>
              <a:buChar char="•"/>
            </a:pPr>
            <a:r>
              <a:rPr lang="tr-TR" dirty="0"/>
              <a:t> İnsanlar neyin doğru olduğunu bilse bile, “</a:t>
            </a:r>
            <a:r>
              <a:rPr lang="tr-TR" b="1" dirty="0"/>
              <a:t>organizasyonun baskısı</a:t>
            </a:r>
            <a:r>
              <a:rPr lang="tr-TR" dirty="0"/>
              <a:t>” nedeniyle doğru kararı almakta zorlanırlar. </a:t>
            </a:r>
          </a:p>
          <a:p>
            <a:pPr eaLnBrk="1" hangingPunct="1">
              <a:lnSpc>
                <a:spcPct val="90000"/>
              </a:lnSpc>
              <a:buFont typeface="Arial" pitchFamily="34" charset="0"/>
              <a:buChar char="•"/>
            </a:pPr>
            <a:r>
              <a:rPr lang="tr-TR" b="1" dirty="0">
                <a:solidFill>
                  <a:srgbClr val="00B0F0"/>
                </a:solidFill>
              </a:rPr>
              <a:t>Örgüt Kültürü</a:t>
            </a:r>
            <a:r>
              <a:rPr lang="tr-TR" b="1" dirty="0"/>
              <a:t>: </a:t>
            </a:r>
            <a:r>
              <a:rPr lang="tr-TR" dirty="0"/>
              <a:t>İş görenin davranışlarına yön verir ve doğruyu yanlıştan ayırt edebilecek ahlaki ilkeler setini oluşturur. Herkes çalıştığı kurumun kültürü içinde tuttuğu yolun doğru olduğuna inanır. Ancak işgören, örgütünden dışarı çıkıp gerçek dünya ile karşılaştığı zaman, hiç de doğru yolda olmadığını anlayabilir.</a:t>
            </a:r>
          </a:p>
          <a:p>
            <a:pPr eaLnBrk="1" hangingPunct="1">
              <a:buFont typeface="Arial" pitchFamily="34" charset="0"/>
              <a:buChar char="•"/>
            </a:pPr>
            <a:r>
              <a:rPr lang="tr-TR" dirty="0">
                <a:solidFill>
                  <a:srgbClr val="00B0F0"/>
                </a:solidFill>
              </a:rPr>
              <a:t>  </a:t>
            </a:r>
            <a:r>
              <a:rPr lang="tr-TR" b="1" dirty="0">
                <a:solidFill>
                  <a:srgbClr val="00B0F0"/>
                </a:solidFill>
              </a:rPr>
              <a:t>Alt Kültür:</a:t>
            </a:r>
            <a:r>
              <a:rPr lang="tr-TR" dirty="0">
                <a:solidFill>
                  <a:srgbClr val="00B0F0"/>
                </a:solidFill>
              </a:rPr>
              <a:t> </a:t>
            </a:r>
            <a:r>
              <a:rPr lang="tr-TR" sz="1200" dirty="0"/>
              <a:t>Örgütsel ortamda çalışan kişi, belli bir alt grubun üyesi olur. Her alt grubun ya da informal grubun kendine özgü gerçeği olabilir. Bir alt grup, güçlü bir alt kültür oluşturmuş ise bu grup diğer grup üyelerini etkileyebilir. İkna gücü yüksek olan alt grup, diğer alt grupları ve genel olarak formal örgütü etkileyebilir. Böylece doğru, güçlü alt grubun doğrusuna göre biçim kazanır.</a:t>
            </a:r>
          </a:p>
          <a:p>
            <a:pPr eaLnBrk="1" hangingPunct="1">
              <a:buFont typeface="Arial" pitchFamily="34" charset="0"/>
              <a:buChar char="•"/>
            </a:pPr>
            <a:r>
              <a:rPr lang="tr-TR" b="1" dirty="0">
                <a:solidFill>
                  <a:srgbClr val="00B0F0"/>
                </a:solidFill>
              </a:rPr>
              <a:t> Kişilik ve Felsefe: </a:t>
            </a:r>
            <a:r>
              <a:rPr lang="tr-TR" dirty="0"/>
              <a:t>Ö</a:t>
            </a:r>
            <a:r>
              <a:rPr lang="tr-TR" sz="1200" dirty="0"/>
              <a:t>nem verdiğimiz duygular veya güçlü kişiliğimiz bizim gerçeğe ilişkin bakış açımızı değiştirebilir. Aynı zamanda felsefi derinlik içinde sunulan etkili düşünce sistemleri de doğrularımızı değiştirebilir.</a:t>
            </a:r>
          </a:p>
          <a:p>
            <a:pPr eaLnBrk="1" hangingPunct="1">
              <a:buFont typeface="Arial" pitchFamily="34" charset="0"/>
              <a:buChar char="•"/>
            </a:pPr>
            <a:r>
              <a:rPr lang="tr-TR" sz="1200" dirty="0"/>
              <a:t> meslek</a:t>
            </a:r>
          </a:p>
          <a:p>
            <a:pPr eaLnBrk="1" hangingPunct="1">
              <a:buFont typeface="Arial" pitchFamily="34" charset="0"/>
              <a:buChar char="•"/>
            </a:pPr>
            <a:r>
              <a:rPr lang="tr-TR" sz="1200" dirty="0"/>
              <a:t> aile</a:t>
            </a:r>
          </a:p>
          <a:p>
            <a:pPr eaLnBrk="1" hangingPunct="1">
              <a:buFont typeface="Arial" pitchFamily="34" charset="0"/>
              <a:buChar char="•"/>
            </a:pPr>
            <a:r>
              <a:rPr lang="tr-TR" sz="1200" dirty="0"/>
              <a:t> ülke </a:t>
            </a:r>
          </a:p>
          <a:p>
            <a:pPr eaLnBrk="1" hangingPunct="1">
              <a:buFont typeface="Arial" pitchFamily="34" charset="0"/>
              <a:buChar char="•"/>
            </a:pPr>
            <a:r>
              <a:rPr lang="tr-TR" sz="1200" baseline="0" dirty="0"/>
              <a:t> içinde bulunulan bölge</a:t>
            </a:r>
          </a:p>
          <a:p>
            <a:pPr eaLnBrk="1" hangingPunct="1">
              <a:buFont typeface="Arial" pitchFamily="34" charset="0"/>
              <a:buChar char="•"/>
            </a:pPr>
            <a:r>
              <a:rPr lang="tr-TR" sz="1200" baseline="0" dirty="0"/>
              <a:t>Din</a:t>
            </a:r>
          </a:p>
          <a:p>
            <a:pPr eaLnBrk="1" hangingPunct="1">
              <a:buFont typeface="Arial" pitchFamily="34" charset="0"/>
              <a:buChar char="•"/>
            </a:pPr>
            <a:r>
              <a:rPr lang="tr-TR" sz="1200" baseline="0" dirty="0"/>
              <a:t>Arkadaşlar</a:t>
            </a:r>
          </a:p>
          <a:p>
            <a:pPr eaLnBrk="1" hangingPunct="1">
              <a:buFont typeface="Arial" pitchFamily="34" charset="0"/>
              <a:buChar char="•"/>
            </a:pPr>
            <a:r>
              <a:rPr lang="tr-TR" sz="1200" baseline="0" dirty="0"/>
              <a:t>Kanunlar</a:t>
            </a:r>
          </a:p>
          <a:p>
            <a:pPr eaLnBrk="1" hangingPunct="1">
              <a:buFont typeface="Arial" pitchFamily="34" charset="0"/>
              <a:buChar char="•"/>
            </a:pPr>
            <a:r>
              <a:rPr lang="tr-TR" sz="1200" baseline="0" dirty="0"/>
              <a:t>Patron/amir</a:t>
            </a:r>
          </a:p>
          <a:p>
            <a:pPr eaLnBrk="1" hangingPunct="1">
              <a:buFont typeface="Arial" pitchFamily="34" charset="0"/>
              <a:buChar char="•"/>
            </a:pPr>
            <a:r>
              <a:rPr lang="tr-TR" sz="1200" baseline="0" dirty="0"/>
              <a:t>Mesai arkadaşları</a:t>
            </a:r>
          </a:p>
          <a:p>
            <a:pPr eaLnBrk="1" hangingPunct="1">
              <a:buFont typeface="Arial" pitchFamily="34" charset="0"/>
              <a:buChar char="•"/>
            </a:pPr>
            <a:endParaRPr lang="tr-TR" sz="1200" baseline="0" dirty="0"/>
          </a:p>
          <a:p>
            <a:pPr eaLnBrk="1" hangingPunct="1">
              <a:buFont typeface="Arial" pitchFamily="34" charset="0"/>
              <a:buChar char="•"/>
            </a:pPr>
            <a:endParaRPr lang="tr-TR" sz="1200" dirty="0"/>
          </a:p>
          <a:p>
            <a:pPr eaLnBrk="1" hangingPunct="1">
              <a:lnSpc>
                <a:spcPct val="90000"/>
              </a:lnSpc>
              <a:buFont typeface="Arial" pitchFamily="34" charset="0"/>
              <a:buChar char="•"/>
            </a:pPr>
            <a:endParaRPr lang="tr-TR" dirty="0"/>
          </a:p>
          <a:p>
            <a:pPr eaLnBrk="1" hangingPunct="1">
              <a:lnSpc>
                <a:spcPct val="90000"/>
              </a:lnSpc>
              <a:buFont typeface="Arial" pitchFamily="34" charset="0"/>
              <a:buChar char="•"/>
            </a:pPr>
            <a:endParaRPr lang="tr-TR" dirty="0"/>
          </a:p>
          <a:p>
            <a:pPr eaLnBrk="1" hangingPunct="1"/>
            <a:endParaRPr lang="tr-TR" dirty="0">
              <a:solidFill>
                <a:srgbClr val="000000"/>
              </a:solidFill>
            </a:endParaRPr>
          </a:p>
          <a:p>
            <a:pPr eaLnBrk="1" hangingPunct="1">
              <a:buFont typeface="Arial" pitchFamily="34" charset="0"/>
              <a:buChar char="•"/>
            </a:pPr>
            <a:endParaRPr lang="tr-TR" dirty="0"/>
          </a:p>
        </p:txBody>
      </p:sp>
    </p:spTree>
    <p:extLst>
      <p:ext uri="{BB962C8B-B14F-4D97-AF65-F5344CB8AC3E}">
        <p14:creationId xmlns:p14="http://schemas.microsoft.com/office/powerpoint/2010/main" val="1495283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3A1FB144-B8DF-477C-8921-ABCC8E0980A5}" type="slidenum">
              <a:rPr lang="tr-TR" smtClean="0"/>
              <a:pPr/>
              <a:t>72</a:t>
            </a:fld>
            <a:endParaRPr lang="tr-TR">
              <a:latin typeface="Arial Tur" charset="-94"/>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pPr eaLnBrk="1" hangingPunct="1"/>
            <a:endParaRPr lang="tr-TR" dirty="0"/>
          </a:p>
          <a:p>
            <a:pPr lvl="1" eaLnBrk="1" hangingPunct="1"/>
            <a:r>
              <a:rPr lang="tr-TR" dirty="0">
                <a:solidFill>
                  <a:srgbClr val="000000"/>
                </a:solidFill>
              </a:rPr>
              <a:t>Bu bağlamda, çalışanlar arasında </a:t>
            </a:r>
            <a:r>
              <a:rPr lang="tr-TR" b="1" dirty="0">
                <a:solidFill>
                  <a:srgbClr val="000000"/>
                </a:solidFill>
              </a:rPr>
              <a:t>yüksek bağlılık</a:t>
            </a:r>
            <a:r>
              <a:rPr lang="tr-TR" dirty="0">
                <a:solidFill>
                  <a:srgbClr val="000000"/>
                </a:solidFill>
              </a:rPr>
              <a:t>, </a:t>
            </a:r>
            <a:r>
              <a:rPr lang="tr-TR" b="1" dirty="0">
                <a:solidFill>
                  <a:srgbClr val="000000"/>
                </a:solidFill>
              </a:rPr>
              <a:t>yatırımcıların yatırım yapmada daha istekli</a:t>
            </a:r>
            <a:r>
              <a:rPr lang="tr-TR" dirty="0">
                <a:solidFill>
                  <a:srgbClr val="000000"/>
                </a:solidFill>
              </a:rPr>
              <a:t> davranması ve </a:t>
            </a:r>
            <a:r>
              <a:rPr lang="tr-TR" b="1" dirty="0">
                <a:solidFill>
                  <a:srgbClr val="000000"/>
                </a:solidFill>
              </a:rPr>
              <a:t>müşteri memnuniyetinin artması</a:t>
            </a:r>
            <a:r>
              <a:rPr lang="tr-TR" dirty="0">
                <a:solidFill>
                  <a:srgbClr val="000000"/>
                </a:solidFill>
              </a:rPr>
              <a:t> gibi faydalar işletmenin </a:t>
            </a:r>
            <a:r>
              <a:rPr lang="tr-TR" b="1" dirty="0">
                <a:solidFill>
                  <a:srgbClr val="000000"/>
                </a:solidFill>
              </a:rPr>
              <a:t>finansal performansının</a:t>
            </a:r>
            <a:r>
              <a:rPr lang="tr-TR" dirty="0">
                <a:solidFill>
                  <a:srgbClr val="000000"/>
                </a:solidFill>
              </a:rPr>
              <a:t> genel olarak artmasını sağlayacaktır.</a:t>
            </a:r>
          </a:p>
        </p:txBody>
      </p:sp>
    </p:spTree>
    <p:extLst>
      <p:ext uri="{BB962C8B-B14F-4D97-AF65-F5344CB8AC3E}">
        <p14:creationId xmlns:p14="http://schemas.microsoft.com/office/powerpoint/2010/main" val="12186133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3A1FB144-B8DF-477C-8921-ABCC8E0980A5}" type="slidenum">
              <a:rPr lang="tr-TR" smtClean="0"/>
              <a:pPr/>
              <a:t>73</a:t>
            </a:fld>
            <a:endParaRPr lang="tr-TR">
              <a:latin typeface="Arial Tur" charset="-94"/>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pPr eaLnBrk="1" hangingPunct="1"/>
            <a:endParaRPr lang="tr-TR" dirty="0"/>
          </a:p>
          <a:p>
            <a:pPr lvl="1" eaLnBrk="1" hangingPunct="1"/>
            <a:r>
              <a:rPr lang="tr-TR" dirty="0">
                <a:solidFill>
                  <a:srgbClr val="000000"/>
                </a:solidFill>
              </a:rPr>
              <a:t>Bu bağlamda, çalışanlar arasında </a:t>
            </a:r>
            <a:r>
              <a:rPr lang="tr-TR" b="1" dirty="0">
                <a:solidFill>
                  <a:srgbClr val="000000"/>
                </a:solidFill>
              </a:rPr>
              <a:t>yüksek bağlılık</a:t>
            </a:r>
            <a:r>
              <a:rPr lang="tr-TR" dirty="0">
                <a:solidFill>
                  <a:srgbClr val="000000"/>
                </a:solidFill>
              </a:rPr>
              <a:t>, </a:t>
            </a:r>
            <a:r>
              <a:rPr lang="tr-TR" b="1" dirty="0">
                <a:solidFill>
                  <a:srgbClr val="000000"/>
                </a:solidFill>
              </a:rPr>
              <a:t>yatırımcıların yatırım yapmada daha istekli</a:t>
            </a:r>
            <a:r>
              <a:rPr lang="tr-TR" dirty="0">
                <a:solidFill>
                  <a:srgbClr val="000000"/>
                </a:solidFill>
              </a:rPr>
              <a:t> davranması ve </a:t>
            </a:r>
            <a:r>
              <a:rPr lang="tr-TR" b="1" dirty="0">
                <a:solidFill>
                  <a:srgbClr val="000000"/>
                </a:solidFill>
              </a:rPr>
              <a:t>müşteri memnuniyetinin artması</a:t>
            </a:r>
            <a:r>
              <a:rPr lang="tr-TR" dirty="0">
                <a:solidFill>
                  <a:srgbClr val="000000"/>
                </a:solidFill>
              </a:rPr>
              <a:t> gibi faydalar işletmenin </a:t>
            </a:r>
            <a:r>
              <a:rPr lang="tr-TR" b="1" dirty="0">
                <a:solidFill>
                  <a:srgbClr val="000000"/>
                </a:solidFill>
              </a:rPr>
              <a:t>finansal performansının</a:t>
            </a:r>
            <a:r>
              <a:rPr lang="tr-TR" dirty="0">
                <a:solidFill>
                  <a:srgbClr val="000000"/>
                </a:solidFill>
              </a:rPr>
              <a:t> genel olarak artmasını sağlayacaktır.</a:t>
            </a:r>
          </a:p>
        </p:txBody>
      </p:sp>
    </p:spTree>
    <p:extLst>
      <p:ext uri="{BB962C8B-B14F-4D97-AF65-F5344CB8AC3E}">
        <p14:creationId xmlns:p14="http://schemas.microsoft.com/office/powerpoint/2010/main" val="2930879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B9108D64-7EB4-469C-809A-68A1791AC0FC}" type="slidenum">
              <a:rPr lang="tr-TR" smtClean="0"/>
              <a:pPr/>
              <a:t>74</a:t>
            </a:fld>
            <a:endParaRPr lang="tr-TR">
              <a:latin typeface="Arial Tur" charset="-94"/>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pPr eaLnBrk="1" hangingPunct="1"/>
            <a:endParaRPr lang="tr-TR" dirty="0">
              <a:solidFill>
                <a:srgbClr val="000000"/>
              </a:solidFill>
            </a:endParaRPr>
          </a:p>
          <a:p>
            <a:pPr eaLnBrk="1" hangingPunct="1"/>
            <a:endParaRPr lang="tr-TR" dirty="0">
              <a:solidFill>
                <a:srgbClr val="000000"/>
              </a:solidFill>
            </a:endParaRPr>
          </a:p>
          <a:p>
            <a:pPr eaLnBrk="1" hangingPunct="1"/>
            <a:endParaRPr lang="tr-TR" dirty="0">
              <a:solidFill>
                <a:srgbClr val="000000"/>
              </a:solidFill>
            </a:endParaRPr>
          </a:p>
          <a:p>
            <a:pPr eaLnBrk="1" hangingPunct="1"/>
            <a:endParaRPr lang="tr-TR" dirty="0">
              <a:solidFill>
                <a:srgbClr val="000000"/>
              </a:solidFill>
            </a:endParaRPr>
          </a:p>
        </p:txBody>
      </p:sp>
    </p:spTree>
    <p:extLst>
      <p:ext uri="{BB962C8B-B14F-4D97-AF65-F5344CB8AC3E}">
        <p14:creationId xmlns:p14="http://schemas.microsoft.com/office/powerpoint/2010/main" val="1968221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645E999D-E2F5-4FCB-AB67-214A655D56C3}" type="slidenum">
              <a:rPr lang="tr-TR" smtClean="0"/>
              <a:pPr/>
              <a:t>75</a:t>
            </a:fld>
            <a:endParaRPr lang="tr-TR">
              <a:latin typeface="Arial Tur" charset="-94"/>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tr-TR" dirty="0"/>
          </a:p>
        </p:txBody>
      </p:sp>
    </p:spTree>
    <p:extLst>
      <p:ext uri="{BB962C8B-B14F-4D97-AF65-F5344CB8AC3E}">
        <p14:creationId xmlns:p14="http://schemas.microsoft.com/office/powerpoint/2010/main" val="1386287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645E999D-E2F5-4FCB-AB67-214A655D56C3}" type="slidenum">
              <a:rPr lang="tr-TR" smtClean="0"/>
              <a:pPr/>
              <a:t>76</a:t>
            </a:fld>
            <a:endParaRPr lang="tr-TR">
              <a:latin typeface="Arial Tur" charset="-94"/>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tr-TR" dirty="0"/>
          </a:p>
        </p:txBody>
      </p:sp>
    </p:spTree>
    <p:extLst>
      <p:ext uri="{BB962C8B-B14F-4D97-AF65-F5344CB8AC3E}">
        <p14:creationId xmlns:p14="http://schemas.microsoft.com/office/powerpoint/2010/main" val="24731192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tr-TR"/>
              <a:t>Asıl başlık stili için tıklatın</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25C0C4E-D38D-47F2-864E-C2724F2C0868}" type="datetimeFigureOut">
              <a:rPr lang="tr-TR" smtClean="0"/>
              <a:t>14.01.2022</a:t>
            </a:fld>
            <a:endParaRPr lang="tr-TR"/>
          </a:p>
        </p:txBody>
      </p:sp>
      <p:sp>
        <p:nvSpPr>
          <p:cNvPr id="5" name="Footer Placeholder 4"/>
          <p:cNvSpPr>
            <a:spLocks noGrp="1"/>
          </p:cNvSpPr>
          <p:nvPr>
            <p:ph type="ftr" sz="quarter" idx="11"/>
          </p:nvPr>
        </p:nvSpPr>
        <p:spPr>
          <a:xfrm>
            <a:off x="2692397" y="5037663"/>
            <a:ext cx="5214635" cy="279400"/>
          </a:xfrm>
        </p:spPr>
        <p:txBody>
          <a:bodyPr/>
          <a:lstStyle/>
          <a:p>
            <a:endParaRPr lang="tr-TR"/>
          </a:p>
        </p:txBody>
      </p:sp>
      <p:sp>
        <p:nvSpPr>
          <p:cNvPr id="6" name="Slide Number Placeholder 5"/>
          <p:cNvSpPr>
            <a:spLocks noGrp="1"/>
          </p:cNvSpPr>
          <p:nvPr>
            <p:ph type="sldNum" sz="quarter" idx="12"/>
          </p:nvPr>
        </p:nvSpPr>
        <p:spPr>
          <a:xfrm>
            <a:off x="8956900" y="5037663"/>
            <a:ext cx="551167" cy="279400"/>
          </a:xfrm>
        </p:spPr>
        <p:txBody>
          <a:bodyPr/>
          <a:lstStyle/>
          <a:p>
            <a:fld id="{5E54A7AD-5806-4A47-A4F8-2D347816619C}" type="slidenum">
              <a:rPr lang="tr-TR" smtClean="0"/>
              <a:t>‹#›</a:t>
            </a:fld>
            <a:endParaRPr lang="tr-TR"/>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3825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25C0C4E-D38D-47F2-864E-C2724F2C0868}" type="datetimeFigureOut">
              <a:rPr lang="tr-TR" smtClean="0"/>
              <a:t>14.01.2022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E54A7AD-5806-4A47-A4F8-2D347816619C}" type="slidenum">
              <a:rPr lang="tr-TR" smtClean="0"/>
              <a:t>‹#›</a:t>
            </a:fld>
            <a:endParaRPr lang="tr-TR"/>
          </a:p>
        </p:txBody>
      </p:sp>
    </p:spTree>
    <p:extLst>
      <p:ext uri="{BB962C8B-B14F-4D97-AF65-F5344CB8AC3E}">
        <p14:creationId xmlns:p14="http://schemas.microsoft.com/office/powerpoint/2010/main" val="1185383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tr-TR"/>
              <a:t>Asıl başlık stili için tıklatın</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Date Placeholder 3"/>
          <p:cNvSpPr>
            <a:spLocks noGrp="1"/>
          </p:cNvSpPr>
          <p:nvPr>
            <p:ph type="dt" sz="half" idx="10"/>
          </p:nvPr>
        </p:nvSpPr>
        <p:spPr/>
        <p:txBody>
          <a:bodyPr/>
          <a:lstStyle/>
          <a:p>
            <a:fld id="{125C0C4E-D38D-47F2-864E-C2724F2C0868}" type="datetimeFigureOut">
              <a:rPr lang="tr-TR" smtClean="0"/>
              <a:t>14.01.2022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E54A7AD-5806-4A47-A4F8-2D347816619C}" type="slidenum">
              <a:rPr lang="tr-TR" smtClean="0"/>
              <a:t>‹#›</a:t>
            </a:fld>
            <a:endParaRPr lang="tr-TR"/>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9636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125C0C4E-D38D-47F2-864E-C2724F2C0868}" type="datetimeFigureOut">
              <a:rPr lang="tr-TR" smtClean="0"/>
              <a:t>14.01.2022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5E54A7AD-5806-4A47-A4F8-2D347816619C}" type="slidenum">
              <a:rPr lang="tr-TR" smtClean="0"/>
              <a:t>‹#›</a:t>
            </a:fld>
            <a:endParaRPr lang="tr-TR"/>
          </a:p>
        </p:txBody>
      </p:sp>
    </p:spTree>
    <p:extLst>
      <p:ext uri="{BB962C8B-B14F-4D97-AF65-F5344CB8AC3E}">
        <p14:creationId xmlns:p14="http://schemas.microsoft.com/office/powerpoint/2010/main" val="1963194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 için tıklatın</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125C0C4E-D38D-47F2-864E-C2724F2C0868}" type="datetimeFigureOut">
              <a:rPr lang="tr-TR" smtClean="0"/>
              <a:t>14.01.2022</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5E54A7AD-5806-4A47-A4F8-2D347816619C}" type="slidenum">
              <a:rPr lang="tr-TR" smtClean="0"/>
              <a:t>‹#›</a:t>
            </a:fld>
            <a:endParaRPr lang="tr-TR"/>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4767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125C0C4E-D38D-47F2-864E-C2724F2C0868}" type="datetimeFigureOut">
              <a:rPr lang="tr-TR" smtClean="0"/>
              <a:t>14.01.2022</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5E54A7AD-5806-4A47-A4F8-2D347816619C}" type="slidenum">
              <a:rPr lang="tr-TR" smtClean="0"/>
              <a:t>‹#›</a:t>
            </a:fld>
            <a:endParaRPr lang="tr-TR"/>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8948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5C0C4E-D38D-47F2-864E-C2724F2C0868}" type="datetimeFigureOut">
              <a:rPr lang="tr-TR" smtClean="0"/>
              <a:t>14.01.2022</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5E54A7AD-5806-4A47-A4F8-2D347816619C}" type="slidenum">
              <a:rPr lang="tr-TR" smtClean="0"/>
              <a:t>‹#›</a:t>
            </a:fld>
            <a:endParaRPr lang="tr-TR"/>
          </a:p>
        </p:txBody>
      </p:sp>
    </p:spTree>
    <p:extLst>
      <p:ext uri="{BB962C8B-B14F-4D97-AF65-F5344CB8AC3E}">
        <p14:creationId xmlns:p14="http://schemas.microsoft.com/office/powerpoint/2010/main" val="623285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tr-TR"/>
              <a:t>Asıl başlık stili için tıklatın</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Date Placeholder 4"/>
          <p:cNvSpPr>
            <a:spLocks noGrp="1"/>
          </p:cNvSpPr>
          <p:nvPr>
            <p:ph type="dt" sz="half" idx="10"/>
          </p:nvPr>
        </p:nvSpPr>
        <p:spPr/>
        <p:txBody>
          <a:bodyPr/>
          <a:lstStyle/>
          <a:p>
            <a:fld id="{125C0C4E-D38D-47F2-864E-C2724F2C0868}" type="datetimeFigureOut">
              <a:rPr lang="tr-TR" smtClean="0"/>
              <a:t>14.01.2022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5E54A7AD-5806-4A47-A4F8-2D347816619C}" type="slidenum">
              <a:rPr lang="tr-TR" smtClean="0"/>
              <a:t>‹#›</a:t>
            </a:fld>
            <a:endParaRPr lang="tr-TR"/>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3958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tr-TR"/>
              <a:t>Asıl başlık stili için tıklatın</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simgeyi tıklatın</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Date Placeholder 4"/>
          <p:cNvSpPr>
            <a:spLocks noGrp="1"/>
          </p:cNvSpPr>
          <p:nvPr>
            <p:ph type="dt" sz="half" idx="10"/>
          </p:nvPr>
        </p:nvSpPr>
        <p:spPr/>
        <p:txBody>
          <a:bodyPr/>
          <a:lstStyle/>
          <a:p>
            <a:fld id="{125C0C4E-D38D-47F2-864E-C2724F2C0868}" type="datetimeFigureOut">
              <a:rPr lang="tr-TR" smtClean="0"/>
              <a:t>14.01.2022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5E54A7AD-5806-4A47-A4F8-2D347816619C}" type="slidenum">
              <a:rPr lang="tr-TR" smtClean="0"/>
              <a:t>‹#›</a:t>
            </a:fld>
            <a:endParaRPr lang="tr-TR"/>
          </a:p>
        </p:txBody>
      </p:sp>
    </p:spTree>
    <p:extLst>
      <p:ext uri="{BB962C8B-B14F-4D97-AF65-F5344CB8AC3E}">
        <p14:creationId xmlns:p14="http://schemas.microsoft.com/office/powerpoint/2010/main" val="1252681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simgeyi tıklatın</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Date Placeholder 4"/>
          <p:cNvSpPr>
            <a:spLocks noGrp="1"/>
          </p:cNvSpPr>
          <p:nvPr>
            <p:ph type="dt" sz="half" idx="10"/>
          </p:nvPr>
        </p:nvSpPr>
        <p:spPr/>
        <p:txBody>
          <a:bodyPr/>
          <a:lstStyle/>
          <a:p>
            <a:fld id="{125C0C4E-D38D-47F2-864E-C2724F2C0868}" type="datetimeFigureOut">
              <a:rPr lang="tr-TR" smtClean="0"/>
              <a:t>14.01.2022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5E54A7AD-5806-4A47-A4F8-2D347816619C}" type="slidenum">
              <a:rPr lang="tr-TR" smtClean="0"/>
              <a:t>‹#›</a:t>
            </a:fld>
            <a:endParaRPr lang="tr-TR"/>
          </a:p>
        </p:txBody>
      </p:sp>
    </p:spTree>
    <p:extLst>
      <p:ext uri="{BB962C8B-B14F-4D97-AF65-F5344CB8AC3E}">
        <p14:creationId xmlns:p14="http://schemas.microsoft.com/office/powerpoint/2010/main" val="939815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tr-TR"/>
              <a:t>Asıl başlık stili için tıklatın</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Date Placeholder 3"/>
          <p:cNvSpPr>
            <a:spLocks noGrp="1"/>
          </p:cNvSpPr>
          <p:nvPr>
            <p:ph type="dt" sz="half" idx="10"/>
          </p:nvPr>
        </p:nvSpPr>
        <p:spPr/>
        <p:txBody>
          <a:bodyPr/>
          <a:lstStyle/>
          <a:p>
            <a:fld id="{125C0C4E-D38D-47F2-864E-C2724F2C0868}" type="datetimeFigureOut">
              <a:rPr lang="tr-TR" smtClean="0"/>
              <a:t>14.01.2022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E54A7AD-5806-4A47-A4F8-2D347816619C}" type="slidenum">
              <a:rPr lang="tr-TR" smtClean="0"/>
              <a:t>‹#›</a:t>
            </a:fld>
            <a:endParaRPr lang="tr-TR"/>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5820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tr-TR"/>
              <a:t>Asıl başlık stili için tıklatın</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tıklatın</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Date Placeholder 3"/>
          <p:cNvSpPr>
            <a:spLocks noGrp="1"/>
          </p:cNvSpPr>
          <p:nvPr>
            <p:ph type="dt" sz="half" idx="10"/>
          </p:nvPr>
        </p:nvSpPr>
        <p:spPr/>
        <p:txBody>
          <a:bodyPr/>
          <a:lstStyle/>
          <a:p>
            <a:fld id="{125C0C4E-D38D-47F2-864E-C2724F2C0868}" type="datetimeFigureOut">
              <a:rPr lang="tr-TR" smtClean="0"/>
              <a:t>14.01.2022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E54A7AD-5806-4A47-A4F8-2D347816619C}" type="slidenum">
              <a:rPr lang="tr-TR" smtClean="0"/>
              <a:t>‹#›</a:t>
            </a:fld>
            <a:endParaRPr lang="tr-TR"/>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34133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tr-TR"/>
              <a:t>Asıl başlık stili için tıklatın</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Date Placeholder 3"/>
          <p:cNvSpPr>
            <a:spLocks noGrp="1"/>
          </p:cNvSpPr>
          <p:nvPr>
            <p:ph type="dt" sz="half" idx="10"/>
          </p:nvPr>
        </p:nvSpPr>
        <p:spPr/>
        <p:txBody>
          <a:bodyPr/>
          <a:lstStyle/>
          <a:p>
            <a:fld id="{125C0C4E-D38D-47F2-864E-C2724F2C0868}" type="datetimeFigureOut">
              <a:rPr lang="tr-TR" smtClean="0"/>
              <a:t>14.01.2022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E54A7AD-5806-4A47-A4F8-2D347816619C}" type="slidenum">
              <a:rPr lang="tr-TR" smtClean="0"/>
              <a:t>‹#›</a:t>
            </a:fld>
            <a:endParaRPr lang="tr-TR"/>
          </a:p>
        </p:txBody>
      </p:sp>
    </p:spTree>
    <p:extLst>
      <p:ext uri="{BB962C8B-B14F-4D97-AF65-F5344CB8AC3E}">
        <p14:creationId xmlns:p14="http://schemas.microsoft.com/office/powerpoint/2010/main" val="10701125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tr-TR"/>
              <a:t>Asıl başlık stili için tıklatın</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Date Placeholder 3"/>
          <p:cNvSpPr>
            <a:spLocks noGrp="1"/>
          </p:cNvSpPr>
          <p:nvPr>
            <p:ph type="dt" sz="half" idx="10"/>
          </p:nvPr>
        </p:nvSpPr>
        <p:spPr/>
        <p:txBody>
          <a:bodyPr/>
          <a:lstStyle/>
          <a:p>
            <a:fld id="{125C0C4E-D38D-47F2-864E-C2724F2C0868}" type="datetimeFigureOut">
              <a:rPr lang="tr-TR" smtClean="0"/>
              <a:t>14.01.2022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E54A7AD-5806-4A47-A4F8-2D347816619C}" type="slidenum">
              <a:rPr lang="tr-TR" smtClean="0"/>
              <a:t>‹#›</a:t>
            </a:fld>
            <a:endParaRPr lang="tr-TR"/>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5882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tr-TR"/>
              <a:t>Asıl başlık stili için tıklatın</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Date Placeholder 3"/>
          <p:cNvSpPr>
            <a:spLocks noGrp="1"/>
          </p:cNvSpPr>
          <p:nvPr>
            <p:ph type="dt" sz="half" idx="10"/>
          </p:nvPr>
        </p:nvSpPr>
        <p:spPr/>
        <p:txBody>
          <a:bodyPr/>
          <a:lstStyle/>
          <a:p>
            <a:fld id="{125C0C4E-D38D-47F2-864E-C2724F2C0868}" type="datetimeFigureOut">
              <a:rPr lang="tr-TR" smtClean="0"/>
              <a:t>14.01.2022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E54A7AD-5806-4A47-A4F8-2D347816619C}" type="slidenum">
              <a:rPr lang="tr-TR" smtClean="0"/>
              <a:t>‹#›</a:t>
            </a:fld>
            <a:endParaRPr lang="tr-TR"/>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56975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25C0C4E-D38D-47F2-864E-C2724F2C0868}" type="datetimeFigureOut">
              <a:rPr lang="tr-TR" smtClean="0"/>
              <a:t>14.01.2022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E54A7AD-5806-4A47-A4F8-2D347816619C}" type="slidenum">
              <a:rPr lang="tr-TR" smtClean="0"/>
              <a:t>‹#›</a:t>
            </a:fld>
            <a:endParaRPr lang="tr-TR"/>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63316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tr-TR"/>
              <a:t>Asıl başlık stili için tıklatın</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25C0C4E-D38D-47F2-864E-C2724F2C0868}" type="datetimeFigureOut">
              <a:rPr lang="tr-TR" smtClean="0"/>
              <a:t>14.01.2022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E54A7AD-5806-4A47-A4F8-2D347816619C}" type="slidenum">
              <a:rPr lang="tr-TR" smtClean="0"/>
              <a:t>‹#›</a:t>
            </a:fld>
            <a:endParaRPr lang="tr-TR"/>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63660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016000" y="762000"/>
            <a:ext cx="10566400" cy="1143000"/>
          </a:xfrm>
        </p:spPr>
        <p:txBody>
          <a:bodyPr/>
          <a:lstStyle/>
          <a:p>
            <a:r>
              <a:rPr lang="en-US"/>
              <a:t>Click to edit Master title style</a:t>
            </a:r>
            <a:endParaRPr lang="tr-TR"/>
          </a:p>
        </p:txBody>
      </p:sp>
      <p:sp>
        <p:nvSpPr>
          <p:cNvPr id="3" name="SmartArt Placeholder 2"/>
          <p:cNvSpPr>
            <a:spLocks noGrp="1"/>
          </p:cNvSpPr>
          <p:nvPr>
            <p:ph type="dgm" idx="1"/>
          </p:nvPr>
        </p:nvSpPr>
        <p:spPr>
          <a:xfrm>
            <a:off x="1117601" y="2362201"/>
            <a:ext cx="10257367" cy="3724275"/>
          </a:xfrm>
        </p:spPr>
        <p:txBody>
          <a:bodyPr/>
          <a:lstStyle/>
          <a:p>
            <a:pPr lvl="0"/>
            <a:endParaRPr lang="tr-TR" noProof="0"/>
          </a:p>
        </p:txBody>
      </p:sp>
      <p:sp>
        <p:nvSpPr>
          <p:cNvPr id="4" name="Rectangle 11"/>
          <p:cNvSpPr>
            <a:spLocks noGrp="1" noChangeArrowheads="1"/>
          </p:cNvSpPr>
          <p:nvPr>
            <p:ph type="dt" sz="half" idx="10"/>
          </p:nvPr>
        </p:nvSpPr>
        <p:spPr>
          <a:ln/>
        </p:spPr>
        <p:txBody>
          <a:bodyPr/>
          <a:lstStyle>
            <a:lvl1pPr>
              <a:defRPr/>
            </a:lvl1pPr>
          </a:lstStyle>
          <a:p>
            <a:pPr>
              <a:defRPr/>
            </a:pPr>
            <a:endParaRPr lang="tr-TR"/>
          </a:p>
        </p:txBody>
      </p:sp>
      <p:sp>
        <p:nvSpPr>
          <p:cNvPr id="5" name="Rectangle 12"/>
          <p:cNvSpPr>
            <a:spLocks noGrp="1" noChangeArrowheads="1"/>
          </p:cNvSpPr>
          <p:nvPr>
            <p:ph type="ftr" sz="quarter" idx="11"/>
          </p:nvPr>
        </p:nvSpPr>
        <p:spPr>
          <a:ln/>
        </p:spPr>
        <p:txBody>
          <a:bodyPr/>
          <a:lstStyle>
            <a:lvl1pPr>
              <a:defRPr/>
            </a:lvl1pPr>
          </a:lstStyle>
          <a:p>
            <a:pPr>
              <a:defRPr/>
            </a:pPr>
            <a:endParaRPr lang="tr-TR"/>
          </a:p>
        </p:txBody>
      </p:sp>
      <p:sp>
        <p:nvSpPr>
          <p:cNvPr id="6" name="Rectangle 13"/>
          <p:cNvSpPr>
            <a:spLocks noGrp="1" noChangeArrowheads="1"/>
          </p:cNvSpPr>
          <p:nvPr>
            <p:ph type="sldNum" sz="quarter" idx="12"/>
          </p:nvPr>
        </p:nvSpPr>
        <p:spPr>
          <a:ln/>
        </p:spPr>
        <p:txBody>
          <a:bodyPr/>
          <a:lstStyle>
            <a:lvl1pPr>
              <a:defRPr/>
            </a:lvl1pPr>
          </a:lstStyle>
          <a:p>
            <a:pPr>
              <a:defRPr/>
            </a:pPr>
            <a:fld id="{C6CD7AE0-1880-466B-B082-2D039F236E51}" type="slidenum">
              <a:rPr lang="tr-TR"/>
              <a:pPr>
                <a:defRPr/>
              </a:pPr>
              <a:t>‹#›</a:t>
            </a:fld>
            <a:endParaRPr lang="tr-TR"/>
          </a:p>
        </p:txBody>
      </p:sp>
    </p:spTree>
    <p:extLst>
      <p:ext uri="{BB962C8B-B14F-4D97-AF65-F5344CB8AC3E}">
        <p14:creationId xmlns:p14="http://schemas.microsoft.com/office/powerpoint/2010/main" val="3515605719"/>
      </p:ext>
    </p:extLst>
  </p:cSld>
  <p:clrMapOvr>
    <a:masterClrMapping/>
  </p:clrMapOvr>
  <p:transition>
    <p:plus/>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79"/>
            <a:ext cx="10363200" cy="769441"/>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40011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1/14/2022</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39936110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485235" y="992829"/>
            <a:ext cx="9221527" cy="697755"/>
          </a:xfrm>
        </p:spPr>
        <p:txBody>
          <a:bodyPr lIns="0" tIns="0" rIns="0" bIns="0"/>
          <a:lstStyle>
            <a:lvl1pPr>
              <a:defRPr sz="4534" b="0" i="0">
                <a:solidFill>
                  <a:srgbClr val="005976"/>
                </a:solidFill>
                <a:latin typeface="Calibri"/>
                <a:cs typeface="Calibri"/>
              </a:defRPr>
            </a:lvl1pPr>
          </a:lstStyle>
          <a:p>
            <a:endParaRPr/>
          </a:p>
        </p:txBody>
      </p:sp>
      <p:sp>
        <p:nvSpPr>
          <p:cNvPr id="3" name="Holder 3"/>
          <p:cNvSpPr>
            <a:spLocks noGrp="1"/>
          </p:cNvSpPr>
          <p:nvPr>
            <p:ph type="body" idx="1"/>
          </p:nvPr>
        </p:nvSpPr>
        <p:spPr>
          <a:xfrm>
            <a:off x="1495314" y="2240990"/>
            <a:ext cx="9151963" cy="362856"/>
          </a:xfrm>
        </p:spPr>
        <p:txBody>
          <a:bodyPr lIns="0" tIns="0" rIns="0" bIns="0"/>
          <a:lstStyle>
            <a:lvl1pPr>
              <a:defRPr sz="2358" b="0" i="0">
                <a:solidFill>
                  <a:srgbClr val="231F20"/>
                </a:solidFill>
                <a:latin typeface="Constantia"/>
                <a:cs typeface="Constant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1/14/2022</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40718766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485235" y="992829"/>
            <a:ext cx="9221527" cy="697755"/>
          </a:xfrm>
        </p:spPr>
        <p:txBody>
          <a:bodyPr lIns="0" tIns="0" rIns="0" bIns="0"/>
          <a:lstStyle>
            <a:lvl1pPr>
              <a:defRPr sz="4534" b="0" i="0">
                <a:solidFill>
                  <a:srgbClr val="005976"/>
                </a:solidFill>
                <a:latin typeface="Calibri"/>
                <a:cs typeface="Calibri"/>
              </a:defRPr>
            </a:lvl1pPr>
          </a:lstStyle>
          <a:p>
            <a:endParaRPr/>
          </a:p>
        </p:txBody>
      </p:sp>
      <p:sp>
        <p:nvSpPr>
          <p:cNvPr id="3" name="Holder 3"/>
          <p:cNvSpPr>
            <a:spLocks noGrp="1"/>
          </p:cNvSpPr>
          <p:nvPr>
            <p:ph sz="half" idx="2"/>
          </p:nvPr>
        </p:nvSpPr>
        <p:spPr>
          <a:xfrm>
            <a:off x="609601" y="1577340"/>
            <a:ext cx="5303520" cy="4001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1" y="1577340"/>
            <a:ext cx="5303520" cy="4001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1/14/2022</a:t>
            </a:fld>
            <a:endParaRPr lang="en-US">
              <a:solidFill>
                <a:prstClr val="black">
                  <a:tint val="75000"/>
                </a:prstClr>
              </a:solidFill>
            </a:endParaRP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3312961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485235" y="992829"/>
            <a:ext cx="9221527" cy="697755"/>
          </a:xfrm>
        </p:spPr>
        <p:txBody>
          <a:bodyPr lIns="0" tIns="0" rIns="0" bIns="0"/>
          <a:lstStyle>
            <a:lvl1pPr>
              <a:defRPr sz="4534" b="0" i="0">
                <a:solidFill>
                  <a:srgbClr val="005976"/>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1/14/2022</a:t>
            </a:fld>
            <a:endParaRPr lang="en-US">
              <a:solidFill>
                <a:prstClr val="black">
                  <a:tint val="75000"/>
                </a:prstClr>
              </a:solidFill>
            </a:endParaRP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40669606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1/14/2022</a:t>
            </a:fld>
            <a:endParaRPr lang="en-US">
              <a:solidFill>
                <a:prstClr val="black">
                  <a:tint val="75000"/>
                </a:prstClr>
              </a:solidFill>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84134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1.xml"/><Relationship Id="rId7" Type="http://schemas.openxmlformats.org/officeDocument/2006/relationships/image" Target="../media/image7.png"/><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theme" Target="../theme/theme2.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tr-TR"/>
              <a:t>Asıl başlık stili için tıklatın</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25C0C4E-D38D-47F2-864E-C2724F2C0868}" type="datetimeFigureOut">
              <a:rPr lang="tr-TR" smtClean="0"/>
              <a:t>14.01.2022</a:t>
            </a:fld>
            <a:endParaRPr lang="tr-TR"/>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tr-TR"/>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E54A7AD-5806-4A47-A4F8-2D347816619C}" type="slidenum">
              <a:rPr lang="tr-TR" smtClean="0"/>
              <a:t>‹#›</a:t>
            </a:fld>
            <a:endParaRPr lang="tr-TR"/>
          </a:p>
        </p:txBody>
      </p:sp>
    </p:spTree>
    <p:extLst>
      <p:ext uri="{BB962C8B-B14F-4D97-AF65-F5344CB8AC3E}">
        <p14:creationId xmlns:p14="http://schemas.microsoft.com/office/powerpoint/2010/main" val="15453760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84" r:id="rId18"/>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84267" y="316826"/>
            <a:ext cx="10425477" cy="6218841"/>
          </a:xfrm>
          <a:prstGeom prst="rect">
            <a:avLst/>
          </a:prstGeom>
          <a:blipFill>
            <a:blip r:embed="rId7" cstate="print"/>
            <a:stretch>
              <a:fillRect/>
            </a:stretch>
          </a:blipFill>
        </p:spPr>
        <p:txBody>
          <a:bodyPr wrap="square" lIns="0" tIns="0" rIns="0" bIns="0" rtlCol="0"/>
          <a:lstStyle/>
          <a:p>
            <a:endParaRPr sz="1632">
              <a:solidFill>
                <a:prstClr val="black"/>
              </a:solidFill>
            </a:endParaRPr>
          </a:p>
        </p:txBody>
      </p:sp>
      <p:sp>
        <p:nvSpPr>
          <p:cNvPr id="2" name="Holder 2"/>
          <p:cNvSpPr>
            <a:spLocks noGrp="1"/>
          </p:cNvSpPr>
          <p:nvPr>
            <p:ph type="title"/>
          </p:nvPr>
        </p:nvSpPr>
        <p:spPr>
          <a:xfrm>
            <a:off x="1485235" y="992829"/>
            <a:ext cx="9221527" cy="769441"/>
          </a:xfrm>
          <a:prstGeom prst="rect">
            <a:avLst/>
          </a:prstGeom>
        </p:spPr>
        <p:txBody>
          <a:bodyPr wrap="square" lIns="0" tIns="0" rIns="0" bIns="0">
            <a:spAutoFit/>
          </a:bodyPr>
          <a:lstStyle>
            <a:lvl1pPr>
              <a:defRPr sz="5000" b="0" i="0">
                <a:solidFill>
                  <a:srgbClr val="005976"/>
                </a:solidFill>
                <a:latin typeface="Calibri"/>
                <a:cs typeface="Calibri"/>
              </a:defRPr>
            </a:lvl1pPr>
          </a:lstStyle>
          <a:p>
            <a:endParaRPr/>
          </a:p>
        </p:txBody>
      </p:sp>
      <p:sp>
        <p:nvSpPr>
          <p:cNvPr id="3" name="Holder 3"/>
          <p:cNvSpPr>
            <a:spLocks noGrp="1"/>
          </p:cNvSpPr>
          <p:nvPr>
            <p:ph type="body" idx="1"/>
          </p:nvPr>
        </p:nvSpPr>
        <p:spPr>
          <a:xfrm>
            <a:off x="1495314" y="2240990"/>
            <a:ext cx="9151963" cy="400110"/>
          </a:xfrm>
          <a:prstGeom prst="rect">
            <a:avLst/>
          </a:prstGeom>
        </p:spPr>
        <p:txBody>
          <a:bodyPr wrap="square" lIns="0" tIns="0" rIns="0" bIns="0">
            <a:spAutoFit/>
          </a:bodyPr>
          <a:lstStyle>
            <a:lvl1pPr>
              <a:defRPr sz="2600" b="0" i="0">
                <a:solidFill>
                  <a:srgbClr val="231F20"/>
                </a:solidFill>
                <a:latin typeface="Constantia"/>
                <a:cs typeface="Constantia"/>
              </a:defRPr>
            </a:lvl1pPr>
          </a:lstStyle>
          <a:p>
            <a:endParaRPr/>
          </a:p>
        </p:txBody>
      </p:sp>
      <p:sp>
        <p:nvSpPr>
          <p:cNvPr id="4" name="Holder 4"/>
          <p:cNvSpPr>
            <a:spLocks noGrp="1"/>
          </p:cNvSpPr>
          <p:nvPr>
            <p:ph type="ftr" sz="quarter" idx="5"/>
          </p:nvPr>
        </p:nvSpPr>
        <p:spPr>
          <a:xfrm>
            <a:off x="4145280" y="6377939"/>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a:xfrm>
            <a:off x="609600" y="6377939"/>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1/14/2022</a:t>
            </a:fld>
            <a:endParaRPr lang="en-US">
              <a:solidFill>
                <a:prstClr val="black">
                  <a:tint val="75000"/>
                </a:prstClr>
              </a:solidFill>
            </a:endParaRPr>
          </a:p>
        </p:txBody>
      </p:sp>
      <p:sp>
        <p:nvSpPr>
          <p:cNvPr id="6" name="Holder 6"/>
          <p:cNvSpPr>
            <a:spLocks noGrp="1"/>
          </p:cNvSpPr>
          <p:nvPr>
            <p:ph type="sldNum" sz="quarter" idx="7"/>
          </p:nvPr>
        </p:nvSpPr>
        <p:spPr>
          <a:xfrm>
            <a:off x="8778240" y="6377939"/>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146518617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Lst>
  <p:txStyles>
    <p:titleStyle>
      <a:lvl1pPr>
        <a:defRPr>
          <a:latin typeface="+mj-lt"/>
          <a:ea typeface="+mj-ea"/>
          <a:cs typeface="+mj-cs"/>
        </a:defRPr>
      </a:lvl1pPr>
    </p:titleStyle>
    <p:bodyStyle>
      <a:lvl1pPr marL="0">
        <a:defRPr>
          <a:latin typeface="+mn-lt"/>
          <a:ea typeface="+mn-ea"/>
          <a:cs typeface="+mn-cs"/>
        </a:defRPr>
      </a:lvl1pPr>
      <a:lvl2pPr marL="414589">
        <a:defRPr>
          <a:latin typeface="+mn-lt"/>
          <a:ea typeface="+mn-ea"/>
          <a:cs typeface="+mn-cs"/>
        </a:defRPr>
      </a:lvl2pPr>
      <a:lvl3pPr marL="829178">
        <a:defRPr>
          <a:latin typeface="+mn-lt"/>
          <a:ea typeface="+mn-ea"/>
          <a:cs typeface="+mn-cs"/>
        </a:defRPr>
      </a:lvl3pPr>
      <a:lvl4pPr marL="1243767">
        <a:defRPr>
          <a:latin typeface="+mn-lt"/>
          <a:ea typeface="+mn-ea"/>
          <a:cs typeface="+mn-cs"/>
        </a:defRPr>
      </a:lvl4pPr>
      <a:lvl5pPr marL="1658356">
        <a:defRPr>
          <a:latin typeface="+mn-lt"/>
          <a:ea typeface="+mn-ea"/>
          <a:cs typeface="+mn-cs"/>
        </a:defRPr>
      </a:lvl5pPr>
      <a:lvl6pPr marL="2072945">
        <a:defRPr>
          <a:latin typeface="+mn-lt"/>
          <a:ea typeface="+mn-ea"/>
          <a:cs typeface="+mn-cs"/>
        </a:defRPr>
      </a:lvl6pPr>
      <a:lvl7pPr marL="2487534">
        <a:defRPr>
          <a:latin typeface="+mn-lt"/>
          <a:ea typeface="+mn-ea"/>
          <a:cs typeface="+mn-cs"/>
        </a:defRPr>
      </a:lvl7pPr>
      <a:lvl8pPr marL="2902123">
        <a:defRPr>
          <a:latin typeface="+mn-lt"/>
          <a:ea typeface="+mn-ea"/>
          <a:cs typeface="+mn-cs"/>
        </a:defRPr>
      </a:lvl8pPr>
      <a:lvl9pPr marL="3316712">
        <a:defRPr>
          <a:latin typeface="+mn-lt"/>
          <a:ea typeface="+mn-ea"/>
          <a:cs typeface="+mn-cs"/>
        </a:defRPr>
      </a:lvl9pPr>
    </p:bodyStyle>
    <p:otherStyle>
      <a:lvl1pPr marL="0">
        <a:defRPr>
          <a:latin typeface="+mn-lt"/>
          <a:ea typeface="+mn-ea"/>
          <a:cs typeface="+mn-cs"/>
        </a:defRPr>
      </a:lvl1pPr>
      <a:lvl2pPr marL="414589">
        <a:defRPr>
          <a:latin typeface="+mn-lt"/>
          <a:ea typeface="+mn-ea"/>
          <a:cs typeface="+mn-cs"/>
        </a:defRPr>
      </a:lvl2pPr>
      <a:lvl3pPr marL="829178">
        <a:defRPr>
          <a:latin typeface="+mn-lt"/>
          <a:ea typeface="+mn-ea"/>
          <a:cs typeface="+mn-cs"/>
        </a:defRPr>
      </a:lvl3pPr>
      <a:lvl4pPr marL="1243767">
        <a:defRPr>
          <a:latin typeface="+mn-lt"/>
          <a:ea typeface="+mn-ea"/>
          <a:cs typeface="+mn-cs"/>
        </a:defRPr>
      </a:lvl4pPr>
      <a:lvl5pPr marL="1658356">
        <a:defRPr>
          <a:latin typeface="+mn-lt"/>
          <a:ea typeface="+mn-ea"/>
          <a:cs typeface="+mn-cs"/>
        </a:defRPr>
      </a:lvl5pPr>
      <a:lvl6pPr marL="2072945">
        <a:defRPr>
          <a:latin typeface="+mn-lt"/>
          <a:ea typeface="+mn-ea"/>
          <a:cs typeface="+mn-cs"/>
        </a:defRPr>
      </a:lvl6pPr>
      <a:lvl7pPr marL="2487534">
        <a:defRPr>
          <a:latin typeface="+mn-lt"/>
          <a:ea typeface="+mn-ea"/>
          <a:cs typeface="+mn-cs"/>
        </a:defRPr>
      </a:lvl7pPr>
      <a:lvl8pPr marL="2902123">
        <a:defRPr>
          <a:latin typeface="+mn-lt"/>
          <a:ea typeface="+mn-ea"/>
          <a:cs typeface="+mn-cs"/>
        </a:defRPr>
      </a:lvl8pPr>
      <a:lvl9pPr marL="3316712">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webpub.allegheny.edu/dept/psych/PsychInfo.htm"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tr.wikipedia.org/wiki/Birey" TargetMode="External"/><Relationship Id="rId2" Type="http://schemas.openxmlformats.org/officeDocument/2006/relationships/hyperlink" Target="https://tr.wikipedia.org/wiki/Psikoloji" TargetMode="External"/><Relationship Id="rId1" Type="http://schemas.openxmlformats.org/officeDocument/2006/relationships/slideLayout" Target="../slideLayouts/slideLayout7.xml"/><Relationship Id="rId5" Type="http://schemas.openxmlformats.org/officeDocument/2006/relationships/image" Target="../media/image12.jpg"/><Relationship Id="rId4" Type="http://schemas.openxmlformats.org/officeDocument/2006/relationships/hyperlink" Target="https://tr.wikipedia.org/wiki/Toplum"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18" Type="http://schemas.openxmlformats.org/officeDocument/2006/relationships/image" Target="../media/image40.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png"/><Relationship Id="rId17" Type="http://schemas.openxmlformats.org/officeDocument/2006/relationships/image" Target="../media/image39.png"/><Relationship Id="rId2" Type="http://schemas.openxmlformats.org/officeDocument/2006/relationships/image" Target="../media/image24.png"/><Relationship Id="rId16" Type="http://schemas.openxmlformats.org/officeDocument/2006/relationships/image" Target="../media/image38.png"/><Relationship Id="rId20" Type="http://schemas.openxmlformats.org/officeDocument/2006/relationships/image" Target="../media/image42.png"/><Relationship Id="rId1" Type="http://schemas.openxmlformats.org/officeDocument/2006/relationships/slideLayout" Target="../slideLayouts/slideLayout23.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5" Type="http://schemas.openxmlformats.org/officeDocument/2006/relationships/image" Target="../media/image37.png"/><Relationship Id="rId10" Type="http://schemas.openxmlformats.org/officeDocument/2006/relationships/image" Target="../media/image32.png"/><Relationship Id="rId19" Type="http://schemas.openxmlformats.org/officeDocument/2006/relationships/image" Target="../media/image41.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s>
</file>

<file path=ppt/slides/_rels/slide47.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35.png"/><Relationship Id="rId18" Type="http://schemas.openxmlformats.org/officeDocument/2006/relationships/image" Target="../media/image55.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1.png"/><Relationship Id="rId17" Type="http://schemas.openxmlformats.org/officeDocument/2006/relationships/image" Target="../media/image54.png"/><Relationship Id="rId2" Type="http://schemas.openxmlformats.org/officeDocument/2006/relationships/image" Target="../media/image24.png"/><Relationship Id="rId16" Type="http://schemas.openxmlformats.org/officeDocument/2006/relationships/image" Target="../media/image53.png"/><Relationship Id="rId20" Type="http://schemas.openxmlformats.org/officeDocument/2006/relationships/image" Target="../media/image42.png"/><Relationship Id="rId1" Type="http://schemas.openxmlformats.org/officeDocument/2006/relationships/slideLayout" Target="../slideLayouts/slideLayout23.xml"/><Relationship Id="rId6" Type="http://schemas.openxmlformats.org/officeDocument/2006/relationships/image" Target="../media/image46.png"/><Relationship Id="rId11" Type="http://schemas.openxmlformats.org/officeDocument/2006/relationships/image" Target="../media/image50.png"/><Relationship Id="rId5" Type="http://schemas.openxmlformats.org/officeDocument/2006/relationships/image" Target="../media/image45.png"/><Relationship Id="rId15" Type="http://schemas.openxmlformats.org/officeDocument/2006/relationships/image" Target="../media/image37.png"/><Relationship Id="rId10" Type="http://schemas.openxmlformats.org/officeDocument/2006/relationships/image" Target="../media/image49.png"/><Relationship Id="rId19" Type="http://schemas.openxmlformats.org/officeDocument/2006/relationships/image" Target="../media/image56.png"/><Relationship Id="rId4" Type="http://schemas.openxmlformats.org/officeDocument/2006/relationships/image" Target="../media/image44.png"/><Relationship Id="rId9" Type="http://schemas.openxmlformats.org/officeDocument/2006/relationships/image" Target="../media/image31.png"/><Relationship Id="rId14" Type="http://schemas.openxmlformats.org/officeDocument/2006/relationships/image" Target="../media/image5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image" Target="../media/image58.jp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hyperlink" Target="http://farm1.static.flickr.com/22/26044351_fa9bf19dc5.jpg" TargetMode="External"/><Relationship Id="rId1" Type="http://schemas.openxmlformats.org/officeDocument/2006/relationships/slideLayout" Target="../slideLayouts/slideLayout2.xml"/><Relationship Id="rId4" Type="http://schemas.openxmlformats.org/officeDocument/2006/relationships/image" Target="../media/image66.jpeg"/></Relationships>
</file>

<file path=ppt/slides/_rels/slide67.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hyperlink" Target="http://images.google.com.tr/imgres?imgurl=http://www.hitechcj.com/sitebuildercontent/sitebuilderpictures/jpg_law_justice_003.jpg&amp;imgrefurl=http://pacotechiemike.com/personal/?p=282&amp;h=1181&amp;w=1096&amp;sz=86&amp;hl=tr&amp;start=3&amp;usg=__yazY6bEJFaTpA8n0xsTWR9EDGDk=&amp;tbnid=K0lYB5KqTxev8M:&amp;tbnh=150&amp;tbnw=139&amp;prev=/images?q=justice&amp;gbv=2&amp;hl=tr"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1.jpeg"/></Relationships>
</file>

<file path=ppt/slides/_rels/slide73.xml.rels><?xml version="1.0" encoding="UTF-8" standalone="yes"?>
<Relationships xmlns="http://schemas.openxmlformats.org/package/2006/relationships"><Relationship Id="rId3" Type="http://schemas.openxmlformats.org/officeDocument/2006/relationships/hyperlink" Target="http://go2.wordpress.com/?id=725X1342&amp;site=oguzkoroglu.wordpress.com&amp;url=http://oguzkoroglu.files.wordpress.com/2010/09/planning-choice-among-multiple-roads_id267012_size350.jpg&amp;sref=http://oguzkoroglu.wordpress.com/tag/yazilim-2/"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3.jpeg"/><Relationship Id="rId4" Type="http://schemas.openxmlformats.org/officeDocument/2006/relationships/image" Target="../media/image72.jpeg"/></Relationships>
</file>

<file path=ppt/slides/_rels/slide74.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5.jpeg"/></Relationships>
</file>

<file path=ppt/slides/_rels/slide7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7.gif"/></Relationships>
</file>

<file path=ppt/slides/_rels/slide76.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image" Target="../media/image7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5" name="object 3"/>
          <p:cNvSpPr/>
          <p:nvPr/>
        </p:nvSpPr>
        <p:spPr>
          <a:xfrm>
            <a:off x="2185629" y="2388664"/>
            <a:ext cx="7999476" cy="1344167"/>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063488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4" name="Dikdörtgen 3"/>
          <p:cNvSpPr/>
          <p:nvPr/>
        </p:nvSpPr>
        <p:spPr>
          <a:xfrm>
            <a:off x="1789471" y="1305342"/>
            <a:ext cx="8662219" cy="4862870"/>
          </a:xfrm>
          <a:prstGeom prst="rect">
            <a:avLst/>
          </a:prstGeom>
        </p:spPr>
        <p:txBody>
          <a:bodyPr wrap="square">
            <a:spAutoFit/>
          </a:bodyPr>
          <a:lstStyle/>
          <a:p>
            <a:r>
              <a:rPr lang="tr-TR" sz="2800" b="1" dirty="0">
                <a:solidFill>
                  <a:srgbClr val="FF0000"/>
                </a:solidFill>
              </a:rPr>
              <a:t>Mühendislik öğrencilerine niçin etik dersi verilir? </a:t>
            </a:r>
          </a:p>
          <a:p>
            <a:endParaRPr lang="tr-TR" dirty="0"/>
          </a:p>
          <a:p>
            <a:pPr marL="342900" indent="-342900">
              <a:buFont typeface="Arial" panose="020B0604020202020204" pitchFamily="34" charset="0"/>
              <a:buChar char="•"/>
            </a:pPr>
            <a:r>
              <a:rPr lang="tr-TR" sz="2400" dirty="0"/>
              <a:t>Öğrencileri </a:t>
            </a:r>
            <a:r>
              <a:rPr lang="tr-TR" sz="2400" dirty="0">
                <a:solidFill>
                  <a:srgbClr val="FF0000"/>
                </a:solidFill>
              </a:rPr>
              <a:t>profesyonel </a:t>
            </a:r>
            <a:r>
              <a:rPr lang="tr-TR" sz="2400" dirty="0"/>
              <a:t>çalışma hayatına hazırlar. </a:t>
            </a:r>
          </a:p>
          <a:p>
            <a:endParaRPr lang="tr-TR" sz="2400" dirty="0"/>
          </a:p>
          <a:p>
            <a:pPr marL="342900" indent="-342900">
              <a:buFont typeface="Arial" panose="020B0604020202020204" pitchFamily="34" charset="0"/>
              <a:buChar char="•"/>
            </a:pPr>
            <a:r>
              <a:rPr lang="tr-TR" sz="2400" dirty="0">
                <a:solidFill>
                  <a:srgbClr val="FF0000"/>
                </a:solidFill>
              </a:rPr>
              <a:t>Etik</a:t>
            </a:r>
            <a:r>
              <a:rPr lang="tr-TR" sz="2400" dirty="0"/>
              <a:t> davranışlar hakkında öğrenciye bilgi verme, etik konular ortaya çıktığında karar verme aşamasında yardımcı olmayı hedefler. </a:t>
            </a:r>
          </a:p>
          <a:p>
            <a:endParaRPr lang="tr-TR" sz="2400" dirty="0"/>
          </a:p>
          <a:p>
            <a:pPr marL="342900" indent="-342900">
              <a:buFont typeface="Arial" panose="020B0604020202020204" pitchFamily="34" charset="0"/>
              <a:buChar char="•"/>
            </a:pPr>
            <a:r>
              <a:rPr lang="tr-TR" sz="2400" dirty="0"/>
              <a:t>Herkes tarafından kabul edilebilir davranış yeteneği, iletişim, sorgulama ve doğru karar verme yeteneği kazandırmayı hedefler.</a:t>
            </a:r>
          </a:p>
          <a:p>
            <a:r>
              <a:rPr lang="tr-TR" sz="2400" dirty="0"/>
              <a:t> </a:t>
            </a:r>
          </a:p>
          <a:p>
            <a:pPr marL="342900" indent="-342900">
              <a:buFont typeface="Arial" panose="020B0604020202020204" pitchFamily="34" charset="0"/>
              <a:buChar char="•"/>
            </a:pPr>
            <a:r>
              <a:rPr lang="tr-TR" sz="2400" dirty="0"/>
              <a:t>Öğrencilerin farklı fikirlerle karşılaştırmalı olarak iyi ve doğruyu bulmalarını hedefler. </a:t>
            </a:r>
          </a:p>
          <a:p>
            <a:endParaRPr lang="tr-TR" sz="2400" dirty="0"/>
          </a:p>
        </p:txBody>
      </p:sp>
    </p:spTree>
    <p:extLst>
      <p:ext uri="{BB962C8B-B14F-4D97-AF65-F5344CB8AC3E}">
        <p14:creationId xmlns:p14="http://schemas.microsoft.com/office/powerpoint/2010/main" val="3213188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Dikdörtgen 1"/>
          <p:cNvSpPr/>
          <p:nvPr/>
        </p:nvSpPr>
        <p:spPr>
          <a:xfrm>
            <a:off x="1897625" y="1230075"/>
            <a:ext cx="7688826" cy="4524315"/>
          </a:xfrm>
          <a:prstGeom prst="rect">
            <a:avLst/>
          </a:prstGeom>
        </p:spPr>
        <p:txBody>
          <a:bodyPr wrap="square">
            <a:spAutoFit/>
          </a:bodyPr>
          <a:lstStyle/>
          <a:p>
            <a:pPr marL="342900" indent="-342900">
              <a:buFont typeface="Arial" panose="020B0604020202020204" pitchFamily="34" charset="0"/>
              <a:buChar char="•"/>
            </a:pPr>
            <a:r>
              <a:rPr lang="tr-TR" sz="2400" dirty="0">
                <a:solidFill>
                  <a:srgbClr val="FF0000"/>
                </a:solidFill>
              </a:rPr>
              <a:t>Profesyonel sorumluluklarınızın </a:t>
            </a:r>
            <a:r>
              <a:rPr lang="tr-TR" sz="2400" dirty="0"/>
              <a:t>doğasını anlamanıza yardımcı olur. </a:t>
            </a:r>
          </a:p>
          <a:p>
            <a:pPr marL="342900" indent="-342900">
              <a:buFont typeface="Arial" panose="020B0604020202020204" pitchFamily="34" charset="0"/>
              <a:buChar char="•"/>
            </a:pPr>
            <a:r>
              <a:rPr lang="tr-TR" sz="2400" dirty="0">
                <a:solidFill>
                  <a:srgbClr val="FF0000"/>
                </a:solidFill>
              </a:rPr>
              <a:t>Karar verme </a:t>
            </a:r>
            <a:r>
              <a:rPr lang="tr-TR" sz="2400" dirty="0"/>
              <a:t>aşamasında etik elemanların ayrıt edilmesini sağlar. </a:t>
            </a:r>
          </a:p>
          <a:p>
            <a:pPr marL="342900" indent="-342900">
              <a:buFont typeface="Arial" panose="020B0604020202020204" pitchFamily="34" charset="0"/>
              <a:buChar char="•"/>
            </a:pPr>
            <a:r>
              <a:rPr lang="tr-TR" sz="2400" dirty="0"/>
              <a:t>Sorunlu </a:t>
            </a:r>
            <a:r>
              <a:rPr lang="tr-TR" sz="2400" dirty="0">
                <a:solidFill>
                  <a:srgbClr val="FF0000"/>
                </a:solidFill>
              </a:rPr>
              <a:t>mühendislik problemlerinin tanımlanması </a:t>
            </a:r>
            <a:r>
              <a:rPr lang="tr-TR" sz="2400" dirty="0"/>
              <a:t>ve çözümünde yardımcı olmak hedeflenmiştir. </a:t>
            </a:r>
          </a:p>
          <a:p>
            <a:pPr marL="342900" indent="-342900">
              <a:buFont typeface="Arial" panose="020B0604020202020204" pitchFamily="34" charset="0"/>
              <a:buChar char="•"/>
            </a:pPr>
            <a:r>
              <a:rPr lang="tr-TR" sz="2400" dirty="0"/>
              <a:t>Profesyonel yargı ve kritik düşünme yeteneklerinin gelişmesi hedeflenmiştir. </a:t>
            </a:r>
          </a:p>
          <a:p>
            <a:pPr marL="342900" indent="-342900">
              <a:buFont typeface="Arial" panose="020B0604020202020204" pitchFamily="34" charset="0"/>
              <a:buChar char="•"/>
            </a:pPr>
            <a:r>
              <a:rPr lang="tr-TR" sz="2400" dirty="0"/>
              <a:t>Değişim yaratmanın güçlüklerinin anlaşılması sağlanması hedeflenir. </a:t>
            </a:r>
          </a:p>
          <a:p>
            <a:pPr marL="342900" indent="-342900">
              <a:buFont typeface="Arial" panose="020B0604020202020204" pitchFamily="34" charset="0"/>
              <a:buChar char="•"/>
            </a:pPr>
            <a:r>
              <a:rPr lang="tr-TR" sz="2400" dirty="0"/>
              <a:t>İlerideki meslek yaşantınıza taşıyabileceğiniz </a:t>
            </a:r>
            <a:r>
              <a:rPr lang="tr-TR" sz="2400" dirty="0">
                <a:solidFill>
                  <a:srgbClr val="FF0000"/>
                </a:solidFill>
              </a:rPr>
              <a:t>etik farkındalık </a:t>
            </a:r>
            <a:r>
              <a:rPr lang="tr-TR" sz="2400" dirty="0"/>
              <a:t>geliştirme hedeflenmiştir. </a:t>
            </a:r>
          </a:p>
        </p:txBody>
      </p:sp>
    </p:spTree>
    <p:extLst>
      <p:ext uri="{BB962C8B-B14F-4D97-AF65-F5344CB8AC3E}">
        <p14:creationId xmlns:p14="http://schemas.microsoft.com/office/powerpoint/2010/main" val="3126782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2"/>
          <p:cNvSpPr txBox="1"/>
          <p:nvPr/>
        </p:nvSpPr>
        <p:spPr>
          <a:xfrm>
            <a:off x="1612490" y="1965879"/>
            <a:ext cx="9114504" cy="2000548"/>
          </a:xfrm>
          <a:prstGeom prst="rect">
            <a:avLst/>
          </a:prstGeom>
        </p:spPr>
        <p:txBody>
          <a:bodyPr vert="horz" wrap="square" lIns="0" tIns="0" rIns="0" bIns="0" rtlCol="0">
            <a:spAutoFit/>
          </a:bodyPr>
          <a:lstStyle/>
          <a:p>
            <a:pPr marL="285115" marR="5080" indent="-273050" algn="just">
              <a:lnSpc>
                <a:spcPct val="100000"/>
              </a:lnSpc>
            </a:pPr>
            <a:r>
              <a:rPr sz="2600" b="1" spc="-10" dirty="0" err="1">
                <a:solidFill>
                  <a:srgbClr val="FF0000"/>
                </a:solidFill>
                <a:latin typeface="Constantia"/>
                <a:cs typeface="Constantia"/>
              </a:rPr>
              <a:t>Mühendislik</a:t>
            </a:r>
            <a:r>
              <a:rPr lang="tr-TR" sz="2600" b="1" spc="-10" dirty="0">
                <a:solidFill>
                  <a:srgbClr val="231F20"/>
                </a:solidFill>
                <a:latin typeface="Constantia"/>
                <a:cs typeface="Constantia"/>
              </a:rPr>
              <a:t>, </a:t>
            </a:r>
            <a:r>
              <a:rPr sz="2600" b="1" spc="-10" dirty="0" err="1">
                <a:solidFill>
                  <a:srgbClr val="231F20"/>
                </a:solidFill>
                <a:latin typeface="Constantia"/>
                <a:cs typeface="Constantia"/>
              </a:rPr>
              <a:t>matematiksel</a:t>
            </a:r>
            <a:r>
              <a:rPr sz="2600" b="1" spc="-10" dirty="0">
                <a:solidFill>
                  <a:srgbClr val="231F20"/>
                </a:solidFill>
                <a:latin typeface="Constantia"/>
                <a:cs typeface="Constantia"/>
              </a:rPr>
              <a:t> </a:t>
            </a:r>
            <a:r>
              <a:rPr sz="2600" b="1" spc="-35" dirty="0" err="1">
                <a:solidFill>
                  <a:srgbClr val="231F20"/>
                </a:solidFill>
                <a:latin typeface="Constantia"/>
                <a:cs typeface="Constantia"/>
              </a:rPr>
              <a:t>ve</a:t>
            </a:r>
            <a:r>
              <a:rPr sz="2600" b="1" spc="-35" dirty="0">
                <a:solidFill>
                  <a:srgbClr val="231F20"/>
                </a:solidFill>
                <a:latin typeface="Constantia"/>
                <a:cs typeface="Constantia"/>
              </a:rPr>
              <a:t> </a:t>
            </a:r>
            <a:r>
              <a:rPr sz="2600" b="1" dirty="0" err="1">
                <a:solidFill>
                  <a:srgbClr val="231F20"/>
                </a:solidFill>
                <a:latin typeface="Constantia"/>
                <a:cs typeface="Constantia"/>
              </a:rPr>
              <a:t>doğa</a:t>
            </a:r>
            <a:r>
              <a:rPr sz="2600" b="1" dirty="0">
                <a:solidFill>
                  <a:srgbClr val="231F20"/>
                </a:solidFill>
                <a:latin typeface="Constantia"/>
                <a:cs typeface="Constantia"/>
              </a:rPr>
              <a:t> </a:t>
            </a:r>
            <a:r>
              <a:rPr sz="2600" b="1" spc="-5" dirty="0" err="1">
                <a:solidFill>
                  <a:srgbClr val="231F20"/>
                </a:solidFill>
                <a:latin typeface="Constantia"/>
                <a:cs typeface="Constantia"/>
              </a:rPr>
              <a:t>bilimler</a:t>
            </a:r>
            <a:r>
              <a:rPr lang="tr-TR" sz="2600" b="1" spc="-5" dirty="0">
                <a:solidFill>
                  <a:srgbClr val="231F20"/>
                </a:solidFill>
                <a:latin typeface="Constantia"/>
                <a:cs typeface="Constantia"/>
              </a:rPr>
              <a:t>in</a:t>
            </a:r>
            <a:r>
              <a:rPr sz="2600" b="1" spc="-5" dirty="0">
                <a:solidFill>
                  <a:srgbClr val="231F20"/>
                </a:solidFill>
                <a:latin typeface="Constantia"/>
                <a:cs typeface="Constantia"/>
              </a:rPr>
              <a:t>den,  çalışma, </a:t>
            </a:r>
            <a:r>
              <a:rPr sz="2600" spc="-5" dirty="0">
                <a:solidFill>
                  <a:srgbClr val="231F20"/>
                </a:solidFill>
                <a:latin typeface="Constantia"/>
                <a:cs typeface="Constantia"/>
              </a:rPr>
              <a:t>deneyim </a:t>
            </a:r>
            <a:r>
              <a:rPr sz="2600" spc="-35" dirty="0">
                <a:solidFill>
                  <a:srgbClr val="231F20"/>
                </a:solidFill>
                <a:latin typeface="Constantia"/>
                <a:cs typeface="Constantia"/>
              </a:rPr>
              <a:t>ve </a:t>
            </a:r>
            <a:r>
              <a:rPr sz="2600" spc="-15" dirty="0">
                <a:solidFill>
                  <a:srgbClr val="231F20"/>
                </a:solidFill>
                <a:latin typeface="Constantia"/>
                <a:cs typeface="Constantia"/>
              </a:rPr>
              <a:t>uygulama yolları </a:t>
            </a:r>
            <a:r>
              <a:rPr sz="2600" spc="-5" dirty="0">
                <a:solidFill>
                  <a:srgbClr val="231F20"/>
                </a:solidFill>
                <a:latin typeface="Constantia"/>
                <a:cs typeface="Constantia"/>
              </a:rPr>
              <a:t>ile kazanılmış  bilgileri akıllıca </a:t>
            </a:r>
            <a:r>
              <a:rPr sz="2600" spc="-10" dirty="0">
                <a:solidFill>
                  <a:srgbClr val="231F20"/>
                </a:solidFill>
                <a:latin typeface="Constantia"/>
                <a:cs typeface="Constantia"/>
              </a:rPr>
              <a:t>kullanarak, </a:t>
            </a:r>
            <a:r>
              <a:rPr sz="2600" spc="-5" dirty="0">
                <a:solidFill>
                  <a:srgbClr val="231F20"/>
                </a:solidFill>
                <a:latin typeface="Constantia"/>
                <a:cs typeface="Constantia"/>
              </a:rPr>
              <a:t>doğanın madde </a:t>
            </a:r>
            <a:r>
              <a:rPr sz="2600" spc="-30" dirty="0">
                <a:solidFill>
                  <a:srgbClr val="231F20"/>
                </a:solidFill>
                <a:latin typeface="Constantia"/>
                <a:cs typeface="Constantia"/>
              </a:rPr>
              <a:t>ve  </a:t>
            </a:r>
            <a:r>
              <a:rPr sz="2600" spc="-5" dirty="0">
                <a:solidFill>
                  <a:srgbClr val="231F20"/>
                </a:solidFill>
                <a:latin typeface="Constantia"/>
                <a:cs typeface="Constantia"/>
              </a:rPr>
              <a:t>kuvvetlerini </a:t>
            </a:r>
            <a:r>
              <a:rPr sz="2600" spc="-10" dirty="0">
                <a:solidFill>
                  <a:srgbClr val="231F20"/>
                </a:solidFill>
                <a:latin typeface="Constantia"/>
                <a:cs typeface="Constantia"/>
              </a:rPr>
              <a:t>insanoğlu </a:t>
            </a:r>
            <a:r>
              <a:rPr sz="2600" spc="-15" dirty="0">
                <a:solidFill>
                  <a:srgbClr val="231F20"/>
                </a:solidFill>
                <a:latin typeface="Constantia"/>
                <a:cs typeface="Constantia"/>
              </a:rPr>
              <a:t>yararına </a:t>
            </a:r>
            <a:r>
              <a:rPr sz="2600" dirty="0">
                <a:solidFill>
                  <a:srgbClr val="231F20"/>
                </a:solidFill>
                <a:latin typeface="Constantia"/>
                <a:cs typeface="Constantia"/>
              </a:rPr>
              <a:t>sunmak </a:t>
            </a:r>
            <a:r>
              <a:rPr sz="2600" spc="-15" dirty="0">
                <a:solidFill>
                  <a:srgbClr val="231F20"/>
                </a:solidFill>
                <a:latin typeface="Constantia"/>
                <a:cs typeface="Constantia"/>
              </a:rPr>
              <a:t>üzere  </a:t>
            </a:r>
            <a:r>
              <a:rPr sz="2600" spc="-10" dirty="0">
                <a:solidFill>
                  <a:srgbClr val="231F20"/>
                </a:solidFill>
                <a:latin typeface="Constantia"/>
                <a:cs typeface="Constantia"/>
              </a:rPr>
              <a:t>ekonomik </a:t>
            </a:r>
            <a:r>
              <a:rPr sz="2600" spc="-15" dirty="0">
                <a:solidFill>
                  <a:srgbClr val="231F20"/>
                </a:solidFill>
                <a:latin typeface="Constantia"/>
                <a:cs typeface="Constantia"/>
              </a:rPr>
              <a:t>yöntemler </a:t>
            </a:r>
            <a:r>
              <a:rPr sz="2600" spc="-10" dirty="0">
                <a:solidFill>
                  <a:srgbClr val="231F20"/>
                </a:solidFill>
                <a:latin typeface="Constantia"/>
                <a:cs typeface="Constantia"/>
              </a:rPr>
              <a:t>geliştiren </a:t>
            </a:r>
            <a:r>
              <a:rPr sz="2600" dirty="0">
                <a:solidFill>
                  <a:srgbClr val="231F20"/>
                </a:solidFill>
                <a:latin typeface="Constantia"/>
                <a:cs typeface="Constantia"/>
              </a:rPr>
              <a:t>bir</a:t>
            </a:r>
            <a:r>
              <a:rPr sz="2600" spc="-425" dirty="0">
                <a:solidFill>
                  <a:srgbClr val="231F20"/>
                </a:solidFill>
                <a:latin typeface="Constantia"/>
                <a:cs typeface="Constantia"/>
              </a:rPr>
              <a:t> </a:t>
            </a:r>
            <a:r>
              <a:rPr sz="2600" spc="-25" dirty="0" err="1">
                <a:solidFill>
                  <a:srgbClr val="231F20"/>
                </a:solidFill>
                <a:latin typeface="Constantia"/>
                <a:cs typeface="Constantia"/>
              </a:rPr>
              <a:t>meslektir</a:t>
            </a:r>
            <a:r>
              <a:rPr sz="2600" spc="-25" dirty="0">
                <a:solidFill>
                  <a:srgbClr val="231F20"/>
                </a:solidFill>
                <a:latin typeface="Constantia"/>
                <a:cs typeface="Constantia"/>
              </a:rPr>
              <a:t>.</a:t>
            </a:r>
            <a:endParaRPr sz="2600" dirty="0">
              <a:latin typeface="Constantia"/>
              <a:cs typeface="Constantia"/>
            </a:endParaRPr>
          </a:p>
        </p:txBody>
      </p:sp>
      <p:pic>
        <p:nvPicPr>
          <p:cNvPr id="5" name="Picture 10" descr="bs00559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38741" y="4243337"/>
            <a:ext cx="3581400" cy="203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4878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a:spLocks noChangeArrowheads="1"/>
          </p:cNvSpPr>
          <p:nvPr/>
        </p:nvSpPr>
        <p:spPr>
          <a:xfrm>
            <a:off x="1458222" y="1192161"/>
            <a:ext cx="8153400" cy="99060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tr-TR" b="1" dirty="0">
                <a:solidFill>
                  <a:srgbClr val="FF0000"/>
                </a:solidFill>
                <a:latin typeface="Comic Sans MS" pitchFamily="66" charset="0"/>
              </a:rPr>
              <a:t>FELSEFE VE ETİK</a:t>
            </a:r>
          </a:p>
        </p:txBody>
      </p:sp>
      <p:sp>
        <p:nvSpPr>
          <p:cNvPr id="3" name="Rectangle 3"/>
          <p:cNvSpPr txBox="1">
            <a:spLocks noChangeArrowheads="1"/>
          </p:cNvSpPr>
          <p:nvPr/>
        </p:nvSpPr>
        <p:spPr>
          <a:xfrm>
            <a:off x="1782686" y="2072148"/>
            <a:ext cx="8153400" cy="4495800"/>
          </a:xfrm>
          <a:prstGeom prst="rect">
            <a:avLst/>
          </a:prstGeom>
        </p:spPr>
        <p:txBody>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tr-TR" b="1" dirty="0">
                <a:solidFill>
                  <a:srgbClr val="FF3300"/>
                </a:solidFill>
                <a:latin typeface="Comic Sans MS" pitchFamily="66" charset="0"/>
              </a:rPr>
              <a:t>FELSEFE (</a:t>
            </a:r>
            <a:r>
              <a:rPr lang="tr-TR" b="1" dirty="0" err="1">
                <a:solidFill>
                  <a:srgbClr val="FF3300"/>
                </a:solidFill>
                <a:latin typeface="Comic Sans MS" pitchFamily="66" charset="0"/>
              </a:rPr>
              <a:t>Philosopyh</a:t>
            </a:r>
            <a:r>
              <a:rPr lang="tr-TR" b="1" dirty="0">
                <a:solidFill>
                  <a:srgbClr val="FF3300"/>
                </a:solidFill>
                <a:latin typeface="Comic Sans MS" pitchFamily="66" charset="0"/>
              </a:rPr>
              <a:t>)</a:t>
            </a:r>
            <a:r>
              <a:rPr lang="tr-TR" dirty="0">
                <a:solidFill>
                  <a:srgbClr val="000000"/>
                </a:solidFill>
                <a:latin typeface="Comic Sans MS" pitchFamily="66" charset="0"/>
              </a:rPr>
              <a:t>: insanın bilme arzusunun bir yansımasıdır. İnsanın </a:t>
            </a:r>
            <a:r>
              <a:rPr lang="tr-TR" b="1" dirty="0">
                <a:solidFill>
                  <a:srgbClr val="0070C0"/>
                </a:solidFill>
                <a:latin typeface="Comic Sans MS" pitchFamily="66" charset="0"/>
              </a:rPr>
              <a:t>evrene</a:t>
            </a:r>
            <a:r>
              <a:rPr lang="tr-TR" dirty="0">
                <a:solidFill>
                  <a:srgbClr val="0070C0"/>
                </a:solidFill>
                <a:latin typeface="Comic Sans MS" pitchFamily="66" charset="0"/>
              </a:rPr>
              <a:t>, </a:t>
            </a:r>
            <a:r>
              <a:rPr lang="tr-TR" b="1" dirty="0">
                <a:solidFill>
                  <a:srgbClr val="0070C0"/>
                </a:solidFill>
                <a:latin typeface="Comic Sans MS" pitchFamily="66" charset="0"/>
              </a:rPr>
              <a:t>varoluşa, bilgiye ve değerlere</a:t>
            </a:r>
            <a:r>
              <a:rPr lang="tr-TR" dirty="0">
                <a:solidFill>
                  <a:srgbClr val="00B050"/>
                </a:solidFill>
                <a:latin typeface="Comic Sans MS" pitchFamily="66" charset="0"/>
              </a:rPr>
              <a:t> </a:t>
            </a:r>
            <a:r>
              <a:rPr lang="tr-TR" dirty="0">
                <a:solidFill>
                  <a:srgbClr val="000000"/>
                </a:solidFill>
                <a:latin typeface="Comic Sans MS" pitchFamily="66" charset="0"/>
              </a:rPr>
              <a:t>ilişkin sorulara yanıt arama çabasıdır. </a:t>
            </a:r>
          </a:p>
          <a:p>
            <a:r>
              <a:rPr lang="tr-TR" dirty="0">
                <a:solidFill>
                  <a:srgbClr val="000000"/>
                </a:solidFill>
                <a:latin typeface="Comic Sans MS" pitchFamily="66" charset="0"/>
              </a:rPr>
              <a:t>Felsefe bu soruların içeriğine göre alt dallara ayrılır. </a:t>
            </a:r>
          </a:p>
          <a:p>
            <a:pPr marL="365760" lvl="1" indent="0">
              <a:buNone/>
            </a:pPr>
            <a:r>
              <a:rPr lang="tr-TR" sz="2400" b="1" dirty="0">
                <a:solidFill>
                  <a:schemeClr val="tx1"/>
                </a:solidFill>
                <a:latin typeface="Comic Sans MS" pitchFamily="66" charset="0"/>
              </a:rPr>
              <a:t>1. Epistemoloji (bilgi bilim)</a:t>
            </a:r>
          </a:p>
          <a:p>
            <a:pPr marL="365760" lvl="1" indent="0">
              <a:buNone/>
            </a:pPr>
            <a:r>
              <a:rPr lang="tr-TR" sz="2400" b="1" dirty="0">
                <a:solidFill>
                  <a:schemeClr val="tx1"/>
                </a:solidFill>
                <a:latin typeface="Comic Sans MS" pitchFamily="66" charset="0"/>
              </a:rPr>
              <a:t>2. Ontoloji (varlık bilim)</a:t>
            </a:r>
          </a:p>
          <a:p>
            <a:pPr marL="365760" lvl="1" indent="0">
              <a:buNone/>
            </a:pPr>
            <a:r>
              <a:rPr lang="tr-TR" sz="2400" b="1" dirty="0">
                <a:solidFill>
                  <a:schemeClr val="tx1"/>
                </a:solidFill>
                <a:latin typeface="Comic Sans MS" pitchFamily="66" charset="0"/>
              </a:rPr>
              <a:t>3. Estetik</a:t>
            </a:r>
          </a:p>
          <a:p>
            <a:pPr marL="365760" lvl="1" indent="0">
              <a:buNone/>
            </a:pPr>
            <a:r>
              <a:rPr lang="tr-TR" sz="2400" b="1" dirty="0">
                <a:solidFill>
                  <a:schemeClr val="tx1"/>
                </a:solidFill>
                <a:latin typeface="Comic Sans MS" pitchFamily="66" charset="0"/>
              </a:rPr>
              <a:t>4. </a:t>
            </a:r>
            <a:r>
              <a:rPr lang="tr-TR" sz="2400" b="1" dirty="0">
                <a:solidFill>
                  <a:srgbClr val="FF0000"/>
                </a:solidFill>
                <a:latin typeface="Comic Sans MS" pitchFamily="66" charset="0"/>
              </a:rPr>
              <a:t>Etik </a:t>
            </a:r>
          </a:p>
        </p:txBody>
      </p:sp>
    </p:spTree>
    <p:extLst>
      <p:ext uri="{BB962C8B-B14F-4D97-AF65-F5344CB8AC3E}">
        <p14:creationId xmlns:p14="http://schemas.microsoft.com/office/powerpoint/2010/main" val="2411005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2"/>
          <p:cNvSpPr txBox="1"/>
          <p:nvPr/>
        </p:nvSpPr>
        <p:spPr>
          <a:xfrm>
            <a:off x="1596650" y="1921290"/>
            <a:ext cx="8078470" cy="2718693"/>
          </a:xfrm>
          <a:prstGeom prst="rect">
            <a:avLst/>
          </a:prstGeom>
        </p:spPr>
        <p:txBody>
          <a:bodyPr vert="horz" wrap="square" lIns="0" tIns="0" rIns="0" bIns="0" rtlCol="0">
            <a:spAutoFit/>
          </a:bodyPr>
          <a:lstStyle/>
          <a:p>
            <a:pPr marL="285115" marR="5080" indent="-273050" algn="just">
              <a:lnSpc>
                <a:spcPct val="100000"/>
              </a:lnSpc>
            </a:pPr>
            <a:r>
              <a:rPr lang="tr-TR" sz="2000" spc="-5" dirty="0">
                <a:solidFill>
                  <a:srgbClr val="FF0000"/>
                </a:solidFill>
                <a:latin typeface="Comic Sans MS" panose="030F0702030302020204" pitchFamily="66" charset="0"/>
                <a:cs typeface="Constantia"/>
              </a:rPr>
              <a:t> </a:t>
            </a:r>
            <a:r>
              <a:rPr sz="2000" spc="-5" dirty="0" err="1">
                <a:solidFill>
                  <a:srgbClr val="FF0000"/>
                </a:solidFill>
                <a:latin typeface="Comic Sans MS" panose="030F0702030302020204" pitchFamily="66" charset="0"/>
                <a:cs typeface="Constantia"/>
              </a:rPr>
              <a:t>Etik</a:t>
            </a:r>
            <a:r>
              <a:rPr lang="tr-TR" sz="2000" spc="-5" dirty="0">
                <a:solidFill>
                  <a:srgbClr val="FF0000"/>
                </a:solidFill>
                <a:latin typeface="Comic Sans MS" panose="030F0702030302020204" pitchFamily="66" charset="0"/>
                <a:cs typeface="Constantia"/>
              </a:rPr>
              <a:t> </a:t>
            </a:r>
            <a:r>
              <a:rPr sz="2000" spc="-25" dirty="0" err="1">
                <a:solidFill>
                  <a:srgbClr val="231F20"/>
                </a:solidFill>
                <a:latin typeface="Comic Sans MS" panose="030F0702030302020204" pitchFamily="66" charset="0"/>
                <a:cs typeface="Constantia"/>
              </a:rPr>
              <a:t>Yunan</a:t>
            </a:r>
            <a:r>
              <a:rPr sz="2000" spc="-25" dirty="0">
                <a:solidFill>
                  <a:srgbClr val="231F20"/>
                </a:solidFill>
                <a:latin typeface="Comic Sans MS" panose="030F0702030302020204" pitchFamily="66" charset="0"/>
                <a:cs typeface="Constantia"/>
              </a:rPr>
              <a:t> </a:t>
            </a:r>
            <a:r>
              <a:rPr sz="2000" spc="-5" dirty="0">
                <a:solidFill>
                  <a:srgbClr val="231F20"/>
                </a:solidFill>
                <a:latin typeface="Comic Sans MS" panose="030F0702030302020204" pitchFamily="66" charset="0"/>
                <a:cs typeface="Constantia"/>
              </a:rPr>
              <a:t>"ethos" kelimesinden </a:t>
            </a:r>
            <a:r>
              <a:rPr sz="2000" spc="-10" dirty="0">
                <a:solidFill>
                  <a:srgbClr val="231F20"/>
                </a:solidFill>
                <a:latin typeface="Comic Sans MS" panose="030F0702030302020204" pitchFamily="66" charset="0"/>
                <a:cs typeface="Constantia"/>
              </a:rPr>
              <a:t>gelip </a:t>
            </a:r>
            <a:r>
              <a:rPr sz="2000" spc="-5" dirty="0">
                <a:solidFill>
                  <a:srgbClr val="231F20"/>
                </a:solidFill>
                <a:latin typeface="Comic Sans MS" panose="030F0702030302020204" pitchFamily="66" charset="0"/>
                <a:cs typeface="Constantia"/>
              </a:rPr>
              <a:t>bilgin, </a:t>
            </a:r>
            <a:r>
              <a:rPr sz="2000" dirty="0">
                <a:solidFill>
                  <a:srgbClr val="231F20"/>
                </a:solidFill>
                <a:latin typeface="Comic Sans MS" panose="030F0702030302020204" pitchFamily="66" charset="0"/>
                <a:cs typeface="Constantia"/>
              </a:rPr>
              <a:t>tarz </a:t>
            </a:r>
            <a:r>
              <a:rPr sz="2000" spc="-10" dirty="0">
                <a:solidFill>
                  <a:srgbClr val="231F20"/>
                </a:solidFill>
                <a:latin typeface="Comic Sans MS" panose="030F0702030302020204" pitchFamily="66" charset="0"/>
                <a:cs typeface="Constantia"/>
              </a:rPr>
              <a:t>anlamına  </a:t>
            </a:r>
            <a:r>
              <a:rPr sz="2000" spc="-25" dirty="0">
                <a:solidFill>
                  <a:srgbClr val="231F20"/>
                </a:solidFill>
                <a:latin typeface="Comic Sans MS" panose="030F0702030302020204" pitchFamily="66" charset="0"/>
                <a:cs typeface="Constantia"/>
              </a:rPr>
              <a:t>gelmektedir. </a:t>
            </a:r>
            <a:r>
              <a:rPr sz="2000" spc="-5" dirty="0">
                <a:solidFill>
                  <a:srgbClr val="231F20"/>
                </a:solidFill>
                <a:latin typeface="Comic Sans MS" panose="030F0702030302020204" pitchFamily="66" charset="0"/>
                <a:cs typeface="Constantia"/>
              </a:rPr>
              <a:t>Latince de </a:t>
            </a:r>
            <a:r>
              <a:rPr sz="2000" spc="-10" dirty="0">
                <a:solidFill>
                  <a:srgbClr val="231F20"/>
                </a:solidFill>
                <a:latin typeface="Comic Sans MS" panose="030F0702030302020204" pitchFamily="66" charset="0"/>
                <a:cs typeface="Constantia"/>
              </a:rPr>
              <a:t>ise </a:t>
            </a:r>
            <a:r>
              <a:rPr sz="2000" spc="-15" dirty="0">
                <a:solidFill>
                  <a:srgbClr val="231F20"/>
                </a:solidFill>
                <a:latin typeface="Comic Sans MS" panose="030F0702030302020204" pitchFamily="66" charset="0"/>
                <a:cs typeface="Constantia"/>
              </a:rPr>
              <a:t>davranış, </a:t>
            </a:r>
            <a:r>
              <a:rPr sz="2000" spc="-5" dirty="0">
                <a:solidFill>
                  <a:srgbClr val="231F20"/>
                </a:solidFill>
                <a:latin typeface="Comic Sans MS" panose="030F0702030302020204" pitchFamily="66" charset="0"/>
                <a:cs typeface="Constantia"/>
              </a:rPr>
              <a:t>alışkanlık </a:t>
            </a:r>
            <a:r>
              <a:rPr sz="2000" dirty="0">
                <a:solidFill>
                  <a:srgbClr val="231F20"/>
                </a:solidFill>
                <a:latin typeface="Comic Sans MS" panose="030F0702030302020204" pitchFamily="66" charset="0"/>
                <a:cs typeface="Constantia"/>
              </a:rPr>
              <a:t>anlamında </a:t>
            </a:r>
            <a:r>
              <a:rPr sz="2000" spc="-5" dirty="0">
                <a:solidFill>
                  <a:srgbClr val="231F20"/>
                </a:solidFill>
                <a:latin typeface="Comic Sans MS" panose="030F0702030302020204" pitchFamily="66" charset="0"/>
                <a:cs typeface="Constantia"/>
              </a:rPr>
              <a:t>olan  </a:t>
            </a:r>
            <a:r>
              <a:rPr sz="2000" spc="-20" dirty="0">
                <a:solidFill>
                  <a:srgbClr val="231F20"/>
                </a:solidFill>
                <a:latin typeface="Comic Sans MS" panose="030F0702030302020204" pitchFamily="66" charset="0"/>
                <a:cs typeface="Constantia"/>
              </a:rPr>
              <a:t>"morality"dir. </a:t>
            </a:r>
            <a:r>
              <a:rPr sz="2000" spc="-30" dirty="0">
                <a:solidFill>
                  <a:srgbClr val="231F20"/>
                </a:solidFill>
                <a:latin typeface="Comic Sans MS" panose="030F0702030302020204" pitchFamily="66" charset="0"/>
                <a:cs typeface="Constantia"/>
              </a:rPr>
              <a:t>Tükçe'de </a:t>
            </a:r>
            <a:r>
              <a:rPr sz="2000" dirty="0">
                <a:solidFill>
                  <a:srgbClr val="231F20"/>
                </a:solidFill>
                <a:latin typeface="Comic Sans MS" panose="030F0702030302020204" pitchFamily="66" charset="0"/>
                <a:cs typeface="Constantia"/>
              </a:rPr>
              <a:t>ise; </a:t>
            </a:r>
            <a:r>
              <a:rPr sz="2000" spc="-10" dirty="0">
                <a:solidFill>
                  <a:srgbClr val="231F20"/>
                </a:solidFill>
                <a:latin typeface="Comic Sans MS" panose="030F0702030302020204" pitchFamily="66" charset="0"/>
                <a:cs typeface="Constantia"/>
              </a:rPr>
              <a:t>Arapça'dan </a:t>
            </a:r>
            <a:r>
              <a:rPr sz="2000" spc="-5" dirty="0">
                <a:solidFill>
                  <a:srgbClr val="231F20"/>
                </a:solidFill>
                <a:latin typeface="Comic Sans MS" panose="030F0702030302020204" pitchFamily="66" charset="0"/>
                <a:cs typeface="Constantia"/>
              </a:rPr>
              <a:t>"hulk" </a:t>
            </a:r>
            <a:r>
              <a:rPr sz="2000" spc="-10" dirty="0">
                <a:solidFill>
                  <a:srgbClr val="231F20"/>
                </a:solidFill>
                <a:latin typeface="Comic Sans MS" panose="030F0702030302020204" pitchFamily="66" charset="0"/>
                <a:cs typeface="Constantia"/>
              </a:rPr>
              <a:t>kelimesinden türemiş  </a:t>
            </a:r>
            <a:r>
              <a:rPr sz="2000" spc="-5" dirty="0">
                <a:solidFill>
                  <a:srgbClr val="231F20"/>
                </a:solidFill>
                <a:latin typeface="Comic Sans MS" panose="030F0702030302020204" pitchFamily="66" charset="0"/>
                <a:cs typeface="Constantia"/>
              </a:rPr>
              <a:t>olan ahlak anlamına</a:t>
            </a:r>
            <a:r>
              <a:rPr sz="2000" spc="-250" dirty="0">
                <a:solidFill>
                  <a:srgbClr val="231F20"/>
                </a:solidFill>
                <a:latin typeface="Comic Sans MS" panose="030F0702030302020204" pitchFamily="66" charset="0"/>
                <a:cs typeface="Constantia"/>
              </a:rPr>
              <a:t> </a:t>
            </a:r>
            <a:r>
              <a:rPr sz="2000" spc="-25" dirty="0">
                <a:solidFill>
                  <a:srgbClr val="231F20"/>
                </a:solidFill>
                <a:latin typeface="Comic Sans MS" panose="030F0702030302020204" pitchFamily="66" charset="0"/>
                <a:cs typeface="Constantia"/>
              </a:rPr>
              <a:t>gelmektedir.</a:t>
            </a:r>
            <a:endParaRPr sz="2000" dirty="0">
              <a:latin typeface="Comic Sans MS" panose="030F0702030302020204" pitchFamily="66" charset="0"/>
              <a:cs typeface="Constantia"/>
            </a:endParaRPr>
          </a:p>
          <a:p>
            <a:pPr marL="12700">
              <a:lnSpc>
                <a:spcPct val="100000"/>
              </a:lnSpc>
              <a:spcBef>
                <a:spcPts val="480"/>
              </a:spcBef>
            </a:pPr>
            <a:r>
              <a:rPr sz="2000" spc="-5" dirty="0">
                <a:solidFill>
                  <a:srgbClr val="FF0000"/>
                </a:solidFill>
                <a:latin typeface="Comic Sans MS" panose="030F0702030302020204" pitchFamily="66" charset="0"/>
                <a:cs typeface="Constantia"/>
              </a:rPr>
              <a:t>TDK</a:t>
            </a:r>
            <a:r>
              <a:rPr sz="2000" spc="-120" dirty="0">
                <a:solidFill>
                  <a:srgbClr val="FF0000"/>
                </a:solidFill>
                <a:latin typeface="Comic Sans MS" panose="030F0702030302020204" pitchFamily="66" charset="0"/>
                <a:cs typeface="Constantia"/>
              </a:rPr>
              <a:t> </a:t>
            </a:r>
            <a:r>
              <a:rPr sz="2000" spc="-5" dirty="0">
                <a:solidFill>
                  <a:srgbClr val="FF0000"/>
                </a:solidFill>
                <a:latin typeface="Comic Sans MS" panose="030F0702030302020204" pitchFamily="66" charset="0"/>
                <a:cs typeface="Constantia"/>
              </a:rPr>
              <a:t>tanımı;</a:t>
            </a:r>
            <a:endParaRPr sz="2000" dirty="0">
              <a:solidFill>
                <a:srgbClr val="FF0000"/>
              </a:solidFill>
              <a:latin typeface="Comic Sans MS" panose="030F0702030302020204" pitchFamily="66" charset="0"/>
              <a:cs typeface="Constantia"/>
            </a:endParaRPr>
          </a:p>
          <a:p>
            <a:pPr marL="469900" indent="-457200">
              <a:lnSpc>
                <a:spcPct val="100000"/>
              </a:lnSpc>
              <a:spcBef>
                <a:spcPts val="480"/>
              </a:spcBef>
              <a:buClr>
                <a:srgbClr val="FFFFFF"/>
              </a:buClr>
              <a:buSzPct val="95000"/>
              <a:buFont typeface="Wingdings"/>
              <a:buChar char=""/>
              <a:tabLst>
                <a:tab pos="469900" algn="l"/>
                <a:tab pos="470534" algn="l"/>
                <a:tab pos="1318895" algn="l"/>
                <a:tab pos="2248535" algn="l"/>
                <a:tab pos="3109595" algn="l"/>
                <a:tab pos="4185920" algn="l"/>
                <a:tab pos="5376545" algn="l"/>
                <a:tab pos="6313805" algn="l"/>
                <a:tab pos="6944359" algn="l"/>
              </a:tabLst>
            </a:pPr>
            <a:r>
              <a:rPr sz="2000" spc="-5" dirty="0">
                <a:solidFill>
                  <a:srgbClr val="231F20"/>
                </a:solidFill>
                <a:latin typeface="Comic Sans MS" panose="030F0702030302020204" pitchFamily="66" charset="0"/>
                <a:cs typeface="Constantia"/>
              </a:rPr>
              <a:t>Çeşitli	</a:t>
            </a:r>
            <a:r>
              <a:rPr sz="2000" dirty="0">
                <a:solidFill>
                  <a:srgbClr val="231F20"/>
                </a:solidFill>
                <a:latin typeface="Comic Sans MS" panose="030F0702030302020204" pitchFamily="66" charset="0"/>
                <a:cs typeface="Constantia"/>
              </a:rPr>
              <a:t>meslek	</a:t>
            </a:r>
            <a:r>
              <a:rPr sz="2000" spc="-10" dirty="0">
                <a:solidFill>
                  <a:srgbClr val="231F20"/>
                </a:solidFill>
                <a:latin typeface="Comic Sans MS" panose="030F0702030302020204" pitchFamily="66" charset="0"/>
                <a:cs typeface="Constantia"/>
              </a:rPr>
              <a:t>kolları	arasında	</a:t>
            </a:r>
            <a:r>
              <a:rPr sz="2000" spc="10" dirty="0">
                <a:solidFill>
                  <a:srgbClr val="231F20"/>
                </a:solidFill>
                <a:latin typeface="Comic Sans MS" panose="030F0702030302020204" pitchFamily="66" charset="0"/>
                <a:cs typeface="Constantia"/>
              </a:rPr>
              <a:t>tarafların	</a:t>
            </a:r>
            <a:r>
              <a:rPr sz="2000" spc="-5" dirty="0">
                <a:solidFill>
                  <a:srgbClr val="231F20"/>
                </a:solidFill>
                <a:latin typeface="Comic Sans MS" panose="030F0702030302020204" pitchFamily="66" charset="0"/>
                <a:cs typeface="Constantia"/>
              </a:rPr>
              <a:t>uyması	</a:t>
            </a:r>
            <a:r>
              <a:rPr sz="2000" spc="-25" dirty="0">
                <a:solidFill>
                  <a:srgbClr val="231F20"/>
                </a:solidFill>
                <a:latin typeface="Comic Sans MS" panose="030F0702030302020204" pitchFamily="66" charset="0"/>
                <a:cs typeface="Constantia"/>
              </a:rPr>
              <a:t>veya	</a:t>
            </a:r>
            <a:r>
              <a:rPr sz="2000" spc="-5" dirty="0" err="1">
                <a:solidFill>
                  <a:srgbClr val="231F20"/>
                </a:solidFill>
                <a:latin typeface="Comic Sans MS" panose="030F0702030302020204" pitchFamily="66" charset="0"/>
                <a:cs typeface="Constantia"/>
              </a:rPr>
              <a:t>kaçınması</a:t>
            </a:r>
            <a:endParaRPr lang="tr-TR" sz="2000" spc="-5" dirty="0">
              <a:solidFill>
                <a:srgbClr val="231F20"/>
              </a:solidFill>
              <a:latin typeface="Comic Sans MS" panose="030F0702030302020204" pitchFamily="66" charset="0"/>
              <a:cs typeface="Constantia"/>
            </a:endParaRPr>
          </a:p>
          <a:p>
            <a:pPr marL="469900" indent="-457200">
              <a:spcBef>
                <a:spcPts val="480"/>
              </a:spcBef>
              <a:buClr>
                <a:srgbClr val="FFFFFF"/>
              </a:buClr>
              <a:buSzPct val="95000"/>
              <a:buFont typeface="Wingdings"/>
              <a:buChar char=""/>
              <a:tabLst>
                <a:tab pos="469900" algn="l"/>
                <a:tab pos="470534" algn="l"/>
                <a:tab pos="1318895" algn="l"/>
                <a:tab pos="2248535" algn="l"/>
                <a:tab pos="3109595" algn="l"/>
                <a:tab pos="4185920" algn="l"/>
                <a:tab pos="5376545" algn="l"/>
                <a:tab pos="6313805" algn="l"/>
                <a:tab pos="6944359" algn="l"/>
              </a:tabLst>
            </a:pPr>
            <a:r>
              <a:rPr lang="tr-TR" sz="2000" spc="-20" dirty="0">
                <a:solidFill>
                  <a:srgbClr val="231F20"/>
                </a:solidFill>
                <a:latin typeface="Comic Sans MS" panose="030F0702030302020204" pitchFamily="66" charset="0"/>
                <a:cs typeface="Constantia"/>
              </a:rPr>
              <a:t>gereken </a:t>
            </a:r>
            <a:r>
              <a:rPr lang="tr-TR" sz="2000" spc="-10" dirty="0">
                <a:solidFill>
                  <a:srgbClr val="231F20"/>
                </a:solidFill>
                <a:latin typeface="Comic Sans MS" panose="030F0702030302020204" pitchFamily="66" charset="0"/>
                <a:cs typeface="Constantia"/>
              </a:rPr>
              <a:t>davranışlar</a:t>
            </a:r>
            <a:r>
              <a:rPr lang="tr-TR" sz="2000" spc="-204" dirty="0">
                <a:solidFill>
                  <a:srgbClr val="231F20"/>
                </a:solidFill>
                <a:latin typeface="Comic Sans MS" panose="030F0702030302020204" pitchFamily="66" charset="0"/>
                <a:cs typeface="Constantia"/>
              </a:rPr>
              <a:t> </a:t>
            </a:r>
            <a:r>
              <a:rPr lang="tr-TR" sz="2000" spc="-20" dirty="0">
                <a:solidFill>
                  <a:srgbClr val="231F20"/>
                </a:solidFill>
                <a:latin typeface="Comic Sans MS" panose="030F0702030302020204" pitchFamily="66" charset="0"/>
                <a:cs typeface="Constantia"/>
              </a:rPr>
              <a:t>bütünüdür.</a:t>
            </a:r>
            <a:endParaRPr lang="tr-TR" sz="2000" dirty="0">
              <a:latin typeface="Comic Sans MS" panose="030F0702030302020204" pitchFamily="66" charset="0"/>
              <a:cs typeface="Constantia"/>
            </a:endParaRPr>
          </a:p>
          <a:p>
            <a:pPr marL="469900" indent="-457200">
              <a:lnSpc>
                <a:spcPct val="100000"/>
              </a:lnSpc>
              <a:spcBef>
                <a:spcPts val="480"/>
              </a:spcBef>
              <a:buClr>
                <a:srgbClr val="FFFFFF"/>
              </a:buClr>
              <a:buSzPct val="95000"/>
              <a:buFont typeface="Wingdings"/>
              <a:buChar char=""/>
              <a:tabLst>
                <a:tab pos="469900" algn="l"/>
                <a:tab pos="470534" algn="l"/>
                <a:tab pos="1318895" algn="l"/>
                <a:tab pos="2248535" algn="l"/>
                <a:tab pos="3109595" algn="l"/>
                <a:tab pos="4185920" algn="l"/>
                <a:tab pos="5376545" algn="l"/>
                <a:tab pos="6313805" algn="l"/>
                <a:tab pos="6944359" algn="l"/>
              </a:tabLst>
            </a:pPr>
            <a:endParaRPr sz="2000" dirty="0">
              <a:latin typeface="Constantia"/>
              <a:cs typeface="Constantia"/>
            </a:endParaRPr>
          </a:p>
        </p:txBody>
      </p:sp>
    </p:spTree>
    <p:extLst>
      <p:ext uri="{BB962C8B-B14F-4D97-AF65-F5344CB8AC3E}">
        <p14:creationId xmlns:p14="http://schemas.microsoft.com/office/powerpoint/2010/main" val="3777917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349910" y="935955"/>
            <a:ext cx="6096000" cy="5078313"/>
          </a:xfrm>
          <a:prstGeom prst="rect">
            <a:avLst/>
          </a:prstGeom>
        </p:spPr>
        <p:txBody>
          <a:bodyPr>
            <a:spAutoFit/>
          </a:bodyPr>
          <a:lstStyle/>
          <a:p>
            <a:r>
              <a:rPr lang="tr-TR" dirty="0" err="1">
                <a:solidFill>
                  <a:srgbClr val="FF0000"/>
                </a:solidFill>
                <a:latin typeface="Comic Sans MS" panose="030F0702030302020204" pitchFamily="66" charset="0"/>
              </a:rPr>
              <a:t>ETiK</a:t>
            </a:r>
            <a:endParaRPr lang="tr-TR" dirty="0">
              <a:solidFill>
                <a:srgbClr val="FF0000"/>
              </a:solidFill>
              <a:latin typeface="Comic Sans MS" panose="030F0702030302020204" pitchFamily="66" charset="0"/>
            </a:endParaRPr>
          </a:p>
          <a:p>
            <a:endParaRPr lang="tr-TR" dirty="0"/>
          </a:p>
          <a:p>
            <a:pPr marL="285750" indent="-285750">
              <a:buFont typeface="Arial" panose="020B0604020202020204" pitchFamily="34" charset="0"/>
              <a:buChar char="•"/>
            </a:pPr>
            <a:r>
              <a:rPr lang="tr-TR" dirty="0">
                <a:latin typeface="Comic Sans MS" panose="030F0702030302020204" pitchFamily="66" charset="0"/>
              </a:rPr>
              <a:t>Felsefenin bir konusu olup, ahlak kurallarını mantıklı ve sistematik şekilde yorumlamaya çalışır. </a:t>
            </a:r>
          </a:p>
          <a:p>
            <a:pPr marL="285750" indent="-285750">
              <a:buFont typeface="Arial" panose="020B0604020202020204" pitchFamily="34" charset="0"/>
              <a:buChar char="•"/>
            </a:pPr>
            <a:endParaRPr lang="tr-TR" dirty="0">
              <a:latin typeface="Comic Sans MS" panose="030F0702030302020204" pitchFamily="66" charset="0"/>
            </a:endParaRPr>
          </a:p>
          <a:p>
            <a:pPr marL="285750" indent="-285750">
              <a:buFont typeface="Arial" panose="020B0604020202020204" pitchFamily="34" charset="0"/>
              <a:buChar char="•"/>
            </a:pPr>
            <a:r>
              <a:rPr lang="tr-TR" dirty="0">
                <a:latin typeface="Comic Sans MS" panose="030F0702030302020204" pitchFamily="66" charset="0"/>
              </a:rPr>
              <a:t>Ahlak üzerinde yeniden düşünme olarak tanımlamak da mümkündür.</a:t>
            </a:r>
          </a:p>
          <a:p>
            <a:pPr marL="285750" indent="-285750">
              <a:buFont typeface="Arial" panose="020B0604020202020204" pitchFamily="34" charset="0"/>
              <a:buChar char="•"/>
            </a:pPr>
            <a:endParaRPr lang="tr-TR" dirty="0">
              <a:latin typeface="Comic Sans MS" panose="030F0702030302020204" pitchFamily="66" charset="0"/>
            </a:endParaRPr>
          </a:p>
          <a:p>
            <a:pPr marL="285750" indent="-285750">
              <a:buFont typeface="Arial" panose="020B0604020202020204" pitchFamily="34" charset="0"/>
              <a:buChar char="•"/>
            </a:pPr>
            <a:r>
              <a:rPr lang="tr-TR" dirty="0">
                <a:latin typeface="Comic Sans MS" panose="030F0702030302020204" pitchFamily="66" charset="0"/>
              </a:rPr>
              <a:t>Değişik topluluklar tarafından insanların sübjektif olarak çeşitli davranışlarının yanlış veya doğru oluşunu belirleyen bir yargı ve ilkeler sistemini tanımlamak amacıyla kullanılır.</a:t>
            </a:r>
          </a:p>
          <a:p>
            <a:endParaRPr lang="tr-TR" dirty="0">
              <a:latin typeface="Comic Sans MS" panose="030F0702030302020204" pitchFamily="66" charset="0"/>
            </a:endParaRPr>
          </a:p>
          <a:p>
            <a:pPr marL="285750" indent="-285750">
              <a:buFont typeface="Arial" panose="020B0604020202020204" pitchFamily="34" charset="0"/>
              <a:buChar char="•"/>
            </a:pPr>
            <a:r>
              <a:rPr lang="tr-TR" dirty="0">
                <a:latin typeface="Comic Sans MS" panose="030F0702030302020204" pitchFamily="66" charset="0"/>
              </a:rPr>
              <a:t>Kavramsal, toplumsal yaşamın ahlaksal pratiğine yönelik bir “gereklilik” öğretisi, insanların birtakım ortak değerleri koruyarak birlikte yaşama ilişkilerini düzenlemeye yönelik “ahlaki davranış standartları” bilimidir.</a:t>
            </a:r>
          </a:p>
        </p:txBody>
      </p:sp>
      <p:pic>
        <p:nvPicPr>
          <p:cNvPr id="3" name="Picture 8" descr="ethics-9651">
            <a:hlinkClick r:id="rId2"/>
          </p:cNvPr>
          <p:cNvPicPr>
            <a:picLocks noChangeAspect="1" noChangeArrowheads="1"/>
          </p:cNvPicPr>
          <p:nvPr/>
        </p:nvPicPr>
        <p:blipFill>
          <a:blip r:embed="rId3" cstate="print"/>
          <a:srcRect/>
          <a:stretch>
            <a:fillRect/>
          </a:stretch>
        </p:blipFill>
        <p:spPr bwMode="auto">
          <a:xfrm>
            <a:off x="8868696" y="1818968"/>
            <a:ext cx="2612998" cy="3074423"/>
          </a:xfrm>
          <a:prstGeom prst="rect">
            <a:avLst/>
          </a:prstGeom>
          <a:noFill/>
          <a:ln w="9525">
            <a:noFill/>
            <a:miter lim="800000"/>
            <a:headEnd/>
            <a:tailEnd/>
          </a:ln>
        </p:spPr>
      </p:pic>
    </p:spTree>
    <p:extLst>
      <p:ext uri="{BB962C8B-B14F-4D97-AF65-F5344CB8AC3E}">
        <p14:creationId xmlns:p14="http://schemas.microsoft.com/office/powerpoint/2010/main" val="775279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998839" y="1130904"/>
            <a:ext cx="6096000" cy="4801314"/>
          </a:xfrm>
          <a:prstGeom prst="rect">
            <a:avLst/>
          </a:prstGeom>
        </p:spPr>
        <p:txBody>
          <a:bodyPr>
            <a:spAutoFit/>
          </a:bodyPr>
          <a:lstStyle/>
          <a:p>
            <a:r>
              <a:rPr lang="tr-TR" dirty="0">
                <a:solidFill>
                  <a:srgbClr val="FF0000"/>
                </a:solidFill>
                <a:latin typeface="Comic Sans MS" panose="030F0702030302020204" pitchFamily="66" charset="0"/>
              </a:rPr>
              <a:t>    AHLAK </a:t>
            </a:r>
          </a:p>
          <a:p>
            <a:pPr marL="285750" indent="-285750">
              <a:buFont typeface="Arial" panose="020B0604020202020204" pitchFamily="34" charset="0"/>
              <a:buChar char="•"/>
            </a:pPr>
            <a:r>
              <a:rPr lang="tr-TR" dirty="0">
                <a:latin typeface="Comic Sans MS" panose="030F0702030302020204" pitchFamily="66" charset="0"/>
              </a:rPr>
              <a:t>İçinde yaşadığımız topluma göre değişen ve genelde çoğunluk tarafından herhangi bir gerekçe gösterilemeden doğru olarak kabul edilen değerlerin ve düşüncelerin toplamı olarak tanımlanmaktadır. </a:t>
            </a:r>
          </a:p>
          <a:p>
            <a:pPr marL="285750" indent="-285750">
              <a:buFont typeface="Arial" panose="020B0604020202020204" pitchFamily="34" charset="0"/>
              <a:buChar char="•"/>
            </a:pPr>
            <a:endParaRPr lang="tr-TR" dirty="0">
              <a:latin typeface="Comic Sans MS" panose="030F0702030302020204" pitchFamily="66" charset="0"/>
            </a:endParaRPr>
          </a:p>
          <a:p>
            <a:pPr marL="285750" indent="-285750">
              <a:buFont typeface="Arial" panose="020B0604020202020204" pitchFamily="34" charset="0"/>
              <a:buChar char="•"/>
            </a:pPr>
            <a:r>
              <a:rPr lang="tr-TR" dirty="0">
                <a:latin typeface="Comic Sans MS" panose="030F0702030302020204" pitchFamily="66" charset="0"/>
              </a:rPr>
              <a:t>Neyin </a:t>
            </a:r>
            <a:r>
              <a:rPr lang="tr-TR" dirty="0">
                <a:solidFill>
                  <a:srgbClr val="FF0000"/>
                </a:solidFill>
                <a:latin typeface="Comic Sans MS" panose="030F0702030302020204" pitchFamily="66" charset="0"/>
              </a:rPr>
              <a:t>doğru</a:t>
            </a:r>
            <a:r>
              <a:rPr lang="tr-TR" dirty="0">
                <a:latin typeface="Comic Sans MS" panose="030F0702030302020204" pitchFamily="66" charset="0"/>
              </a:rPr>
              <a:t> neyin </a:t>
            </a:r>
            <a:r>
              <a:rPr lang="tr-TR" dirty="0">
                <a:solidFill>
                  <a:srgbClr val="FF0000"/>
                </a:solidFill>
                <a:latin typeface="Comic Sans MS" panose="030F0702030302020204" pitchFamily="66" charset="0"/>
              </a:rPr>
              <a:t>yanlış </a:t>
            </a:r>
            <a:r>
              <a:rPr lang="tr-TR" dirty="0">
                <a:latin typeface="Comic Sans MS" panose="030F0702030302020204" pitchFamily="66" charset="0"/>
              </a:rPr>
              <a:t>sayıldığı veya sayılması gerektiği ile ilgilenir. </a:t>
            </a:r>
          </a:p>
          <a:p>
            <a:pPr marL="285750" indent="-285750">
              <a:buFont typeface="Arial" panose="020B0604020202020204" pitchFamily="34" charset="0"/>
              <a:buChar char="•"/>
            </a:pPr>
            <a:endParaRPr lang="tr-TR" dirty="0">
              <a:latin typeface="Comic Sans MS" panose="030F0702030302020204" pitchFamily="66" charset="0"/>
            </a:endParaRPr>
          </a:p>
          <a:p>
            <a:pPr marL="285750" indent="-285750">
              <a:buFont typeface="Arial" panose="020B0604020202020204" pitchFamily="34" charset="0"/>
              <a:buChar char="•"/>
            </a:pPr>
            <a:r>
              <a:rPr lang="tr-TR" dirty="0">
                <a:latin typeface="Comic Sans MS" panose="030F0702030302020204" pitchFamily="66" charset="0"/>
              </a:rPr>
              <a:t>Doğru" olduğu hissedilenler ahlaka da uygun olarak kabul edilir. Bu durum toplumdan topluma farklılık göstermekte olup genel niteliktedir. </a:t>
            </a:r>
          </a:p>
          <a:p>
            <a:pPr marL="285750" indent="-285750">
              <a:buFont typeface="Arial" panose="020B0604020202020204" pitchFamily="34" charset="0"/>
              <a:buChar char="•"/>
            </a:pPr>
            <a:endParaRPr lang="tr-TR" dirty="0">
              <a:latin typeface="Comic Sans MS" panose="030F0702030302020204" pitchFamily="66" charset="0"/>
            </a:endParaRPr>
          </a:p>
          <a:p>
            <a:pPr marL="285750" indent="-285750">
              <a:buFont typeface="Arial" panose="020B0604020202020204" pitchFamily="34" charset="0"/>
              <a:buChar char="•"/>
            </a:pPr>
            <a:r>
              <a:rPr lang="tr-TR" dirty="0">
                <a:latin typeface="Comic Sans MS" panose="030F0702030302020204" pitchFamily="66" charset="0"/>
              </a:rPr>
              <a:t>İçinde yaşadığımız topluma göre değişen ve genelde çoğunluk tarafından herhangi bir gerekçe gösterilemeden doğru olarak kabul edilen değerlerin ve düşüncelerin toplamı olarak tanımlanmaktadır. </a:t>
            </a:r>
          </a:p>
        </p:txBody>
      </p:sp>
      <p:pic>
        <p:nvPicPr>
          <p:cNvPr id="1026" name="Picture 2" descr="http://4.bp.blogspot.com/-azBKF5hZiGs/U2NQuAlF3NI/AAAAAAAABN0/IEGe8KarGdw/s1600/969603_615498658482072_406933104_n.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27393" y="4443514"/>
            <a:ext cx="2085327" cy="15639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7181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054943" y="1334332"/>
            <a:ext cx="6961238" cy="4247317"/>
          </a:xfrm>
          <a:prstGeom prst="rect">
            <a:avLst/>
          </a:prstGeom>
        </p:spPr>
        <p:txBody>
          <a:bodyPr wrap="square">
            <a:spAutoFit/>
          </a:bodyPr>
          <a:lstStyle/>
          <a:p>
            <a:r>
              <a:rPr lang="tr-TR" dirty="0" err="1">
                <a:latin typeface="Comic Sans MS" panose="030F0702030302020204" pitchFamily="66" charset="0"/>
              </a:rPr>
              <a:t>Türkçe'de</a:t>
            </a:r>
            <a:r>
              <a:rPr lang="tr-TR" dirty="0">
                <a:latin typeface="Comic Sans MS" panose="030F0702030302020204" pitchFamily="66" charset="0"/>
              </a:rPr>
              <a:t> etik sözcüğü yanlış biçimde ahlâk sözcüğüyle eş anlamlı olarak kullanılır. Etik ile ahlak arasındaki en temel fark, ahlakın toplumsal değerlere dayanırken etiğin evrensel insani değerlere dayanmasıdır.</a:t>
            </a:r>
          </a:p>
          <a:p>
            <a:endParaRPr lang="tr-TR" dirty="0"/>
          </a:p>
          <a:p>
            <a:r>
              <a:rPr lang="tr-TR" dirty="0">
                <a:solidFill>
                  <a:srgbClr val="FF0000"/>
                </a:solidFill>
                <a:latin typeface="Comic Sans MS" panose="030F0702030302020204" pitchFamily="66" charset="0"/>
              </a:rPr>
              <a:t>AHLAK                                                      ETİK </a:t>
            </a:r>
          </a:p>
          <a:p>
            <a:r>
              <a:rPr lang="tr-TR" dirty="0">
                <a:latin typeface="Comic Sans MS" panose="030F0702030302020204" pitchFamily="66" charset="0"/>
              </a:rPr>
              <a:t>Yereldir.                                                 Evrenseldir.</a:t>
            </a:r>
          </a:p>
          <a:p>
            <a:endParaRPr lang="tr-TR" dirty="0">
              <a:latin typeface="Comic Sans MS" panose="030F0702030302020204" pitchFamily="66" charset="0"/>
            </a:endParaRPr>
          </a:p>
          <a:p>
            <a:r>
              <a:rPr lang="tr-TR" dirty="0">
                <a:latin typeface="Comic Sans MS" panose="030F0702030302020204" pitchFamily="66" charset="0"/>
              </a:rPr>
              <a:t>Tekil eylemlere yönelir.                         </a:t>
            </a:r>
            <a:r>
              <a:rPr lang="tr-TR" dirty="0" err="1">
                <a:latin typeface="Comic Sans MS" panose="030F0702030302020204" pitchFamily="66" charset="0"/>
              </a:rPr>
              <a:t>Kollektif</a:t>
            </a:r>
            <a:r>
              <a:rPr lang="tr-TR" dirty="0">
                <a:latin typeface="Comic Sans MS" panose="030F0702030302020204" pitchFamily="66" charset="0"/>
              </a:rPr>
              <a:t> eylemlere yönelir.</a:t>
            </a:r>
          </a:p>
          <a:p>
            <a:endParaRPr lang="tr-TR" dirty="0">
              <a:latin typeface="Comic Sans MS" panose="030F0702030302020204" pitchFamily="66" charset="0"/>
            </a:endParaRPr>
          </a:p>
          <a:p>
            <a:r>
              <a:rPr lang="tr-TR" dirty="0">
                <a:latin typeface="Comic Sans MS" panose="030F0702030302020204" pitchFamily="66" charset="0"/>
              </a:rPr>
              <a:t>Ekonomik altyapıya bağlı                       Değişiklik göstermez.</a:t>
            </a:r>
          </a:p>
          <a:p>
            <a:r>
              <a:rPr lang="tr-TR" dirty="0">
                <a:latin typeface="Comic Sans MS" panose="030F0702030302020204" pitchFamily="66" charset="0"/>
              </a:rPr>
              <a:t>olarak değişebilir.</a:t>
            </a:r>
          </a:p>
          <a:p>
            <a:endParaRPr lang="tr-TR" dirty="0">
              <a:latin typeface="Comic Sans MS" panose="030F0702030302020204" pitchFamily="66" charset="0"/>
            </a:endParaRPr>
          </a:p>
          <a:p>
            <a:r>
              <a:rPr lang="tr-TR" dirty="0">
                <a:latin typeface="Comic Sans MS" panose="030F0702030302020204" pitchFamily="66" charset="0"/>
              </a:rPr>
              <a:t> Manevi değerleri kullanır.                   Özgürlük ilkesini kullanır</a:t>
            </a:r>
          </a:p>
        </p:txBody>
      </p:sp>
      <p:pic>
        <p:nvPicPr>
          <p:cNvPr id="3" name="Resi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1428" y="667979"/>
            <a:ext cx="2362200" cy="1943100"/>
          </a:xfrm>
          <a:prstGeom prst="rect">
            <a:avLst/>
          </a:prstGeom>
        </p:spPr>
      </p:pic>
      <p:sp>
        <p:nvSpPr>
          <p:cNvPr id="4" name="Oval 3"/>
          <p:cNvSpPr/>
          <p:nvPr/>
        </p:nvSpPr>
        <p:spPr>
          <a:xfrm>
            <a:off x="8976852" y="3628104"/>
            <a:ext cx="1800000" cy="1800000"/>
          </a:xfrm>
          <a:prstGeom prst="ellipse">
            <a:avLst/>
          </a:prstGeom>
          <a:solidFill>
            <a:srgbClr val="00B0F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Oval 5"/>
          <p:cNvSpPr/>
          <p:nvPr/>
        </p:nvSpPr>
        <p:spPr>
          <a:xfrm>
            <a:off x="9473381" y="4399935"/>
            <a:ext cx="914400" cy="9144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 name="Metin kutusu 6"/>
          <p:cNvSpPr txBox="1"/>
          <p:nvPr/>
        </p:nvSpPr>
        <p:spPr>
          <a:xfrm>
            <a:off x="9221428" y="3961777"/>
            <a:ext cx="1208488" cy="369332"/>
          </a:xfrm>
          <a:prstGeom prst="rect">
            <a:avLst/>
          </a:prstGeom>
          <a:noFill/>
        </p:spPr>
        <p:txBody>
          <a:bodyPr wrap="square" rtlCol="0">
            <a:spAutoFit/>
          </a:bodyPr>
          <a:lstStyle/>
          <a:p>
            <a:r>
              <a:rPr lang="tr-TR" dirty="0">
                <a:solidFill>
                  <a:srgbClr val="FF0000"/>
                </a:solidFill>
              </a:rPr>
              <a:t>AHLAK</a:t>
            </a:r>
          </a:p>
        </p:txBody>
      </p:sp>
      <p:sp>
        <p:nvSpPr>
          <p:cNvPr id="8" name="Metin kutusu 7"/>
          <p:cNvSpPr txBox="1"/>
          <p:nvPr/>
        </p:nvSpPr>
        <p:spPr>
          <a:xfrm>
            <a:off x="9473381" y="4672469"/>
            <a:ext cx="1208488" cy="369332"/>
          </a:xfrm>
          <a:prstGeom prst="rect">
            <a:avLst/>
          </a:prstGeom>
          <a:noFill/>
        </p:spPr>
        <p:txBody>
          <a:bodyPr wrap="square" rtlCol="0">
            <a:spAutoFit/>
          </a:bodyPr>
          <a:lstStyle/>
          <a:p>
            <a:r>
              <a:rPr lang="tr-TR" dirty="0"/>
              <a:t>ETİK</a:t>
            </a:r>
          </a:p>
        </p:txBody>
      </p:sp>
    </p:spTree>
    <p:extLst>
      <p:ext uri="{BB962C8B-B14F-4D97-AF65-F5344CB8AC3E}">
        <p14:creationId xmlns:p14="http://schemas.microsoft.com/office/powerpoint/2010/main" val="616009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048000" y="3105835"/>
            <a:ext cx="6096000" cy="369332"/>
          </a:xfrm>
          <a:prstGeom prst="rect">
            <a:avLst/>
          </a:prstGeom>
        </p:spPr>
        <p:txBody>
          <a:bodyPr>
            <a:spAutoFit/>
          </a:bodyPr>
          <a:lstStyle/>
          <a:p>
            <a:endParaRPr lang="tr-TR" dirty="0"/>
          </a:p>
        </p:txBody>
      </p:sp>
      <p:sp>
        <p:nvSpPr>
          <p:cNvPr id="3" name="Dikdörtgen 2"/>
          <p:cNvSpPr/>
          <p:nvPr/>
        </p:nvSpPr>
        <p:spPr>
          <a:xfrm>
            <a:off x="1745683" y="1169728"/>
            <a:ext cx="10032875" cy="6001643"/>
          </a:xfrm>
          <a:prstGeom prst="rect">
            <a:avLst/>
          </a:prstGeom>
        </p:spPr>
        <p:txBody>
          <a:bodyPr wrap="none">
            <a:spAutoFit/>
          </a:bodyPr>
          <a:lstStyle/>
          <a:p>
            <a:pPr marL="12700">
              <a:lnSpc>
                <a:spcPct val="100000"/>
              </a:lnSpc>
              <a:tabLst>
                <a:tab pos="504825" algn="l"/>
              </a:tabLst>
            </a:pPr>
            <a:r>
              <a:rPr lang="tr-TR" sz="2400" spc="-35" dirty="0">
                <a:solidFill>
                  <a:srgbClr val="0070C0"/>
                </a:solidFill>
                <a:latin typeface="Comic Sans MS" panose="030F0702030302020204" pitchFamily="66" charset="0"/>
                <a:cs typeface="Constantia"/>
              </a:rPr>
              <a:t>İ</a:t>
            </a:r>
            <a:r>
              <a:rPr lang="tr-TR" sz="2400" spc="-5" dirty="0">
                <a:solidFill>
                  <a:srgbClr val="0070C0"/>
                </a:solidFill>
                <a:latin typeface="Comic Sans MS" panose="030F0702030302020204" pitchFamily="66" charset="0"/>
                <a:cs typeface="Constantia"/>
              </a:rPr>
              <a:t>ş</a:t>
            </a:r>
            <a:r>
              <a:rPr lang="tr-TR" sz="2400" dirty="0">
                <a:solidFill>
                  <a:srgbClr val="0070C0"/>
                </a:solidFill>
                <a:latin typeface="Comic Sans MS" panose="030F0702030302020204" pitchFamily="66" charset="0"/>
                <a:cs typeface="Constantia"/>
              </a:rPr>
              <a:t> </a:t>
            </a:r>
            <a:r>
              <a:rPr lang="tr-TR" sz="2400" spc="-5" dirty="0">
                <a:solidFill>
                  <a:srgbClr val="0070C0"/>
                </a:solidFill>
                <a:latin typeface="Comic Sans MS" panose="030F0702030302020204" pitchFamily="66" charset="0"/>
                <a:cs typeface="Constantia"/>
              </a:rPr>
              <a:t>et</a:t>
            </a:r>
            <a:r>
              <a:rPr lang="tr-TR" sz="2400" spc="-10" dirty="0">
                <a:solidFill>
                  <a:srgbClr val="0070C0"/>
                </a:solidFill>
                <a:latin typeface="Comic Sans MS" panose="030F0702030302020204" pitchFamily="66" charset="0"/>
                <a:cs typeface="Constantia"/>
              </a:rPr>
              <a:t>i</a:t>
            </a:r>
            <a:r>
              <a:rPr lang="tr-TR" sz="2400" spc="-5" dirty="0">
                <a:solidFill>
                  <a:srgbClr val="0070C0"/>
                </a:solidFill>
                <a:latin typeface="Comic Sans MS" panose="030F0702030302020204" pitchFamily="66" charset="0"/>
                <a:cs typeface="Constantia"/>
              </a:rPr>
              <a:t>ğ</a:t>
            </a:r>
            <a:r>
              <a:rPr lang="tr-TR" sz="2400" spc="-10" dirty="0">
                <a:solidFill>
                  <a:srgbClr val="0070C0"/>
                </a:solidFill>
                <a:latin typeface="Comic Sans MS" panose="030F0702030302020204" pitchFamily="66" charset="0"/>
                <a:cs typeface="Constantia"/>
              </a:rPr>
              <a:t>i</a:t>
            </a:r>
          </a:p>
          <a:p>
            <a:pPr marL="12700">
              <a:lnSpc>
                <a:spcPct val="100000"/>
              </a:lnSpc>
              <a:tabLst>
                <a:tab pos="504825" algn="l"/>
              </a:tabLst>
            </a:pPr>
            <a:endParaRPr lang="tr-TR" sz="2400" spc="-10" dirty="0">
              <a:solidFill>
                <a:srgbClr val="231F20"/>
              </a:solidFill>
              <a:latin typeface="Comic Sans MS" panose="030F0702030302020204" pitchFamily="66" charset="0"/>
              <a:cs typeface="Constantia"/>
            </a:endParaRPr>
          </a:p>
          <a:p>
            <a:pPr marL="12700">
              <a:tabLst>
                <a:tab pos="504825" algn="l"/>
              </a:tabLst>
            </a:pPr>
            <a:r>
              <a:rPr lang="tr-TR" sz="2400" spc="-70" dirty="0">
                <a:solidFill>
                  <a:srgbClr val="231F20"/>
                </a:solidFill>
                <a:latin typeface="Comic Sans MS" panose="030F0702030302020204" pitchFamily="66" charset="0"/>
                <a:cs typeface="Constantia"/>
              </a:rPr>
              <a:t>M</a:t>
            </a:r>
            <a:r>
              <a:rPr lang="tr-TR" sz="2400" spc="-5" dirty="0">
                <a:solidFill>
                  <a:srgbClr val="231F20"/>
                </a:solidFill>
                <a:latin typeface="Comic Sans MS" panose="030F0702030302020204" pitchFamily="66" charset="0"/>
                <a:cs typeface="Constantia"/>
              </a:rPr>
              <a:t>eslek</a:t>
            </a:r>
            <a:r>
              <a:rPr lang="tr-TR" sz="2400" dirty="0">
                <a:solidFill>
                  <a:srgbClr val="231F20"/>
                </a:solidFill>
                <a:latin typeface="Comic Sans MS" panose="030F0702030302020204" pitchFamily="66" charset="0"/>
                <a:cs typeface="Constantia"/>
              </a:rPr>
              <a:t> </a:t>
            </a:r>
            <a:r>
              <a:rPr lang="tr-TR" sz="2400" spc="-5" dirty="0">
                <a:solidFill>
                  <a:srgbClr val="231F20"/>
                </a:solidFill>
                <a:latin typeface="Comic Sans MS" panose="030F0702030302020204" pitchFamily="66" charset="0"/>
                <a:cs typeface="Constantia"/>
              </a:rPr>
              <a:t>et</a:t>
            </a:r>
            <a:r>
              <a:rPr lang="tr-TR" sz="2400" spc="-10" dirty="0">
                <a:solidFill>
                  <a:srgbClr val="231F20"/>
                </a:solidFill>
                <a:latin typeface="Comic Sans MS" panose="030F0702030302020204" pitchFamily="66" charset="0"/>
                <a:cs typeface="Constantia"/>
              </a:rPr>
              <a:t>i</a:t>
            </a:r>
            <a:r>
              <a:rPr lang="tr-TR" sz="2400" spc="-5" dirty="0">
                <a:solidFill>
                  <a:srgbClr val="231F20"/>
                </a:solidFill>
                <a:latin typeface="Comic Sans MS" panose="030F0702030302020204" pitchFamily="66" charset="0"/>
                <a:cs typeface="Constantia"/>
              </a:rPr>
              <a:t>ği gruplarının </a:t>
            </a:r>
            <a:r>
              <a:rPr lang="tr-TR" sz="2400" spc="-60" dirty="0">
                <a:solidFill>
                  <a:srgbClr val="231F20"/>
                </a:solidFill>
                <a:latin typeface="Comic Sans MS" panose="030F0702030302020204" pitchFamily="66" charset="0"/>
                <a:cs typeface="Constantia"/>
              </a:rPr>
              <a:t>k</a:t>
            </a:r>
            <a:r>
              <a:rPr lang="tr-TR" sz="2400" spc="-5" dirty="0">
                <a:solidFill>
                  <a:srgbClr val="231F20"/>
                </a:solidFill>
                <a:latin typeface="Comic Sans MS" panose="030F0702030302020204" pitchFamily="66" charset="0"/>
                <a:cs typeface="Constantia"/>
              </a:rPr>
              <a:t>e</a:t>
            </a:r>
            <a:r>
              <a:rPr lang="tr-TR" sz="2400" dirty="0">
                <a:solidFill>
                  <a:srgbClr val="231F20"/>
                </a:solidFill>
                <a:latin typeface="Comic Sans MS" panose="030F0702030302020204" pitchFamily="66" charset="0"/>
                <a:cs typeface="Constantia"/>
              </a:rPr>
              <a:t>n</a:t>
            </a:r>
            <a:r>
              <a:rPr lang="tr-TR" sz="2400" spc="-10" dirty="0">
                <a:solidFill>
                  <a:srgbClr val="231F20"/>
                </a:solidFill>
                <a:latin typeface="Comic Sans MS" panose="030F0702030302020204" pitchFamily="66" charset="0"/>
                <a:cs typeface="Constantia"/>
              </a:rPr>
              <a:t>d</a:t>
            </a:r>
            <a:r>
              <a:rPr lang="tr-TR" sz="2400" spc="-5" dirty="0">
                <a:solidFill>
                  <a:srgbClr val="231F20"/>
                </a:solidFill>
                <a:latin typeface="Comic Sans MS" panose="030F0702030302020204" pitchFamily="66" charset="0"/>
                <a:cs typeface="Constantia"/>
              </a:rPr>
              <a:t>i iş</a:t>
            </a:r>
            <a:r>
              <a:rPr lang="tr-TR" sz="2400" spc="-10" dirty="0">
                <a:solidFill>
                  <a:srgbClr val="231F20"/>
                </a:solidFill>
                <a:latin typeface="Comic Sans MS" panose="030F0702030302020204" pitchFamily="66" charset="0"/>
                <a:cs typeface="Constantia"/>
              </a:rPr>
              <a:t>leyi</a:t>
            </a:r>
            <a:r>
              <a:rPr lang="tr-TR" sz="2400" spc="-5" dirty="0">
                <a:solidFill>
                  <a:srgbClr val="231F20"/>
                </a:solidFill>
                <a:latin typeface="Comic Sans MS" panose="030F0702030302020204" pitchFamily="66" charset="0"/>
                <a:cs typeface="Constantia"/>
              </a:rPr>
              <a:t>şi açısından çalışanlarının uymasını</a:t>
            </a:r>
          </a:p>
          <a:p>
            <a:pPr marL="12700">
              <a:tabLst>
                <a:tab pos="504825" algn="l"/>
              </a:tabLst>
            </a:pPr>
            <a:r>
              <a:rPr lang="tr-TR" sz="2400" spc="-5" dirty="0">
                <a:solidFill>
                  <a:srgbClr val="231F20"/>
                </a:solidFill>
                <a:latin typeface="Comic Sans MS" panose="030F0702030302020204" pitchFamily="66" charset="0"/>
                <a:cs typeface="Constantia"/>
              </a:rPr>
              <a:t>istedikleri kurallar bütününden oluşan kavramdır. </a:t>
            </a:r>
          </a:p>
          <a:p>
            <a:pPr marL="12700">
              <a:tabLst>
                <a:tab pos="504825" algn="l"/>
              </a:tabLst>
            </a:pPr>
            <a:endParaRPr lang="tr-TR" sz="2400" spc="-5" dirty="0">
              <a:solidFill>
                <a:srgbClr val="231F20"/>
              </a:solidFill>
              <a:latin typeface="Comic Sans MS" panose="030F0702030302020204" pitchFamily="66" charset="0"/>
              <a:cs typeface="Constantia"/>
            </a:endParaRPr>
          </a:p>
          <a:p>
            <a:pPr marL="12700">
              <a:tabLst>
                <a:tab pos="504825" algn="l"/>
              </a:tabLst>
            </a:pPr>
            <a:r>
              <a:rPr lang="tr-TR" sz="2400" spc="-5" dirty="0">
                <a:solidFill>
                  <a:srgbClr val="231F20"/>
                </a:solidFill>
                <a:latin typeface="Comic Sans MS" panose="030F0702030302020204" pitchFamily="66" charset="0"/>
                <a:cs typeface="Constantia"/>
              </a:rPr>
              <a:t>İş etiği çeşitli toplumsal kurumlardan oluşmuş ve </a:t>
            </a:r>
          </a:p>
          <a:p>
            <a:pPr marL="12700">
              <a:tabLst>
                <a:tab pos="504825" algn="l"/>
              </a:tabLst>
            </a:pPr>
            <a:r>
              <a:rPr lang="tr-TR" sz="2400" spc="-5" dirty="0">
                <a:solidFill>
                  <a:srgbClr val="231F20"/>
                </a:solidFill>
                <a:latin typeface="Comic Sans MS" panose="030F0702030302020204" pitchFamily="66" charset="0"/>
                <a:cs typeface="Constantia"/>
              </a:rPr>
              <a:t>Tıp</a:t>
            </a:r>
            <a:r>
              <a:rPr lang="tr-TR" sz="2400" spc="-225" dirty="0">
                <a:solidFill>
                  <a:srgbClr val="231F20"/>
                </a:solidFill>
                <a:latin typeface="Comic Sans MS" panose="030F0702030302020204" pitchFamily="66" charset="0"/>
                <a:cs typeface="Constantia"/>
              </a:rPr>
              <a:t> </a:t>
            </a:r>
            <a:r>
              <a:rPr lang="tr-TR" sz="2400" spc="-10" dirty="0">
                <a:solidFill>
                  <a:srgbClr val="231F20"/>
                </a:solidFill>
                <a:latin typeface="Comic Sans MS" panose="030F0702030302020204" pitchFamily="66" charset="0"/>
                <a:cs typeface="Constantia"/>
              </a:rPr>
              <a:t>etiği</a:t>
            </a:r>
          </a:p>
          <a:p>
            <a:pPr marL="12700">
              <a:tabLst>
                <a:tab pos="504825" algn="l"/>
              </a:tabLst>
            </a:pPr>
            <a:r>
              <a:rPr lang="tr-TR" sz="2400" spc="-10" dirty="0">
                <a:solidFill>
                  <a:srgbClr val="231F20"/>
                </a:solidFill>
                <a:latin typeface="Comic Sans MS" panose="030F0702030302020204" pitchFamily="66" charset="0"/>
                <a:cs typeface="Constantia"/>
              </a:rPr>
              <a:t>Siyasal </a:t>
            </a:r>
            <a:r>
              <a:rPr lang="tr-TR" sz="2400" spc="-5" dirty="0">
                <a:solidFill>
                  <a:srgbClr val="231F20"/>
                </a:solidFill>
                <a:latin typeface="Comic Sans MS" panose="030F0702030302020204" pitchFamily="66" charset="0"/>
                <a:cs typeface="Constantia"/>
              </a:rPr>
              <a:t>etik</a:t>
            </a:r>
          </a:p>
          <a:p>
            <a:pPr marL="12700">
              <a:tabLst>
                <a:tab pos="504825" algn="l"/>
              </a:tabLst>
            </a:pPr>
            <a:r>
              <a:rPr lang="tr-TR" sz="2400" spc="-10" dirty="0">
                <a:solidFill>
                  <a:srgbClr val="231F20"/>
                </a:solidFill>
                <a:latin typeface="Comic Sans MS" panose="030F0702030302020204" pitchFamily="66" charset="0"/>
                <a:cs typeface="Constantia"/>
              </a:rPr>
              <a:t>Bilimsel </a:t>
            </a:r>
            <a:r>
              <a:rPr lang="tr-TR" sz="2400" spc="-5" dirty="0">
                <a:solidFill>
                  <a:srgbClr val="231F20"/>
                </a:solidFill>
                <a:latin typeface="Comic Sans MS" panose="030F0702030302020204" pitchFamily="66" charset="0"/>
                <a:cs typeface="Constantia"/>
              </a:rPr>
              <a:t>etik</a:t>
            </a:r>
          </a:p>
          <a:p>
            <a:pPr marL="12700">
              <a:tabLst>
                <a:tab pos="504825" algn="l"/>
              </a:tabLst>
            </a:pPr>
            <a:r>
              <a:rPr lang="tr-TR" sz="2400" spc="-5" dirty="0">
                <a:solidFill>
                  <a:srgbClr val="231F20"/>
                </a:solidFill>
                <a:latin typeface="Comic Sans MS" panose="030F0702030302020204" pitchFamily="66" charset="0"/>
                <a:cs typeface="Constantia"/>
              </a:rPr>
              <a:t>Hizmet etiği</a:t>
            </a:r>
          </a:p>
          <a:p>
            <a:pPr marL="12700">
              <a:tabLst>
                <a:tab pos="504825" algn="l"/>
              </a:tabLst>
            </a:pPr>
            <a:r>
              <a:rPr lang="tr-TR" sz="2400" spc="-10" dirty="0">
                <a:solidFill>
                  <a:srgbClr val="FF0000"/>
                </a:solidFill>
                <a:latin typeface="Comic Sans MS" panose="030F0702030302020204" pitchFamily="66" charset="0"/>
                <a:cs typeface="Constantia"/>
              </a:rPr>
              <a:t>Mühendislik </a:t>
            </a:r>
            <a:r>
              <a:rPr lang="tr-TR" sz="2400" spc="-5" dirty="0">
                <a:solidFill>
                  <a:srgbClr val="FF0000"/>
                </a:solidFill>
                <a:latin typeface="Comic Sans MS" panose="030F0702030302020204" pitchFamily="66" charset="0"/>
                <a:cs typeface="Constantia"/>
              </a:rPr>
              <a:t>etiği </a:t>
            </a:r>
            <a:r>
              <a:rPr lang="tr-TR" sz="2400" spc="-5" dirty="0">
                <a:solidFill>
                  <a:srgbClr val="231F20"/>
                </a:solidFill>
                <a:latin typeface="Comic Sans MS" panose="030F0702030302020204" pitchFamily="66" charset="0"/>
                <a:cs typeface="Constantia"/>
              </a:rPr>
              <a:t>gibi </a:t>
            </a:r>
            <a:r>
              <a:rPr lang="tr-TR" sz="2400" spc="-15" dirty="0">
                <a:solidFill>
                  <a:srgbClr val="231F20"/>
                </a:solidFill>
                <a:latin typeface="Comic Sans MS" panose="030F0702030302020204" pitchFamily="66" charset="0"/>
                <a:cs typeface="Constantia"/>
              </a:rPr>
              <a:t>kavramlar ortaya </a:t>
            </a:r>
            <a:r>
              <a:rPr lang="tr-TR" sz="2400" spc="-55" dirty="0">
                <a:solidFill>
                  <a:srgbClr val="231F20"/>
                </a:solidFill>
                <a:latin typeface="Comic Sans MS" panose="030F0702030302020204" pitchFamily="66" charset="0"/>
                <a:cs typeface="Constantia"/>
              </a:rPr>
              <a:t>çıkmıştır.</a:t>
            </a:r>
            <a:endParaRPr lang="tr-TR" sz="2400" dirty="0">
              <a:latin typeface="Comic Sans MS" panose="030F0702030302020204" pitchFamily="66" charset="0"/>
              <a:cs typeface="Constantia"/>
            </a:endParaRPr>
          </a:p>
          <a:p>
            <a:pPr marL="12700">
              <a:tabLst>
                <a:tab pos="504825" algn="l"/>
              </a:tabLst>
            </a:pPr>
            <a:endParaRPr lang="tr-TR" sz="2400" dirty="0">
              <a:latin typeface="Comic Sans MS" panose="030F0702030302020204" pitchFamily="66" charset="0"/>
              <a:cs typeface="Constantia"/>
            </a:endParaRPr>
          </a:p>
          <a:p>
            <a:pPr marL="12700">
              <a:tabLst>
                <a:tab pos="504825" algn="l"/>
              </a:tabLst>
            </a:pPr>
            <a:endParaRPr lang="tr-TR" sz="2400" dirty="0">
              <a:latin typeface="Comic Sans MS" panose="030F0702030302020204" pitchFamily="66" charset="0"/>
              <a:cs typeface="Constantia"/>
            </a:endParaRPr>
          </a:p>
          <a:p>
            <a:pPr marL="12700">
              <a:tabLst>
                <a:tab pos="504825" algn="l"/>
              </a:tabLst>
            </a:pPr>
            <a:endParaRPr lang="tr-TR" sz="2400" dirty="0">
              <a:latin typeface="Comic Sans MS" panose="030F0702030302020204" pitchFamily="66" charset="0"/>
              <a:cs typeface="Constantia"/>
            </a:endParaRPr>
          </a:p>
          <a:p>
            <a:pPr marL="12700">
              <a:tabLst>
                <a:tab pos="504825" algn="l"/>
              </a:tabLst>
            </a:pPr>
            <a:endParaRPr lang="tr-TR" sz="2400" dirty="0">
              <a:latin typeface="Comic Sans MS" panose="030F0702030302020204" pitchFamily="66" charset="0"/>
              <a:cs typeface="Constantia"/>
            </a:endParaRPr>
          </a:p>
          <a:p>
            <a:pPr marL="12700">
              <a:lnSpc>
                <a:spcPct val="100000"/>
              </a:lnSpc>
              <a:tabLst>
                <a:tab pos="504825" algn="l"/>
              </a:tabLst>
            </a:pPr>
            <a:endParaRPr lang="tr-TR" sz="2400" dirty="0">
              <a:latin typeface="Comic Sans MS" panose="030F0702030302020204" pitchFamily="66" charset="0"/>
              <a:cs typeface="Constantia"/>
            </a:endParaRPr>
          </a:p>
        </p:txBody>
      </p:sp>
    </p:spTree>
    <p:extLst>
      <p:ext uri="{BB962C8B-B14F-4D97-AF65-F5344CB8AC3E}">
        <p14:creationId xmlns:p14="http://schemas.microsoft.com/office/powerpoint/2010/main" val="1546435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AutoShape 2"/>
          <p:cNvSpPr>
            <a:spLocks noGrp="1" noChangeArrowheads="1"/>
          </p:cNvSpPr>
          <p:nvPr>
            <p:ph type="title"/>
          </p:nvPr>
        </p:nvSpPr>
        <p:spPr>
          <a:xfrm>
            <a:off x="1668463" y="1065214"/>
            <a:ext cx="8748712" cy="1355725"/>
          </a:xfrm>
          <a:solidFill>
            <a:srgbClr val="FFFF00"/>
          </a:solidFill>
          <a:ln w="28575">
            <a:solidFill>
              <a:srgbClr val="000000"/>
            </a:solidFill>
          </a:ln>
        </p:spPr>
        <p:txBody>
          <a:bodyPr/>
          <a:lstStyle/>
          <a:p>
            <a:pPr algn="ctr" eaLnBrk="1" hangingPunct="1"/>
            <a:r>
              <a:rPr lang="tr-TR" sz="3200" dirty="0">
                <a:solidFill>
                  <a:srgbClr val="000000"/>
                </a:solidFill>
                <a:latin typeface="Comic Sans MS" pitchFamily="66" charset="0"/>
              </a:rPr>
              <a:t>İş etiğine duyulan ihtiyacın artmasına neden olan faktörler</a:t>
            </a:r>
          </a:p>
        </p:txBody>
      </p:sp>
      <p:sp>
        <p:nvSpPr>
          <p:cNvPr id="16387" name="Oval 13"/>
          <p:cNvSpPr>
            <a:spLocks noChangeArrowheads="1"/>
          </p:cNvSpPr>
          <p:nvPr/>
        </p:nvSpPr>
        <p:spPr bwMode="auto">
          <a:xfrm>
            <a:off x="2640013" y="3284539"/>
            <a:ext cx="3168650" cy="1944687"/>
          </a:xfrm>
          <a:prstGeom prst="ellipse">
            <a:avLst/>
          </a:prstGeom>
          <a:solidFill>
            <a:srgbClr val="00B0F0"/>
          </a:solidFill>
          <a:ln w="12700">
            <a:solidFill>
              <a:schemeClr val="tx1"/>
            </a:solidFill>
            <a:round/>
            <a:headEnd type="none" w="sm" len="sm"/>
            <a:tailEnd type="none" w="sm" len="sm"/>
          </a:ln>
        </p:spPr>
        <p:txBody>
          <a:bodyPr wrap="none" anchor="ctr"/>
          <a:lstStyle/>
          <a:p>
            <a:pPr algn="ctr"/>
            <a:r>
              <a:rPr lang="tr-TR" sz="2800" b="1" dirty="0">
                <a:solidFill>
                  <a:srgbClr val="FF0000"/>
                </a:solidFill>
                <a:latin typeface="Arial Black" pitchFamily="34" charset="0"/>
              </a:rPr>
              <a:t>İşletme dışı</a:t>
            </a:r>
          </a:p>
          <a:p>
            <a:pPr algn="ctr"/>
            <a:r>
              <a:rPr lang="tr-TR" sz="2800" b="1" dirty="0">
                <a:solidFill>
                  <a:srgbClr val="FF0000"/>
                </a:solidFill>
                <a:latin typeface="Arial Black" pitchFamily="34" charset="0"/>
              </a:rPr>
              <a:t> faktörler</a:t>
            </a:r>
          </a:p>
        </p:txBody>
      </p:sp>
      <p:sp>
        <p:nvSpPr>
          <p:cNvPr id="16388" name="Oval 15"/>
          <p:cNvSpPr>
            <a:spLocks noChangeArrowheads="1"/>
          </p:cNvSpPr>
          <p:nvPr/>
        </p:nvSpPr>
        <p:spPr bwMode="auto">
          <a:xfrm>
            <a:off x="7032625" y="3284539"/>
            <a:ext cx="3168650" cy="1944687"/>
          </a:xfrm>
          <a:prstGeom prst="ellipse">
            <a:avLst/>
          </a:prstGeom>
          <a:solidFill>
            <a:srgbClr val="00B0F0"/>
          </a:solidFill>
          <a:ln w="12700">
            <a:solidFill>
              <a:schemeClr val="tx1"/>
            </a:solidFill>
            <a:round/>
            <a:headEnd type="none" w="sm" len="sm"/>
            <a:tailEnd type="none" w="sm" len="sm"/>
          </a:ln>
        </p:spPr>
        <p:txBody>
          <a:bodyPr wrap="none" anchor="ctr"/>
          <a:lstStyle/>
          <a:p>
            <a:pPr algn="ctr"/>
            <a:r>
              <a:rPr lang="tr-TR" sz="2800" b="1" dirty="0">
                <a:solidFill>
                  <a:srgbClr val="FF0000"/>
                </a:solidFill>
                <a:latin typeface="Arial Black" pitchFamily="34" charset="0"/>
              </a:rPr>
              <a:t>İşletme içi</a:t>
            </a:r>
          </a:p>
          <a:p>
            <a:pPr algn="ctr"/>
            <a:r>
              <a:rPr lang="tr-TR" sz="2800" b="1" dirty="0">
                <a:solidFill>
                  <a:srgbClr val="FF0000"/>
                </a:solidFill>
                <a:latin typeface="Arial Black" pitchFamily="34" charset="0"/>
              </a:rPr>
              <a:t> faktörler</a:t>
            </a:r>
          </a:p>
        </p:txBody>
      </p:sp>
      <p:sp>
        <p:nvSpPr>
          <p:cNvPr id="16389" name="AutoShape 17"/>
          <p:cNvSpPr>
            <a:spLocks noChangeArrowheads="1"/>
          </p:cNvSpPr>
          <p:nvPr/>
        </p:nvSpPr>
        <p:spPr bwMode="auto">
          <a:xfrm rot="-2503416">
            <a:off x="5303838" y="2871789"/>
            <a:ext cx="976312" cy="485775"/>
          </a:xfrm>
          <a:prstGeom prst="leftArrow">
            <a:avLst>
              <a:gd name="adj1" fmla="val 50000"/>
              <a:gd name="adj2" fmla="val 50245"/>
            </a:avLst>
          </a:prstGeom>
          <a:solidFill>
            <a:srgbClr val="FF6600"/>
          </a:solidFill>
          <a:ln w="12700">
            <a:solidFill>
              <a:schemeClr val="tx1"/>
            </a:solidFill>
            <a:miter lim="800000"/>
            <a:headEnd type="none" w="sm" len="sm"/>
            <a:tailEnd type="none" w="sm" len="sm"/>
          </a:ln>
        </p:spPr>
        <p:txBody>
          <a:bodyPr wrap="none" anchor="ctr"/>
          <a:lstStyle/>
          <a:p>
            <a:endParaRPr lang="tr-TR"/>
          </a:p>
        </p:txBody>
      </p:sp>
      <p:sp>
        <p:nvSpPr>
          <p:cNvPr id="16390" name="AutoShape 21"/>
          <p:cNvSpPr>
            <a:spLocks noChangeArrowheads="1"/>
          </p:cNvSpPr>
          <p:nvPr/>
        </p:nvSpPr>
        <p:spPr bwMode="auto">
          <a:xfrm rot="-8362776">
            <a:off x="6456363" y="2871789"/>
            <a:ext cx="976312" cy="485775"/>
          </a:xfrm>
          <a:prstGeom prst="leftArrow">
            <a:avLst>
              <a:gd name="adj1" fmla="val 50000"/>
              <a:gd name="adj2" fmla="val 50245"/>
            </a:avLst>
          </a:prstGeom>
          <a:solidFill>
            <a:srgbClr val="FF6600"/>
          </a:solidFill>
          <a:ln w="12700">
            <a:solidFill>
              <a:schemeClr val="tx1"/>
            </a:solidFill>
            <a:miter lim="800000"/>
            <a:headEnd type="none" w="sm" len="sm"/>
            <a:tailEnd type="none" w="sm" len="sm"/>
          </a:ln>
        </p:spPr>
        <p:txBody>
          <a:bodyPr wrap="none" anchor="ctr"/>
          <a:lstStyle/>
          <a:p>
            <a:endParaRPr lang="tr-TR"/>
          </a:p>
        </p:txBody>
      </p:sp>
    </p:spTree>
    <p:extLst>
      <p:ext uri="{BB962C8B-B14F-4D97-AF65-F5344CB8AC3E}">
        <p14:creationId xmlns:p14="http://schemas.microsoft.com/office/powerpoint/2010/main" val="3864380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AutoShape 2"/>
          <p:cNvSpPr>
            <a:spLocks noGrp="1" noChangeArrowheads="1"/>
          </p:cNvSpPr>
          <p:nvPr>
            <p:ph type="title"/>
          </p:nvPr>
        </p:nvSpPr>
        <p:spPr>
          <a:xfrm>
            <a:off x="2345097" y="883547"/>
            <a:ext cx="7058025" cy="1355725"/>
          </a:xfrm>
          <a:solidFill>
            <a:srgbClr val="00B0F0"/>
          </a:solidFill>
          <a:ln w="38100">
            <a:solidFill>
              <a:srgbClr val="000000"/>
            </a:solidFill>
          </a:ln>
        </p:spPr>
        <p:txBody>
          <a:bodyPr>
            <a:normAutofit/>
          </a:bodyPr>
          <a:lstStyle/>
          <a:p>
            <a:pPr eaLnBrk="1" hangingPunct="1"/>
            <a:r>
              <a:rPr lang="tr-TR" sz="2800" dirty="0">
                <a:solidFill>
                  <a:srgbClr val="FF0000"/>
                </a:solidFill>
                <a:latin typeface="Comic Sans MS" pitchFamily="66" charset="0"/>
              </a:rPr>
              <a:t>İş etiğine duyulan ihtiyacın artmasına neden olan bazı faktörler</a:t>
            </a:r>
          </a:p>
        </p:txBody>
      </p:sp>
      <p:sp>
        <p:nvSpPr>
          <p:cNvPr id="17412" name="Rectangle 5"/>
          <p:cNvSpPr>
            <a:spLocks noGrp="1" noChangeArrowheads="1"/>
          </p:cNvSpPr>
          <p:nvPr>
            <p:ph sz="quarter" idx="1"/>
          </p:nvPr>
        </p:nvSpPr>
        <p:spPr>
          <a:xfrm>
            <a:off x="2266439" y="2031207"/>
            <a:ext cx="8126413" cy="4495800"/>
          </a:xfrm>
        </p:spPr>
        <p:txBody>
          <a:bodyPr>
            <a:normAutofit/>
          </a:bodyPr>
          <a:lstStyle/>
          <a:p>
            <a:pPr marL="0" indent="0">
              <a:lnSpc>
                <a:spcPct val="90000"/>
              </a:lnSpc>
              <a:buNone/>
            </a:pPr>
            <a:endParaRPr lang="tr-TR" sz="2000" b="1" dirty="0">
              <a:solidFill>
                <a:srgbClr val="FF0000"/>
              </a:solidFill>
              <a:latin typeface="Comic Sans MS" pitchFamily="66" charset="0"/>
            </a:endParaRPr>
          </a:p>
          <a:p>
            <a:pPr marL="0" indent="0">
              <a:lnSpc>
                <a:spcPct val="90000"/>
              </a:lnSpc>
              <a:buNone/>
            </a:pPr>
            <a:r>
              <a:rPr lang="tr-TR" sz="2000" b="1" dirty="0">
                <a:solidFill>
                  <a:srgbClr val="FF0000"/>
                </a:solidFill>
                <a:latin typeface="Comic Sans MS" pitchFamily="66" charset="0"/>
              </a:rPr>
              <a:t>İşletme dışı faktörler:</a:t>
            </a:r>
          </a:p>
          <a:p>
            <a:pPr marL="457200" indent="-457200">
              <a:lnSpc>
                <a:spcPct val="90000"/>
              </a:lnSpc>
              <a:buNone/>
            </a:pPr>
            <a:r>
              <a:rPr lang="tr-TR" sz="2000" dirty="0">
                <a:latin typeface="Comic Sans MS" pitchFamily="66" charset="0"/>
              </a:rPr>
              <a:t>1</a:t>
            </a:r>
            <a:r>
              <a:rPr lang="tr-TR" sz="2000" dirty="0">
                <a:solidFill>
                  <a:srgbClr val="000000"/>
                </a:solidFill>
                <a:latin typeface="Comic Sans MS" pitchFamily="66" charset="0"/>
              </a:rPr>
              <a:t>. </a:t>
            </a:r>
            <a:r>
              <a:rPr lang="tr-TR" sz="2000" b="1" dirty="0">
                <a:solidFill>
                  <a:srgbClr val="000000"/>
                </a:solidFill>
                <a:latin typeface="Comic Sans MS" pitchFamily="66" charset="0"/>
              </a:rPr>
              <a:t>Hayat tarzının değişimi</a:t>
            </a:r>
            <a:r>
              <a:rPr lang="tr-TR" sz="2000" dirty="0">
                <a:solidFill>
                  <a:srgbClr val="000000"/>
                </a:solidFill>
                <a:latin typeface="Comic Sans MS" pitchFamily="66" charset="0"/>
              </a:rPr>
              <a:t> ve buna bağlı olarak </a:t>
            </a:r>
            <a:r>
              <a:rPr lang="tr-TR" sz="2000" b="1" dirty="0">
                <a:solidFill>
                  <a:srgbClr val="000000"/>
                </a:solidFill>
                <a:latin typeface="Comic Sans MS" pitchFamily="66" charset="0"/>
              </a:rPr>
              <a:t>tüketimdeki aşırı artış</a:t>
            </a:r>
          </a:p>
          <a:p>
            <a:pPr marL="457200" indent="-457200">
              <a:lnSpc>
                <a:spcPct val="90000"/>
              </a:lnSpc>
              <a:buNone/>
            </a:pPr>
            <a:r>
              <a:rPr lang="tr-TR" sz="2000" dirty="0">
                <a:solidFill>
                  <a:srgbClr val="000000"/>
                </a:solidFill>
                <a:latin typeface="Comic Sans MS" pitchFamily="66" charset="0"/>
              </a:rPr>
              <a:t>2. Kitle iletişim araçlarının etkisiyle </a:t>
            </a:r>
            <a:r>
              <a:rPr lang="tr-TR" sz="2000" b="1" dirty="0">
                <a:solidFill>
                  <a:srgbClr val="000000"/>
                </a:solidFill>
                <a:latin typeface="Comic Sans MS" pitchFamily="66" charset="0"/>
              </a:rPr>
              <a:t>kültürlerin hızlı değişimi</a:t>
            </a:r>
          </a:p>
          <a:p>
            <a:pPr marL="457200" indent="-457200">
              <a:lnSpc>
                <a:spcPct val="90000"/>
              </a:lnSpc>
              <a:buNone/>
            </a:pPr>
            <a:r>
              <a:rPr lang="tr-TR" sz="2000" dirty="0">
                <a:solidFill>
                  <a:srgbClr val="000000"/>
                </a:solidFill>
                <a:latin typeface="Comic Sans MS" pitchFamily="66" charset="0"/>
              </a:rPr>
              <a:t>3. </a:t>
            </a:r>
            <a:r>
              <a:rPr lang="tr-TR" sz="2000" b="1" dirty="0">
                <a:solidFill>
                  <a:srgbClr val="000000"/>
                </a:solidFill>
                <a:latin typeface="Comic Sans MS" pitchFamily="66" charset="0"/>
              </a:rPr>
              <a:t>Adalet</a:t>
            </a:r>
            <a:r>
              <a:rPr lang="tr-TR" sz="2000" dirty="0">
                <a:solidFill>
                  <a:srgbClr val="000000"/>
                </a:solidFill>
                <a:latin typeface="Comic Sans MS" pitchFamily="66" charset="0"/>
              </a:rPr>
              <a:t> mekanizmasının </a:t>
            </a:r>
            <a:r>
              <a:rPr lang="tr-TR" sz="2000" b="1" dirty="0">
                <a:solidFill>
                  <a:srgbClr val="000000"/>
                </a:solidFill>
                <a:latin typeface="Comic Sans MS" pitchFamily="66" charset="0"/>
              </a:rPr>
              <a:t>etkin olmayışı</a:t>
            </a:r>
          </a:p>
          <a:p>
            <a:pPr marL="457200" indent="-457200">
              <a:lnSpc>
                <a:spcPct val="90000"/>
              </a:lnSpc>
              <a:buNone/>
            </a:pPr>
            <a:r>
              <a:rPr lang="tr-TR" sz="2000" dirty="0">
                <a:solidFill>
                  <a:srgbClr val="000000"/>
                </a:solidFill>
                <a:latin typeface="Comic Sans MS" pitchFamily="66" charset="0"/>
              </a:rPr>
              <a:t>4. </a:t>
            </a:r>
            <a:r>
              <a:rPr lang="tr-TR" sz="2000" b="1" dirty="0">
                <a:solidFill>
                  <a:srgbClr val="000000"/>
                </a:solidFill>
                <a:latin typeface="Comic Sans MS" pitchFamily="66" charset="0"/>
              </a:rPr>
              <a:t>Haksız kazanç</a:t>
            </a:r>
            <a:r>
              <a:rPr lang="tr-TR" sz="2000" dirty="0">
                <a:solidFill>
                  <a:srgbClr val="000000"/>
                </a:solidFill>
                <a:latin typeface="Comic Sans MS" pitchFamily="66" charset="0"/>
              </a:rPr>
              <a:t> yollarının </a:t>
            </a:r>
            <a:r>
              <a:rPr lang="tr-TR" sz="2000" b="1" dirty="0">
                <a:solidFill>
                  <a:srgbClr val="000000"/>
                </a:solidFill>
                <a:latin typeface="Comic Sans MS" pitchFamily="66" charset="0"/>
              </a:rPr>
              <a:t>artışı</a:t>
            </a:r>
          </a:p>
          <a:p>
            <a:pPr marL="457200" indent="-457200">
              <a:lnSpc>
                <a:spcPct val="90000"/>
              </a:lnSpc>
              <a:buNone/>
            </a:pPr>
            <a:r>
              <a:rPr lang="tr-TR" sz="2000" dirty="0">
                <a:solidFill>
                  <a:srgbClr val="000000"/>
                </a:solidFill>
                <a:latin typeface="Comic Sans MS" pitchFamily="66" charset="0"/>
              </a:rPr>
              <a:t>5. Genel olarak </a:t>
            </a:r>
            <a:r>
              <a:rPr lang="tr-TR" sz="2000" b="1" dirty="0">
                <a:solidFill>
                  <a:srgbClr val="000000"/>
                </a:solidFill>
                <a:latin typeface="Comic Sans MS" pitchFamily="66" charset="0"/>
              </a:rPr>
              <a:t>toplum ahlakının zedelenmesi</a:t>
            </a:r>
          </a:p>
          <a:p>
            <a:pPr marL="457200" indent="-457200">
              <a:lnSpc>
                <a:spcPct val="90000"/>
              </a:lnSpc>
              <a:buNone/>
            </a:pPr>
            <a:r>
              <a:rPr lang="tr-TR" sz="2000" dirty="0">
                <a:solidFill>
                  <a:srgbClr val="000000"/>
                </a:solidFill>
                <a:latin typeface="Comic Sans MS" pitchFamily="66" charset="0"/>
              </a:rPr>
              <a:t>6. </a:t>
            </a:r>
            <a:r>
              <a:rPr lang="tr-TR" sz="2000" b="1" dirty="0">
                <a:solidFill>
                  <a:srgbClr val="000000"/>
                </a:solidFill>
                <a:latin typeface="Comic Sans MS" pitchFamily="66" charset="0"/>
              </a:rPr>
              <a:t>Ekonomik yapının</a:t>
            </a:r>
            <a:r>
              <a:rPr lang="tr-TR" sz="2000" dirty="0">
                <a:solidFill>
                  <a:srgbClr val="000000"/>
                </a:solidFill>
                <a:latin typeface="Comic Sans MS" pitchFamily="66" charset="0"/>
              </a:rPr>
              <a:t> işletmeleri ahlaksızlığa teşvik etmesi</a:t>
            </a:r>
          </a:p>
        </p:txBody>
      </p:sp>
      <p:pic>
        <p:nvPicPr>
          <p:cNvPr id="17411" name="Picture 4" descr="ethics-large"/>
          <p:cNvPicPr>
            <a:picLocks noChangeAspect="1" noChangeArrowheads="1"/>
          </p:cNvPicPr>
          <p:nvPr/>
        </p:nvPicPr>
        <p:blipFill>
          <a:blip r:embed="rId2" cstate="print"/>
          <a:srcRect/>
          <a:stretch>
            <a:fillRect/>
          </a:stretch>
        </p:blipFill>
        <p:spPr bwMode="auto">
          <a:xfrm>
            <a:off x="9663984" y="677862"/>
            <a:ext cx="1692275" cy="1354138"/>
          </a:xfrm>
          <a:prstGeom prst="rect">
            <a:avLst/>
          </a:prstGeom>
          <a:noFill/>
          <a:ln w="9525">
            <a:noFill/>
            <a:miter lim="800000"/>
            <a:headEnd/>
            <a:tailEnd/>
          </a:ln>
        </p:spPr>
      </p:pic>
    </p:spTree>
    <p:extLst>
      <p:ext uri="{BB962C8B-B14F-4D97-AF65-F5344CB8AC3E}">
        <p14:creationId xmlns:p14="http://schemas.microsoft.com/office/powerpoint/2010/main" val="2235389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AutoShape 2"/>
          <p:cNvSpPr>
            <a:spLocks noGrp="1" noChangeArrowheads="1"/>
          </p:cNvSpPr>
          <p:nvPr>
            <p:ph type="title"/>
          </p:nvPr>
        </p:nvSpPr>
        <p:spPr>
          <a:xfrm>
            <a:off x="2059961" y="636819"/>
            <a:ext cx="7058025" cy="1355725"/>
          </a:xfrm>
          <a:solidFill>
            <a:srgbClr val="00B0F0"/>
          </a:solidFill>
          <a:ln w="28575">
            <a:solidFill>
              <a:srgbClr val="000000"/>
            </a:solidFill>
          </a:ln>
        </p:spPr>
        <p:txBody>
          <a:bodyPr>
            <a:normAutofit/>
          </a:bodyPr>
          <a:lstStyle/>
          <a:p>
            <a:pPr eaLnBrk="1" hangingPunct="1"/>
            <a:r>
              <a:rPr lang="tr-TR" sz="2800" dirty="0">
                <a:solidFill>
                  <a:srgbClr val="FF0000"/>
                </a:solidFill>
                <a:latin typeface="Comic Sans MS" pitchFamily="66" charset="0"/>
              </a:rPr>
              <a:t>İş etiğine duyulan ihtiyacın artmasına neden olan bazı faktörler</a:t>
            </a:r>
          </a:p>
        </p:txBody>
      </p:sp>
      <p:sp>
        <p:nvSpPr>
          <p:cNvPr id="18435" name="Rectangle 3"/>
          <p:cNvSpPr>
            <a:spLocks noGrp="1" noChangeArrowheads="1"/>
          </p:cNvSpPr>
          <p:nvPr>
            <p:ph sz="quarter" idx="1"/>
          </p:nvPr>
        </p:nvSpPr>
        <p:spPr>
          <a:xfrm>
            <a:off x="2059961" y="2086896"/>
            <a:ext cx="8137525" cy="4306888"/>
          </a:xfrm>
        </p:spPr>
        <p:txBody>
          <a:bodyPr>
            <a:normAutofit/>
          </a:bodyPr>
          <a:lstStyle/>
          <a:p>
            <a:pPr marL="457200" indent="-457200">
              <a:lnSpc>
                <a:spcPct val="90000"/>
              </a:lnSpc>
              <a:buNone/>
            </a:pPr>
            <a:r>
              <a:rPr lang="tr-TR" sz="2000" b="1" dirty="0">
                <a:solidFill>
                  <a:srgbClr val="FF0000"/>
                </a:solidFill>
                <a:latin typeface="Comic Sans MS" pitchFamily="66" charset="0"/>
              </a:rPr>
              <a:t>B. İşletme içi faktörler: </a:t>
            </a:r>
          </a:p>
          <a:p>
            <a:pPr marL="457200" indent="-457200">
              <a:lnSpc>
                <a:spcPct val="90000"/>
              </a:lnSpc>
              <a:buNone/>
            </a:pPr>
            <a:endParaRPr lang="tr-TR" sz="2000" b="1" dirty="0">
              <a:solidFill>
                <a:srgbClr val="FF0000"/>
              </a:solidFill>
              <a:latin typeface="Comic Sans MS" pitchFamily="66" charset="0"/>
            </a:endParaRPr>
          </a:p>
          <a:p>
            <a:pPr marL="457200" indent="-457200">
              <a:lnSpc>
                <a:spcPct val="90000"/>
              </a:lnSpc>
              <a:buFont typeface="Wingdings" pitchFamily="2" charset="2"/>
              <a:buAutoNum type="arabicPeriod"/>
            </a:pPr>
            <a:r>
              <a:rPr lang="tr-TR" sz="2000" b="1" dirty="0">
                <a:solidFill>
                  <a:srgbClr val="000000"/>
                </a:solidFill>
                <a:latin typeface="Comic Sans MS" pitchFamily="66" charset="0"/>
              </a:rPr>
              <a:t>Karın maksimizasyonu</a:t>
            </a:r>
            <a:r>
              <a:rPr lang="tr-TR" sz="2000" dirty="0">
                <a:solidFill>
                  <a:srgbClr val="000000"/>
                </a:solidFill>
                <a:latin typeface="Comic Sans MS" pitchFamily="66" charset="0"/>
              </a:rPr>
              <a:t> amacının sosyal sorumluluk amaçlarının önüne geçmesi</a:t>
            </a:r>
          </a:p>
          <a:p>
            <a:pPr marL="457200" indent="-457200">
              <a:lnSpc>
                <a:spcPct val="90000"/>
              </a:lnSpc>
              <a:buFont typeface="Wingdings" pitchFamily="2" charset="2"/>
              <a:buAutoNum type="arabicPeriod"/>
            </a:pPr>
            <a:r>
              <a:rPr lang="tr-TR" sz="2000" dirty="0">
                <a:solidFill>
                  <a:srgbClr val="000000"/>
                </a:solidFill>
                <a:latin typeface="Comic Sans MS" pitchFamily="66" charset="0"/>
              </a:rPr>
              <a:t>İşletme sahipleri, ortakları ve yöneticilerinin kişisel ahlaki algılamaları, </a:t>
            </a:r>
            <a:r>
              <a:rPr lang="tr-TR" sz="2000" b="1" dirty="0">
                <a:solidFill>
                  <a:srgbClr val="000000"/>
                </a:solidFill>
                <a:latin typeface="Comic Sans MS" pitchFamily="66" charset="0"/>
              </a:rPr>
              <a:t>hırsları</a:t>
            </a:r>
          </a:p>
          <a:p>
            <a:pPr marL="457200" indent="-457200">
              <a:lnSpc>
                <a:spcPct val="90000"/>
              </a:lnSpc>
              <a:buFont typeface="Wingdings" pitchFamily="2" charset="2"/>
              <a:buAutoNum type="arabicPeriod"/>
            </a:pPr>
            <a:r>
              <a:rPr lang="tr-TR" sz="2000" dirty="0">
                <a:solidFill>
                  <a:srgbClr val="000000"/>
                </a:solidFill>
                <a:latin typeface="Comic Sans MS" pitchFamily="66" charset="0"/>
              </a:rPr>
              <a:t>Yöneticilerin çalışanlara </a:t>
            </a:r>
            <a:r>
              <a:rPr lang="tr-TR" sz="2000" b="1" dirty="0">
                <a:solidFill>
                  <a:srgbClr val="000000"/>
                </a:solidFill>
                <a:latin typeface="Comic Sans MS" pitchFamily="66" charset="0"/>
              </a:rPr>
              <a:t>ulaşılması zor hedefler</a:t>
            </a:r>
            <a:r>
              <a:rPr lang="tr-TR" sz="2000" dirty="0">
                <a:solidFill>
                  <a:srgbClr val="000000"/>
                </a:solidFill>
                <a:latin typeface="Comic Sans MS" pitchFamily="66" charset="0"/>
              </a:rPr>
              <a:t> koyması</a:t>
            </a:r>
          </a:p>
          <a:p>
            <a:pPr marL="457200" indent="-457200">
              <a:lnSpc>
                <a:spcPct val="90000"/>
              </a:lnSpc>
              <a:buFont typeface="Wingdings" pitchFamily="2" charset="2"/>
              <a:buAutoNum type="arabicPeriod"/>
            </a:pPr>
            <a:r>
              <a:rPr lang="tr-TR" sz="2000" dirty="0">
                <a:solidFill>
                  <a:srgbClr val="000000"/>
                </a:solidFill>
                <a:latin typeface="Comic Sans MS" pitchFamily="66" charset="0"/>
              </a:rPr>
              <a:t>Çalışanların </a:t>
            </a:r>
            <a:r>
              <a:rPr lang="tr-TR" sz="2000" b="1" dirty="0">
                <a:solidFill>
                  <a:srgbClr val="000000"/>
                </a:solidFill>
                <a:latin typeface="Comic Sans MS" pitchFamily="66" charset="0"/>
              </a:rPr>
              <a:t>iş hedeflerine yetişme kaygısı</a:t>
            </a:r>
          </a:p>
          <a:p>
            <a:pPr marL="457200" indent="-457200">
              <a:lnSpc>
                <a:spcPct val="90000"/>
              </a:lnSpc>
              <a:buFont typeface="Wingdings" pitchFamily="2" charset="2"/>
              <a:buAutoNum type="arabicPeriod"/>
            </a:pPr>
            <a:r>
              <a:rPr lang="tr-TR" sz="2000" b="1" dirty="0">
                <a:solidFill>
                  <a:srgbClr val="000000"/>
                </a:solidFill>
                <a:latin typeface="Comic Sans MS" pitchFamily="66" charset="0"/>
              </a:rPr>
              <a:t>Kriz</a:t>
            </a:r>
            <a:r>
              <a:rPr lang="tr-TR" sz="2000" dirty="0">
                <a:solidFill>
                  <a:srgbClr val="000000"/>
                </a:solidFill>
                <a:latin typeface="Comic Sans MS" pitchFamily="66" charset="0"/>
              </a:rPr>
              <a:t> zamanlarında </a:t>
            </a:r>
            <a:r>
              <a:rPr lang="tr-TR" sz="2000" b="1" dirty="0">
                <a:solidFill>
                  <a:srgbClr val="000000"/>
                </a:solidFill>
                <a:latin typeface="Comic Sans MS" pitchFamily="66" charset="0"/>
              </a:rPr>
              <a:t>batmamak için</a:t>
            </a:r>
            <a:r>
              <a:rPr lang="tr-TR" sz="2000" dirty="0">
                <a:solidFill>
                  <a:srgbClr val="000000"/>
                </a:solidFill>
                <a:latin typeface="Comic Sans MS" pitchFamily="66" charset="0"/>
              </a:rPr>
              <a:t> her yolun denenmesi</a:t>
            </a:r>
          </a:p>
        </p:txBody>
      </p:sp>
      <p:pic>
        <p:nvPicPr>
          <p:cNvPr id="18436" name="Picture 4" descr="ethics-large"/>
          <p:cNvPicPr>
            <a:picLocks noChangeAspect="1" noChangeArrowheads="1"/>
          </p:cNvPicPr>
          <p:nvPr/>
        </p:nvPicPr>
        <p:blipFill>
          <a:blip r:embed="rId2" cstate="print"/>
          <a:srcRect/>
          <a:stretch>
            <a:fillRect/>
          </a:stretch>
        </p:blipFill>
        <p:spPr bwMode="auto">
          <a:xfrm>
            <a:off x="9545997" y="638406"/>
            <a:ext cx="1692275" cy="1354138"/>
          </a:xfrm>
          <a:prstGeom prst="rect">
            <a:avLst/>
          </a:prstGeom>
          <a:noFill/>
          <a:ln w="9525">
            <a:noFill/>
            <a:miter lim="800000"/>
            <a:headEnd/>
            <a:tailEnd/>
          </a:ln>
        </p:spPr>
      </p:pic>
    </p:spTree>
    <p:extLst>
      <p:ext uri="{BB962C8B-B14F-4D97-AF65-F5344CB8AC3E}">
        <p14:creationId xmlns:p14="http://schemas.microsoft.com/office/powerpoint/2010/main" val="2839066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1981200" y="1268761"/>
            <a:ext cx="8229600" cy="4857403"/>
          </a:xfrm>
        </p:spPr>
        <p:txBody>
          <a:bodyPr>
            <a:normAutofit/>
          </a:bodyPr>
          <a:lstStyle/>
          <a:p>
            <a:pPr>
              <a:buNone/>
            </a:pPr>
            <a:endParaRPr lang="tr-TR" dirty="0">
              <a:solidFill>
                <a:srgbClr val="FF0000"/>
              </a:solidFill>
            </a:endParaRPr>
          </a:p>
          <a:p>
            <a:pPr>
              <a:buNone/>
            </a:pPr>
            <a:r>
              <a:rPr lang="tr-TR" dirty="0">
                <a:solidFill>
                  <a:srgbClr val="FF0000"/>
                </a:solidFill>
              </a:rPr>
              <a:t>Bir işin meslek sayılabilmesi; </a:t>
            </a:r>
          </a:p>
          <a:p>
            <a:pPr>
              <a:buNone/>
            </a:pPr>
            <a:endParaRPr lang="tr-TR" dirty="0"/>
          </a:p>
          <a:p>
            <a:pPr>
              <a:buNone/>
            </a:pPr>
            <a:r>
              <a:rPr lang="tr-TR" dirty="0"/>
              <a:t>• Belirli bir akademik eğitim süresi </a:t>
            </a:r>
          </a:p>
          <a:p>
            <a:pPr>
              <a:buNone/>
            </a:pPr>
            <a:r>
              <a:rPr lang="tr-TR" dirty="0"/>
              <a:t>• Belirli bir ihtisaslaşma eğitimi gerektirir. </a:t>
            </a:r>
          </a:p>
          <a:p>
            <a:pPr>
              <a:buNone/>
            </a:pPr>
            <a:r>
              <a:rPr lang="tr-TR" dirty="0"/>
              <a:t>• Meslek üyelerinin yer aldığı meslek örgütünü gerektirir. Örgüt, üyelerini denetler, mesleki uygulamalar için standartlar geliştirir ve bunlara uyulmasını izler. </a:t>
            </a:r>
          </a:p>
          <a:p>
            <a:pPr>
              <a:buNone/>
            </a:pPr>
            <a:r>
              <a:rPr lang="tr-TR" dirty="0"/>
              <a:t>• Meslek mensuplarının birincil amacı kendilerine ihtiyaç duyanlara hizmet etmektir. </a:t>
            </a:r>
          </a:p>
          <a:p>
            <a:endParaRPr lang="tr-TR" dirty="0"/>
          </a:p>
        </p:txBody>
      </p:sp>
    </p:spTree>
    <p:extLst>
      <p:ext uri="{BB962C8B-B14F-4D97-AF65-F5344CB8AC3E}">
        <p14:creationId xmlns:p14="http://schemas.microsoft.com/office/powerpoint/2010/main" val="1823476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1991544" y="1484785"/>
            <a:ext cx="8219256" cy="4425355"/>
          </a:xfrm>
        </p:spPr>
        <p:txBody>
          <a:bodyPr>
            <a:normAutofit fontScale="55000" lnSpcReduction="20000"/>
          </a:bodyPr>
          <a:lstStyle/>
          <a:p>
            <a:pPr algn="ctr">
              <a:buNone/>
            </a:pPr>
            <a:endParaRPr lang="tr-TR" sz="2900" b="1" dirty="0">
              <a:solidFill>
                <a:srgbClr val="FF0000"/>
              </a:solidFill>
              <a:latin typeface="Comic Sans MS" panose="030F0702030302020204" pitchFamily="66" charset="0"/>
            </a:endParaRPr>
          </a:p>
          <a:p>
            <a:pPr algn="ctr">
              <a:buNone/>
            </a:pPr>
            <a:r>
              <a:rPr lang="tr-TR" sz="2900" b="1" dirty="0">
                <a:solidFill>
                  <a:srgbClr val="FF0000"/>
                </a:solidFill>
                <a:latin typeface="Comic Sans MS" panose="030F0702030302020204" pitchFamily="66" charset="0"/>
              </a:rPr>
              <a:t>Etik Konularına İlişkin Örnekler : </a:t>
            </a:r>
          </a:p>
          <a:p>
            <a:pPr algn="ctr">
              <a:buNone/>
            </a:pPr>
            <a:endParaRPr lang="tr-TR" sz="2900" dirty="0">
              <a:latin typeface="Comic Sans MS" panose="030F0702030302020204" pitchFamily="66" charset="0"/>
            </a:endParaRPr>
          </a:p>
          <a:p>
            <a:pPr>
              <a:buNone/>
            </a:pPr>
            <a:endParaRPr lang="tr-TR" sz="2900" dirty="0">
              <a:latin typeface="Comic Sans MS" panose="030F0702030302020204" pitchFamily="66" charset="0"/>
            </a:endParaRPr>
          </a:p>
          <a:p>
            <a:pPr>
              <a:buNone/>
            </a:pPr>
            <a:r>
              <a:rPr lang="tr-TR" sz="2900" dirty="0">
                <a:latin typeface="Comic Sans MS" panose="030F0702030302020204" pitchFamily="66" charset="0"/>
              </a:rPr>
              <a:t>• </a:t>
            </a:r>
            <a:r>
              <a:rPr lang="tr-TR" sz="2900" b="1" dirty="0">
                <a:latin typeface="Comic Sans MS" panose="030F0702030302020204" pitchFamily="66" charset="0"/>
              </a:rPr>
              <a:t>Siyasette Etik: </a:t>
            </a:r>
            <a:r>
              <a:rPr lang="tr-TR" sz="2900" dirty="0">
                <a:latin typeface="Comic Sans MS" panose="030F0702030302020204" pitchFamily="66" charset="0"/>
              </a:rPr>
              <a:t>Siyasetçilerin gerçekleştiremeyecekleri vaatlerde bulunmamaları </a:t>
            </a:r>
          </a:p>
          <a:p>
            <a:pPr>
              <a:buNone/>
            </a:pPr>
            <a:r>
              <a:rPr lang="tr-TR" sz="2900" dirty="0">
                <a:latin typeface="Comic Sans MS" panose="030F0702030302020204" pitchFamily="66" charset="0"/>
              </a:rPr>
              <a:t>• </a:t>
            </a:r>
            <a:r>
              <a:rPr lang="tr-TR" sz="2900" b="1" dirty="0">
                <a:latin typeface="Comic Sans MS" panose="030F0702030302020204" pitchFamily="66" charset="0"/>
              </a:rPr>
              <a:t>Kamu Yönetiminde Etik: </a:t>
            </a:r>
            <a:r>
              <a:rPr lang="tr-TR" sz="2900" dirty="0">
                <a:latin typeface="Comic Sans MS" panose="030F0702030302020204" pitchFamily="66" charset="0"/>
              </a:rPr>
              <a:t>Vatandaşlara eşit muamele yapılması ve hizmette bulunulması </a:t>
            </a:r>
          </a:p>
          <a:p>
            <a:pPr>
              <a:buNone/>
            </a:pPr>
            <a:r>
              <a:rPr lang="tr-TR" sz="2900" b="1" dirty="0">
                <a:latin typeface="Comic Sans MS" panose="030F0702030302020204" pitchFamily="66" charset="0"/>
              </a:rPr>
              <a:t>• Yargıda Etik: </a:t>
            </a:r>
            <a:r>
              <a:rPr lang="tr-TR" sz="2900" dirty="0">
                <a:latin typeface="Comic Sans MS" panose="030F0702030302020204" pitchFamily="66" charset="0"/>
              </a:rPr>
              <a:t>Yargı organlarının kararlarında devlet-birey dengesinin gözetilmesi ve süreçlerin daha hızlı çalışması </a:t>
            </a:r>
          </a:p>
          <a:p>
            <a:pPr>
              <a:buNone/>
            </a:pPr>
            <a:r>
              <a:rPr lang="tr-TR" sz="2900" b="1" dirty="0">
                <a:latin typeface="Comic Sans MS" panose="030F0702030302020204" pitchFamily="66" charset="0"/>
              </a:rPr>
              <a:t>• Eğitimde Etik: </a:t>
            </a:r>
            <a:r>
              <a:rPr lang="tr-TR" sz="2900" dirty="0">
                <a:latin typeface="Comic Sans MS" panose="030F0702030302020204" pitchFamily="66" charset="0"/>
              </a:rPr>
              <a:t>Öğretmenlerin öğrencilerine özel ders vermemeleri </a:t>
            </a:r>
          </a:p>
          <a:p>
            <a:pPr>
              <a:buNone/>
            </a:pPr>
            <a:r>
              <a:rPr lang="tr-TR" sz="2900" b="1" dirty="0">
                <a:latin typeface="Comic Sans MS" panose="030F0702030302020204" pitchFamily="66" charset="0"/>
              </a:rPr>
              <a:t>• Bilim Etiği: </a:t>
            </a:r>
            <a:r>
              <a:rPr lang="tr-TR" sz="2900" dirty="0">
                <a:latin typeface="Comic Sans MS" panose="030F0702030302020204" pitchFamily="66" charset="0"/>
              </a:rPr>
              <a:t>Araştırma bulgularının saptırılmaması </a:t>
            </a:r>
          </a:p>
          <a:p>
            <a:pPr>
              <a:buNone/>
            </a:pPr>
            <a:r>
              <a:rPr lang="tr-TR" sz="2900" b="1" dirty="0">
                <a:latin typeface="Comic Sans MS" panose="030F0702030302020204" pitchFamily="66" charset="0"/>
              </a:rPr>
              <a:t>• Medya Etiği: </a:t>
            </a:r>
            <a:r>
              <a:rPr lang="tr-TR" sz="2900" dirty="0">
                <a:latin typeface="Comic Sans MS" panose="030F0702030302020204" pitchFamily="66" charset="0"/>
              </a:rPr>
              <a:t>Haber ile yorum ayrımının yapılması </a:t>
            </a:r>
          </a:p>
          <a:p>
            <a:pPr>
              <a:buNone/>
            </a:pPr>
            <a:r>
              <a:rPr lang="tr-TR" sz="2900" b="1" dirty="0">
                <a:latin typeface="Comic Sans MS" panose="030F0702030302020204" pitchFamily="66" charset="0"/>
              </a:rPr>
              <a:t>• Sporda Etik: </a:t>
            </a:r>
            <a:r>
              <a:rPr lang="tr-TR" sz="2900" dirty="0">
                <a:latin typeface="Comic Sans MS" panose="030F0702030302020204" pitchFamily="66" charset="0"/>
              </a:rPr>
              <a:t>Doping ve şike yapılmaması </a:t>
            </a:r>
          </a:p>
          <a:p>
            <a:pPr>
              <a:buNone/>
            </a:pPr>
            <a:endParaRPr lang="tr-TR" dirty="0"/>
          </a:p>
        </p:txBody>
      </p:sp>
    </p:spTree>
    <p:extLst>
      <p:ext uri="{BB962C8B-B14F-4D97-AF65-F5344CB8AC3E}">
        <p14:creationId xmlns:p14="http://schemas.microsoft.com/office/powerpoint/2010/main" val="3136395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ikdörtgen 3"/>
          <p:cNvSpPr/>
          <p:nvPr/>
        </p:nvSpPr>
        <p:spPr>
          <a:xfrm>
            <a:off x="1122947" y="1108593"/>
            <a:ext cx="8398042" cy="5909310"/>
          </a:xfrm>
          <a:prstGeom prst="rect">
            <a:avLst/>
          </a:prstGeom>
        </p:spPr>
        <p:txBody>
          <a:bodyPr wrap="square">
            <a:spAutoFit/>
          </a:bodyPr>
          <a:lstStyle/>
          <a:p>
            <a:r>
              <a:rPr lang="tr-TR" b="1" i="1" u="sng" dirty="0">
                <a:solidFill>
                  <a:srgbClr val="FF0000"/>
                </a:solidFill>
                <a:latin typeface="Times New Roman" panose="02020603050405020304" pitchFamily="18" charset="0"/>
                <a:ea typeface="Times New Roman" panose="02020603050405020304" pitchFamily="18" charset="0"/>
              </a:rPr>
              <a:t>Mesleki Etik </a:t>
            </a:r>
          </a:p>
          <a:p>
            <a:endParaRPr lang="tr-TR" dirty="0">
              <a:latin typeface="Times New Roman" panose="02020603050405020304" pitchFamily="18" charset="0"/>
              <a:ea typeface="Times New Roman" panose="02020603050405020304" pitchFamily="18" charset="0"/>
            </a:endParaRPr>
          </a:p>
          <a:p>
            <a:r>
              <a:rPr lang="tr-TR" dirty="0">
                <a:latin typeface="Times New Roman" panose="02020603050405020304" pitchFamily="18" charset="0"/>
                <a:ea typeface="Times New Roman" panose="02020603050405020304" pitchFamily="18" charset="0"/>
              </a:rPr>
              <a:t>Bir uğraşın</a:t>
            </a:r>
            <a:r>
              <a:rPr lang="tr-TR" dirty="0">
                <a:solidFill>
                  <a:srgbClr val="FF0000"/>
                </a:solidFill>
                <a:latin typeface="Times New Roman" panose="02020603050405020304" pitchFamily="18" charset="0"/>
                <a:ea typeface="Times New Roman" panose="02020603050405020304" pitchFamily="18" charset="0"/>
              </a:rPr>
              <a:t> meslek </a:t>
            </a:r>
            <a:r>
              <a:rPr lang="tr-TR" dirty="0">
                <a:latin typeface="Times New Roman" panose="02020603050405020304" pitchFamily="18" charset="0"/>
                <a:ea typeface="Times New Roman" panose="02020603050405020304" pitchFamily="18" charset="0"/>
              </a:rPr>
              <a:t>olarak adlandırılması için aşağıdaki koşullar aranır:</a:t>
            </a:r>
          </a:p>
          <a:p>
            <a:endParaRPr lang="tr-TR" dirty="0">
              <a:latin typeface="Times New Roman" panose="02020603050405020304" pitchFamily="18" charset="0"/>
              <a:ea typeface="Times New Roman" panose="02020603050405020304" pitchFamily="18" charset="0"/>
            </a:endParaRPr>
          </a:p>
          <a:p>
            <a:pPr marL="342900" lvl="0" indent="-342900">
              <a:buAutoNum type="arabicPeriod"/>
            </a:pPr>
            <a:r>
              <a:rPr lang="tr-TR" dirty="0">
                <a:solidFill>
                  <a:schemeClr val="accent3"/>
                </a:solidFill>
                <a:latin typeface="Comic Sans MS" panose="030F0702030302020204" pitchFamily="66" charset="0"/>
              </a:rPr>
              <a:t>Bir meslek toplumun kaçınılmaz olan bir gereksinimini karşılar</a:t>
            </a:r>
            <a:r>
              <a:rPr lang="tr-TR" dirty="0">
                <a:latin typeface="Comic Sans MS" panose="030F0702030302020204" pitchFamily="66" charset="0"/>
              </a:rPr>
              <a:t>: Örneğin, sağlık, güvenlik, eğitim gibi toplumsal gereksinimler her toplumda bu hizmetleri sunacak meslekleri gerekli kılmaktadır.</a:t>
            </a:r>
          </a:p>
          <a:p>
            <a:pPr lvl="0"/>
            <a:endParaRPr lang="tr-TR" dirty="0">
              <a:latin typeface="Comic Sans MS" panose="030F0702030302020204" pitchFamily="66" charset="0"/>
            </a:endParaRPr>
          </a:p>
          <a:p>
            <a:pPr lvl="0"/>
            <a:r>
              <a:rPr lang="tr-TR" b="1" dirty="0"/>
              <a:t>2.  </a:t>
            </a:r>
            <a:r>
              <a:rPr lang="tr-TR" dirty="0">
                <a:solidFill>
                  <a:schemeClr val="accent3"/>
                </a:solidFill>
                <a:latin typeface="Comic Sans MS" panose="030F0702030302020204" pitchFamily="66" charset="0"/>
              </a:rPr>
              <a:t>Meslek kişinin salt kendi doyumu için değil aynı zamanda  başkalarının yararı için  de yaptığı bir uğraştır</a:t>
            </a:r>
            <a:r>
              <a:rPr lang="tr-TR" dirty="0">
                <a:latin typeface="Comic Sans MS" panose="030F0702030302020204" pitchFamily="66" charset="0"/>
              </a:rPr>
              <a:t>: Örneğin bir doktor mesleğini sadece hizmetinin karşılığında aldığı para için değil, insanlara sağlıklarını kazandırmak için de yapar. Bir öğretmen okuma yazma öğrettiği öğrencilerin kazandıkları yaşamlarını yönetme becerilerinden mutluluk duyar. </a:t>
            </a:r>
          </a:p>
          <a:p>
            <a:pPr lvl="0"/>
            <a:endParaRPr lang="tr-TR" dirty="0"/>
          </a:p>
          <a:p>
            <a:pPr lvl="0"/>
            <a:endParaRPr lang="tr-TR" dirty="0"/>
          </a:p>
          <a:p>
            <a:pPr lvl="0"/>
            <a:endParaRPr lang="tr-TR" dirty="0"/>
          </a:p>
          <a:p>
            <a:r>
              <a:rPr lang="tr-TR" dirty="0"/>
              <a:t> </a:t>
            </a:r>
          </a:p>
          <a:p>
            <a:endParaRPr lang="tr-TR" dirty="0">
              <a:latin typeface="Times New Roman" panose="02020603050405020304" pitchFamily="18" charset="0"/>
              <a:ea typeface="Times New Roman" panose="02020603050405020304" pitchFamily="18" charset="0"/>
            </a:endParaRPr>
          </a:p>
          <a:p>
            <a:endParaRPr lang="tr-TR" dirty="0">
              <a:latin typeface="Times New Roman" panose="02020603050405020304" pitchFamily="18" charset="0"/>
            </a:endParaRPr>
          </a:p>
          <a:p>
            <a:endParaRPr lang="tr-TR" dirty="0">
              <a:latin typeface="Times New Roman" panose="02020603050405020304" pitchFamily="18" charset="0"/>
            </a:endParaRPr>
          </a:p>
          <a:p>
            <a:endParaRPr lang="tr-TR" dirty="0"/>
          </a:p>
        </p:txBody>
      </p:sp>
      <p:pic>
        <p:nvPicPr>
          <p:cNvPr id="5" name="Resim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58952" y="4507831"/>
            <a:ext cx="2733675" cy="1676400"/>
          </a:xfrm>
          <a:prstGeom prst="rect">
            <a:avLst/>
          </a:prstGeom>
        </p:spPr>
      </p:pic>
    </p:spTree>
    <p:extLst>
      <p:ext uri="{BB962C8B-B14F-4D97-AF65-F5344CB8AC3E}">
        <p14:creationId xmlns:p14="http://schemas.microsoft.com/office/powerpoint/2010/main" val="1392927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326104" y="1529386"/>
            <a:ext cx="7074569" cy="3693319"/>
          </a:xfrm>
          <a:prstGeom prst="rect">
            <a:avLst/>
          </a:prstGeom>
        </p:spPr>
        <p:txBody>
          <a:bodyPr wrap="square">
            <a:spAutoFit/>
          </a:bodyPr>
          <a:lstStyle/>
          <a:p>
            <a:pPr lvl="0"/>
            <a:r>
              <a:rPr lang="tr-TR" dirty="0">
                <a:latin typeface="Comic Sans MS" panose="030F0702030302020204" pitchFamily="66" charset="0"/>
              </a:rPr>
              <a:t>3. </a:t>
            </a:r>
            <a:r>
              <a:rPr lang="tr-TR" dirty="0">
                <a:solidFill>
                  <a:schemeClr val="accent3"/>
                </a:solidFill>
                <a:latin typeface="Comic Sans MS" panose="030F0702030302020204" pitchFamily="66" charset="0"/>
              </a:rPr>
              <a:t>Meslek sistemli bir eğitimle kazanılmış özel bilgi ve becerilere dayalıdır</a:t>
            </a:r>
            <a:r>
              <a:rPr lang="tr-TR" dirty="0">
                <a:latin typeface="Comic Sans MS" panose="030F0702030302020204" pitchFamily="66" charset="0"/>
              </a:rPr>
              <a:t>: Bir mesleğin meslek olabilmesi için mesleğe girmeden önce kişilerin bu mesleği icra edebilmeyi sağlayan bilgi, beceri ve tutumlar kazanmış olmaları gereklidir. Burada meslek elemanı toplum tarafından bir “uzman” olarak görülmekte ve o hizmette kişiye tam bir güven duymaktadır. </a:t>
            </a:r>
          </a:p>
          <a:p>
            <a:pPr lvl="0"/>
            <a:endParaRPr lang="tr-TR" dirty="0">
              <a:latin typeface="Comic Sans MS" panose="030F0702030302020204" pitchFamily="66" charset="0"/>
            </a:endParaRPr>
          </a:p>
          <a:p>
            <a:pPr lvl="0"/>
            <a:r>
              <a:rPr lang="tr-TR" dirty="0">
                <a:latin typeface="Comic Sans MS" panose="030F0702030302020204" pitchFamily="66" charset="0"/>
              </a:rPr>
              <a:t>4. </a:t>
            </a:r>
            <a:r>
              <a:rPr lang="tr-TR" dirty="0">
                <a:solidFill>
                  <a:schemeClr val="accent3"/>
                </a:solidFill>
                <a:latin typeface="Comic Sans MS" panose="030F0702030302020204" pitchFamily="66" charset="0"/>
              </a:rPr>
              <a:t>Meslekler araştırma ve deneylerle geliştirilerek zamanla kendine özgü tekniklere sahip olur</a:t>
            </a:r>
            <a:r>
              <a:rPr lang="tr-TR" dirty="0">
                <a:latin typeface="Comic Sans MS" panose="030F0702030302020204" pitchFamily="66" charset="0"/>
              </a:rPr>
              <a:t>: Meslekler de insanlar gibi araştırma ve deneyler sonucu bir bilgi ve kültür birikimine sahip olur. Eğitim yolu ile kuşaktan kuşağa aktarılan bu bilgi birikimi zaman içinde mesleğe özgü tekniklerin gelişmesine ya da süreç içinde yeni tekniklerin keşfedilmesine yol açar. </a:t>
            </a:r>
          </a:p>
        </p:txBody>
      </p:sp>
      <p:pic>
        <p:nvPicPr>
          <p:cNvPr id="3" name="Resi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20927" y="4317830"/>
            <a:ext cx="2524125" cy="1809750"/>
          </a:xfrm>
          <a:prstGeom prst="rect">
            <a:avLst/>
          </a:prstGeom>
        </p:spPr>
      </p:pic>
    </p:spTree>
    <p:extLst>
      <p:ext uri="{BB962C8B-B14F-4D97-AF65-F5344CB8AC3E}">
        <p14:creationId xmlns:p14="http://schemas.microsoft.com/office/powerpoint/2010/main" val="2169587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740569" y="2274838"/>
            <a:ext cx="8542420" cy="2031325"/>
          </a:xfrm>
          <a:prstGeom prst="rect">
            <a:avLst/>
          </a:prstGeom>
        </p:spPr>
        <p:txBody>
          <a:bodyPr wrap="square">
            <a:spAutoFit/>
          </a:bodyPr>
          <a:lstStyle/>
          <a:p>
            <a:pPr lvl="0"/>
            <a:r>
              <a:rPr lang="tr-TR" dirty="0">
                <a:latin typeface="Comic Sans MS" panose="030F0702030302020204" pitchFamily="66" charset="0"/>
              </a:rPr>
              <a:t>5. </a:t>
            </a:r>
            <a:r>
              <a:rPr lang="tr-TR" dirty="0">
                <a:solidFill>
                  <a:schemeClr val="accent3"/>
                </a:solidFill>
                <a:latin typeface="Comic Sans MS" panose="030F0702030302020204" pitchFamily="66" charset="0"/>
              </a:rPr>
              <a:t>Meslekler kazanç elde etmek için yapılan uğraşlardır</a:t>
            </a:r>
            <a:r>
              <a:rPr lang="tr-TR" dirty="0">
                <a:latin typeface="Comic Sans MS" panose="030F0702030302020204" pitchFamily="66" charset="0"/>
              </a:rPr>
              <a:t>: Meslek elemanları yaşamlarını mesleklerinden elde ettikleri yasal gelir ile sürdürürler. </a:t>
            </a:r>
          </a:p>
          <a:p>
            <a:pPr lvl="0"/>
            <a:endParaRPr lang="tr-TR" dirty="0">
              <a:latin typeface="Comic Sans MS" panose="030F0702030302020204" pitchFamily="66" charset="0"/>
            </a:endParaRPr>
          </a:p>
          <a:p>
            <a:pPr lvl="0"/>
            <a:r>
              <a:rPr lang="tr-TR" dirty="0">
                <a:latin typeface="Comic Sans MS" panose="030F0702030302020204" pitchFamily="66" charset="0"/>
              </a:rPr>
              <a:t>6. </a:t>
            </a:r>
            <a:r>
              <a:rPr lang="tr-TR" dirty="0">
                <a:solidFill>
                  <a:schemeClr val="accent3"/>
                </a:solidFill>
                <a:latin typeface="Comic Sans MS" panose="030F0702030302020204" pitchFamily="66" charset="0"/>
              </a:rPr>
              <a:t>Mesleklerin toplumca kabul edilmiş etik değerleri ve ilkeleri vardır</a:t>
            </a:r>
            <a:r>
              <a:rPr lang="tr-TR" dirty="0">
                <a:latin typeface="Comic Sans MS" panose="030F0702030302020204" pitchFamily="66" charset="0"/>
              </a:rPr>
              <a:t>: Meslek olarak kabul edilecek bütün uğraş alanlarının kendine özgü değer ve etik ilkeleri vardır ve bu mesleğin üyeleri bu değer ve ilkeler doğrultusunda davranırlar. </a:t>
            </a:r>
          </a:p>
        </p:txBody>
      </p:sp>
      <p:pic>
        <p:nvPicPr>
          <p:cNvPr id="3" name="Resi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23621" y="4200525"/>
            <a:ext cx="2524125" cy="1809750"/>
          </a:xfrm>
          <a:prstGeom prst="rect">
            <a:avLst/>
          </a:prstGeom>
        </p:spPr>
      </p:pic>
    </p:spTree>
    <p:extLst>
      <p:ext uri="{BB962C8B-B14F-4D97-AF65-F5344CB8AC3E}">
        <p14:creationId xmlns:p14="http://schemas.microsoft.com/office/powerpoint/2010/main" val="2815500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852863" y="2136339"/>
            <a:ext cx="7291137" cy="2862322"/>
          </a:xfrm>
          <a:prstGeom prst="rect">
            <a:avLst/>
          </a:prstGeom>
        </p:spPr>
        <p:txBody>
          <a:bodyPr wrap="square">
            <a:spAutoFit/>
          </a:bodyPr>
          <a:lstStyle/>
          <a:p>
            <a:r>
              <a:rPr lang="tr-TR" dirty="0">
                <a:solidFill>
                  <a:srgbClr val="FF0000"/>
                </a:solidFill>
                <a:latin typeface="Comic Sans MS" panose="030F0702030302020204" pitchFamily="66" charset="0"/>
                <a:ea typeface="Times New Roman" panose="02020603050405020304" pitchFamily="18" charset="0"/>
              </a:rPr>
              <a:t>Meslek etiği</a:t>
            </a:r>
            <a:r>
              <a:rPr lang="tr-TR" dirty="0">
                <a:latin typeface="Comic Sans MS" panose="030F0702030302020204" pitchFamily="66" charset="0"/>
                <a:ea typeface="Times New Roman" panose="02020603050405020304" pitchFamily="18" charset="0"/>
              </a:rPr>
              <a:t>, özellikle doğrudan doğruya insanla ilgili mesleklerde uyulması gereken davranış kuralları olarak tanımlanabilir. </a:t>
            </a:r>
          </a:p>
          <a:p>
            <a:endParaRPr lang="tr-TR" dirty="0">
              <a:latin typeface="Comic Sans MS" panose="030F0702030302020204" pitchFamily="66" charset="0"/>
              <a:ea typeface="Times New Roman" panose="02020603050405020304" pitchFamily="18" charset="0"/>
            </a:endParaRPr>
          </a:p>
          <a:p>
            <a:r>
              <a:rPr lang="tr-TR" dirty="0">
                <a:solidFill>
                  <a:srgbClr val="FF0000"/>
                </a:solidFill>
                <a:latin typeface="Comic Sans MS" panose="030F0702030302020204" pitchFamily="66" charset="0"/>
                <a:ea typeface="Times New Roman" panose="02020603050405020304" pitchFamily="18" charset="0"/>
              </a:rPr>
              <a:t>Meslek etiğinin </a:t>
            </a:r>
            <a:r>
              <a:rPr lang="tr-TR" dirty="0">
                <a:latin typeface="Comic Sans MS" panose="030F0702030302020204" pitchFamily="66" charset="0"/>
                <a:ea typeface="Times New Roman" panose="02020603050405020304" pitchFamily="18" charset="0"/>
              </a:rPr>
              <a:t>en önemli yanlarından biri, dünyanın neresinde olursa olsun, aynı meslekte çalışan bireylerin bu davranış kurallarına uygun davranmalarının gerekli olmasıdır </a:t>
            </a:r>
          </a:p>
          <a:p>
            <a:endParaRPr lang="tr-TR" dirty="0">
              <a:latin typeface="Comic Sans MS" panose="030F0702030302020204" pitchFamily="66" charset="0"/>
              <a:ea typeface="Times New Roman" panose="02020603050405020304" pitchFamily="18" charset="0"/>
            </a:endParaRPr>
          </a:p>
          <a:p>
            <a:r>
              <a:rPr lang="tr-TR" dirty="0">
                <a:solidFill>
                  <a:srgbClr val="FF0000"/>
                </a:solidFill>
                <a:latin typeface="Comic Sans MS" panose="030F0702030302020204" pitchFamily="66" charset="0"/>
                <a:ea typeface="Times New Roman" panose="02020603050405020304" pitchFamily="18" charset="0"/>
              </a:rPr>
              <a:t>Mesleki etiğinin  </a:t>
            </a:r>
            <a:r>
              <a:rPr lang="tr-TR" dirty="0">
                <a:latin typeface="Comic Sans MS" panose="030F0702030302020204" pitchFamily="66" charset="0"/>
                <a:ea typeface="Times New Roman" panose="02020603050405020304" pitchFamily="18" charset="0"/>
              </a:rPr>
              <a:t>temelinde insanlarla ilişkiler yatar. Aynı meslekten bireylerin birbirleri ile ilişkilerinde belli davranış kalıplarına uymaları meslek etiğinin gereğidir</a:t>
            </a:r>
            <a:endParaRPr lang="tr-TR" dirty="0">
              <a:latin typeface="Comic Sans MS" panose="030F0702030302020204" pitchFamily="66" charset="0"/>
            </a:endParaRPr>
          </a:p>
        </p:txBody>
      </p:sp>
      <p:pic>
        <p:nvPicPr>
          <p:cNvPr id="3" name="Resi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88542" y="3567500"/>
            <a:ext cx="2362200" cy="1943100"/>
          </a:xfrm>
          <a:prstGeom prst="rect">
            <a:avLst/>
          </a:prstGeom>
        </p:spPr>
      </p:pic>
    </p:spTree>
    <p:extLst>
      <p:ext uri="{BB962C8B-B14F-4D97-AF65-F5344CB8AC3E}">
        <p14:creationId xmlns:p14="http://schemas.microsoft.com/office/powerpoint/2010/main" val="4074237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470485" y="2233136"/>
            <a:ext cx="7716252" cy="1477328"/>
          </a:xfrm>
          <a:prstGeom prst="rect">
            <a:avLst/>
          </a:prstGeom>
        </p:spPr>
        <p:txBody>
          <a:bodyPr wrap="square">
            <a:spAutoFit/>
          </a:bodyPr>
          <a:lstStyle/>
          <a:p>
            <a:r>
              <a:rPr lang="tr-TR" dirty="0">
                <a:solidFill>
                  <a:srgbClr val="FF0000"/>
                </a:solidFill>
                <a:latin typeface="Comic Sans MS" panose="030F0702030302020204" pitchFamily="66" charset="0"/>
                <a:ea typeface="Times New Roman" panose="02020603050405020304" pitchFamily="18" charset="0"/>
              </a:rPr>
              <a:t>Mesleki etik</a:t>
            </a:r>
            <a:r>
              <a:rPr lang="tr-TR" dirty="0">
                <a:latin typeface="Comic Sans MS" panose="030F0702030302020204" pitchFamily="66" charset="0"/>
                <a:ea typeface="Times New Roman" panose="02020603050405020304" pitchFamily="18" charset="0"/>
              </a:rPr>
              <a:t>, her zaman bir grubun eseridir. </a:t>
            </a:r>
          </a:p>
          <a:p>
            <a:r>
              <a:rPr lang="tr-TR" dirty="0">
                <a:latin typeface="Comic Sans MS" panose="030F0702030302020204" pitchFamily="66" charset="0"/>
                <a:ea typeface="Times New Roman" panose="02020603050405020304" pitchFamily="18" charset="0"/>
              </a:rPr>
              <a:t>Mesleki etik grup onu koruduğu sürece yürürlükte kalabilen ve bireylere emreden, onları şu ya da bu şekilde davranmaya zorlayan, kişisel eğilimlerine bir sınır çizen ve daha ileri gitmelerine engel olan kurallardan oluşmuştur </a:t>
            </a:r>
            <a:endParaRPr lang="tr-TR" dirty="0">
              <a:latin typeface="Comic Sans MS" panose="030F0702030302020204" pitchFamily="66" charset="0"/>
            </a:endParaRPr>
          </a:p>
        </p:txBody>
      </p:sp>
      <p:pic>
        <p:nvPicPr>
          <p:cNvPr id="3" name="Resi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71196" y="4185735"/>
            <a:ext cx="2619375" cy="1743075"/>
          </a:xfrm>
          <a:prstGeom prst="rect">
            <a:avLst/>
          </a:prstGeom>
        </p:spPr>
      </p:pic>
    </p:spTree>
    <p:extLst>
      <p:ext uri="{BB962C8B-B14F-4D97-AF65-F5344CB8AC3E}">
        <p14:creationId xmlns:p14="http://schemas.microsoft.com/office/powerpoint/2010/main" val="4190468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221831" y="2052935"/>
            <a:ext cx="7475622" cy="2862322"/>
          </a:xfrm>
          <a:prstGeom prst="rect">
            <a:avLst/>
          </a:prstGeom>
        </p:spPr>
        <p:txBody>
          <a:bodyPr wrap="square">
            <a:spAutoFit/>
          </a:bodyPr>
          <a:lstStyle/>
          <a:p>
            <a:r>
              <a:rPr lang="tr-TR" dirty="0">
                <a:solidFill>
                  <a:srgbClr val="FF0000"/>
                </a:solidFill>
                <a:latin typeface="Comic Sans MS" panose="030F0702030302020204" pitchFamily="66" charset="0"/>
                <a:ea typeface="Times New Roman" panose="02020603050405020304" pitchFamily="18" charset="0"/>
              </a:rPr>
              <a:t>Mesleki etik kuralları </a:t>
            </a:r>
            <a:r>
              <a:rPr lang="tr-TR" dirty="0">
                <a:latin typeface="Comic Sans MS" panose="030F0702030302020204" pitchFamily="66" charset="0"/>
                <a:ea typeface="Times New Roman" panose="02020603050405020304" pitchFamily="18" charset="0"/>
              </a:rPr>
              <a:t>olarak belirlenen ve üyelerinin genel ve ortak olan davranış biçimlerini tanımlayan ilkelerin üç temel işlevi vardır</a:t>
            </a:r>
          </a:p>
          <a:p>
            <a:endParaRPr lang="tr-TR" dirty="0">
              <a:latin typeface="Comic Sans MS" panose="030F0702030302020204" pitchFamily="66" charset="0"/>
              <a:ea typeface="Times New Roman" panose="02020603050405020304" pitchFamily="18" charset="0"/>
            </a:endParaRPr>
          </a:p>
          <a:p>
            <a:r>
              <a:rPr lang="tr-TR" dirty="0">
                <a:latin typeface="Comic Sans MS" panose="030F0702030302020204" pitchFamily="66" charset="0"/>
              </a:rPr>
              <a:t>1. Yetersiz ve ilkesiz üyeleri ayırmak</a:t>
            </a:r>
          </a:p>
          <a:p>
            <a:r>
              <a:rPr lang="tr-TR" dirty="0">
                <a:latin typeface="Comic Sans MS" panose="030F0702030302020204" pitchFamily="66" charset="0"/>
              </a:rPr>
              <a:t>	</a:t>
            </a:r>
          </a:p>
          <a:p>
            <a:r>
              <a:rPr lang="tr-TR" dirty="0">
                <a:latin typeface="Comic Sans MS" panose="030F0702030302020204" pitchFamily="66" charset="0"/>
              </a:rPr>
              <a:t>2. Meslek içi rekabeti düzenlemek</a:t>
            </a:r>
          </a:p>
          <a:p>
            <a:r>
              <a:rPr lang="tr-TR" dirty="0">
                <a:latin typeface="Comic Sans MS" panose="030F0702030302020204" pitchFamily="66" charset="0"/>
              </a:rPr>
              <a:t>	</a:t>
            </a:r>
          </a:p>
          <a:p>
            <a:r>
              <a:rPr lang="tr-TR" dirty="0">
                <a:latin typeface="Comic Sans MS" panose="030F0702030302020204" pitchFamily="66" charset="0"/>
              </a:rPr>
              <a:t>3. Hizmet ideallerini korumak</a:t>
            </a:r>
          </a:p>
          <a:p>
            <a:endParaRPr lang="tr-TR" dirty="0">
              <a:latin typeface="Comic Sans MS" panose="030F0702030302020204" pitchFamily="66" charset="0"/>
              <a:ea typeface="Times New Roman" panose="02020603050405020304" pitchFamily="18" charset="0"/>
            </a:endParaRPr>
          </a:p>
          <a:p>
            <a:endParaRPr lang="tr-TR" dirty="0"/>
          </a:p>
        </p:txBody>
      </p:sp>
    </p:spTree>
    <p:extLst>
      <p:ext uri="{BB962C8B-B14F-4D97-AF65-F5344CB8AC3E}">
        <p14:creationId xmlns:p14="http://schemas.microsoft.com/office/powerpoint/2010/main" val="1254573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938463" y="1068448"/>
            <a:ext cx="9585158" cy="4985980"/>
          </a:xfrm>
          <a:prstGeom prst="rect">
            <a:avLst/>
          </a:prstGeom>
        </p:spPr>
        <p:txBody>
          <a:bodyPr wrap="square">
            <a:spAutoFit/>
          </a:bodyPr>
          <a:lstStyle/>
          <a:p>
            <a:pPr algn="just">
              <a:spcAft>
                <a:spcPts val="0"/>
              </a:spcAft>
            </a:pPr>
            <a:r>
              <a:rPr lang="tr-TR" dirty="0">
                <a:solidFill>
                  <a:srgbClr val="FF0000"/>
                </a:solidFill>
                <a:latin typeface="Comic Sans MS" panose="030F0702030302020204" pitchFamily="66" charset="0"/>
                <a:ea typeface="Times New Roman" panose="02020603050405020304" pitchFamily="18" charset="0"/>
              </a:rPr>
              <a:t>Meslek etiği </a:t>
            </a:r>
            <a:r>
              <a:rPr lang="tr-TR" dirty="0">
                <a:latin typeface="Comic Sans MS" panose="030F0702030302020204" pitchFamily="66" charset="0"/>
                <a:ea typeface="Times New Roman" panose="02020603050405020304" pitchFamily="18" charset="0"/>
              </a:rPr>
              <a:t>ilkeleri ile aynı işlevi gören </a:t>
            </a:r>
            <a:r>
              <a:rPr lang="tr-TR" dirty="0">
                <a:solidFill>
                  <a:srgbClr val="FF0000"/>
                </a:solidFill>
                <a:latin typeface="Comic Sans MS" panose="030F0702030302020204" pitchFamily="66" charset="0"/>
                <a:ea typeface="Times New Roman" panose="02020603050405020304" pitchFamily="18" charset="0"/>
              </a:rPr>
              <a:t>mesleki etik kodlar </a:t>
            </a:r>
            <a:r>
              <a:rPr lang="tr-TR" dirty="0">
                <a:latin typeface="Comic Sans MS" panose="030F0702030302020204" pitchFamily="66" charset="0"/>
                <a:ea typeface="Times New Roman" panose="02020603050405020304" pitchFamily="18" charset="0"/>
              </a:rPr>
              <a:t>da söz konusudur. </a:t>
            </a:r>
            <a:r>
              <a:rPr lang="tr-TR" dirty="0">
                <a:solidFill>
                  <a:srgbClr val="FF0000"/>
                </a:solidFill>
                <a:latin typeface="Comic Sans MS" panose="030F0702030302020204" pitchFamily="66" charset="0"/>
                <a:ea typeface="Times New Roman" panose="02020603050405020304" pitchFamily="18" charset="0"/>
              </a:rPr>
              <a:t>Etik kod</a:t>
            </a:r>
            <a:r>
              <a:rPr lang="tr-TR" dirty="0">
                <a:latin typeface="Comic Sans MS" panose="030F0702030302020204" pitchFamily="66" charset="0"/>
                <a:ea typeface="Times New Roman" panose="02020603050405020304" pitchFamily="18" charset="0"/>
              </a:rPr>
              <a:t>, çalışanların hangi davranışlarının kabul edilebilir bulunduğuna ilişkin olarak yol gösteren, meslek ya da kurum tarafından beklenen resmi ifadelerdir.</a:t>
            </a:r>
          </a:p>
          <a:p>
            <a:pPr algn="just">
              <a:spcAft>
                <a:spcPts val="0"/>
              </a:spcAft>
            </a:pPr>
            <a:endParaRPr lang="tr-TR" dirty="0">
              <a:latin typeface="Comic Sans MS" panose="030F0702030302020204" pitchFamily="66" charset="0"/>
              <a:ea typeface="Times New Roman" panose="02020603050405020304" pitchFamily="18" charset="0"/>
            </a:endParaRPr>
          </a:p>
          <a:p>
            <a:pPr algn="just">
              <a:spcAft>
                <a:spcPts val="0"/>
              </a:spcAft>
            </a:pPr>
            <a:r>
              <a:rPr lang="tr-TR" dirty="0">
                <a:latin typeface="Comic Sans MS" panose="030F0702030302020204" pitchFamily="66" charset="0"/>
                <a:ea typeface="Times New Roman" panose="02020603050405020304" pitchFamily="18" charset="0"/>
              </a:rPr>
              <a:t> </a:t>
            </a:r>
            <a:r>
              <a:rPr lang="tr-TR" dirty="0">
                <a:solidFill>
                  <a:srgbClr val="FF0000"/>
                </a:solidFill>
                <a:latin typeface="Comic Sans MS" panose="030F0702030302020204" pitchFamily="66" charset="0"/>
                <a:ea typeface="Times New Roman" panose="02020603050405020304" pitchFamily="18" charset="0"/>
              </a:rPr>
              <a:t>Meslek etiği ilkeleri ya da kodları aşağıdaki yararları sağlar</a:t>
            </a:r>
            <a:r>
              <a:rPr lang="tr-TR" dirty="0">
                <a:latin typeface="Comic Sans MS" panose="030F0702030302020204" pitchFamily="66" charset="0"/>
                <a:ea typeface="Times New Roman" panose="02020603050405020304" pitchFamily="18" charset="0"/>
              </a:rPr>
              <a:t>: </a:t>
            </a:r>
          </a:p>
          <a:p>
            <a:pPr algn="just">
              <a:spcAft>
                <a:spcPts val="0"/>
              </a:spcAft>
            </a:pPr>
            <a:endParaRPr lang="tr-TR" sz="1200" dirty="0">
              <a:latin typeface="Comic Sans MS" panose="030F0702030302020204" pitchFamily="66" charset="0"/>
              <a:ea typeface="Times New Roman" panose="02020603050405020304" pitchFamily="18" charset="0"/>
            </a:endParaRPr>
          </a:p>
          <a:p>
            <a:pPr marL="342900" indent="-342900" algn="just">
              <a:spcAft>
                <a:spcPts val="0"/>
              </a:spcAft>
              <a:buAutoNum type="arabicPeriod"/>
            </a:pPr>
            <a:r>
              <a:rPr lang="tr-TR" dirty="0">
                <a:latin typeface="Comic Sans MS" panose="030F0702030302020204" pitchFamily="66" charset="0"/>
                <a:ea typeface="Times New Roman" panose="02020603050405020304" pitchFamily="18" charset="0"/>
              </a:rPr>
              <a:t>Meslektaş baskısı sağlayarak, bireyleri etik davranış göstermeye motive eder</a:t>
            </a:r>
          </a:p>
          <a:p>
            <a:pPr marL="228600" indent="-228600" algn="just">
              <a:spcAft>
                <a:spcPts val="0"/>
              </a:spcAft>
              <a:buAutoNum type="arabicPeriod"/>
            </a:pPr>
            <a:endParaRPr lang="tr-TR" sz="1200" dirty="0">
              <a:latin typeface="Comic Sans MS" panose="030F0702030302020204" pitchFamily="66" charset="0"/>
              <a:ea typeface="Times New Roman" panose="02020603050405020304" pitchFamily="18" charset="0"/>
            </a:endParaRPr>
          </a:p>
          <a:p>
            <a:pPr algn="just">
              <a:spcAft>
                <a:spcPts val="0"/>
              </a:spcAft>
            </a:pPr>
            <a:r>
              <a:rPr lang="tr-TR" dirty="0">
                <a:latin typeface="Comic Sans MS" panose="030F0702030302020204" pitchFamily="66" charset="0"/>
                <a:ea typeface="Times New Roman" panose="02020603050405020304" pitchFamily="18" charset="0"/>
              </a:rPr>
              <a:t>2. Bireylerin kişilikleri yerine doğru ya da yanlış eylemler konusunda daha tutarlı     ve kararlı bir rehberlik sağlar</a:t>
            </a:r>
          </a:p>
          <a:p>
            <a:pPr algn="just">
              <a:spcAft>
                <a:spcPts val="0"/>
              </a:spcAft>
            </a:pPr>
            <a:endParaRPr lang="tr-TR" sz="1200" dirty="0">
              <a:latin typeface="Comic Sans MS" panose="030F0702030302020204" pitchFamily="66" charset="0"/>
              <a:ea typeface="Times New Roman" panose="02020603050405020304" pitchFamily="18" charset="0"/>
            </a:endParaRPr>
          </a:p>
          <a:p>
            <a:pPr marL="342900" indent="-342900" algn="just">
              <a:spcAft>
                <a:spcPts val="0"/>
              </a:spcAft>
              <a:buAutoNum type="arabicPeriod" startAt="3"/>
            </a:pPr>
            <a:r>
              <a:rPr lang="tr-TR" dirty="0">
                <a:latin typeface="Comic Sans MS" panose="030F0702030302020204" pitchFamily="66" charset="0"/>
                <a:ea typeface="Times New Roman" panose="02020603050405020304" pitchFamily="18" charset="0"/>
              </a:rPr>
              <a:t>Belirsiz durumlarda nasıl davranılacağı konusunda rehberlik eder</a:t>
            </a:r>
          </a:p>
          <a:p>
            <a:pPr marL="228600" indent="-228600" algn="just">
              <a:spcAft>
                <a:spcPts val="0"/>
              </a:spcAft>
              <a:buAutoNum type="arabicPeriod" startAt="3"/>
            </a:pPr>
            <a:endParaRPr lang="tr-TR" sz="1200" dirty="0">
              <a:latin typeface="Comic Sans MS" panose="030F0702030302020204" pitchFamily="66" charset="0"/>
              <a:ea typeface="Times New Roman" panose="02020603050405020304" pitchFamily="18" charset="0"/>
            </a:endParaRPr>
          </a:p>
          <a:p>
            <a:pPr marL="342900" indent="-342900" algn="just">
              <a:spcAft>
                <a:spcPts val="0"/>
              </a:spcAft>
              <a:buAutoNum type="arabicPeriod" startAt="4"/>
            </a:pPr>
            <a:r>
              <a:rPr lang="tr-TR" dirty="0">
                <a:latin typeface="Comic Sans MS" panose="030F0702030302020204" pitchFamily="66" charset="0"/>
                <a:ea typeface="Times New Roman" panose="02020603050405020304" pitchFamily="18" charset="0"/>
              </a:rPr>
              <a:t>Yöneticilerin </a:t>
            </a:r>
            <a:r>
              <a:rPr lang="tr-TR" dirty="0" err="1">
                <a:latin typeface="Comic Sans MS" panose="030F0702030302020204" pitchFamily="66" charset="0"/>
                <a:ea typeface="Times New Roman" panose="02020603050405020304" pitchFamily="18" charset="0"/>
              </a:rPr>
              <a:t>otokratik</a:t>
            </a:r>
            <a:r>
              <a:rPr lang="tr-TR" dirty="0">
                <a:latin typeface="Comic Sans MS" panose="030F0702030302020204" pitchFamily="66" charset="0"/>
                <a:ea typeface="Times New Roman" panose="02020603050405020304" pitchFamily="18" charset="0"/>
              </a:rPr>
              <a:t> gücünü </a:t>
            </a:r>
            <a:r>
              <a:rPr lang="tr-TR">
                <a:latin typeface="Comic Sans MS" panose="030F0702030302020204" pitchFamily="66" charset="0"/>
                <a:ea typeface="Times New Roman" panose="02020603050405020304" pitchFamily="18" charset="0"/>
              </a:rPr>
              <a:t>kontrol eder.</a:t>
            </a:r>
            <a:endParaRPr lang="tr-TR" dirty="0">
              <a:latin typeface="Comic Sans MS" panose="030F0702030302020204" pitchFamily="66" charset="0"/>
              <a:ea typeface="Times New Roman" panose="02020603050405020304" pitchFamily="18" charset="0"/>
            </a:endParaRPr>
          </a:p>
          <a:p>
            <a:pPr algn="just">
              <a:spcAft>
                <a:spcPts val="0"/>
              </a:spcAft>
            </a:pPr>
            <a:endParaRPr lang="tr-TR" sz="1200" dirty="0">
              <a:latin typeface="Comic Sans MS" panose="030F0702030302020204" pitchFamily="66" charset="0"/>
              <a:ea typeface="Times New Roman" panose="02020603050405020304" pitchFamily="18" charset="0"/>
            </a:endParaRPr>
          </a:p>
          <a:p>
            <a:pPr marL="342900" indent="-342900" algn="just">
              <a:spcAft>
                <a:spcPts val="0"/>
              </a:spcAft>
              <a:buAutoNum type="arabicPeriod" startAt="5"/>
            </a:pPr>
            <a:r>
              <a:rPr lang="tr-TR" dirty="0">
                <a:latin typeface="Comic Sans MS" panose="030F0702030302020204" pitchFamily="66" charset="0"/>
                <a:ea typeface="Times New Roman" panose="02020603050405020304" pitchFamily="18" charset="0"/>
              </a:rPr>
              <a:t>Kurumların toplumsal sorumluluklarını tanımlar</a:t>
            </a:r>
          </a:p>
          <a:p>
            <a:pPr marL="228600" indent="-228600" algn="just">
              <a:spcAft>
                <a:spcPts val="0"/>
              </a:spcAft>
              <a:buAutoNum type="arabicPeriod" startAt="5"/>
            </a:pPr>
            <a:endParaRPr lang="tr-TR" sz="1200" dirty="0">
              <a:latin typeface="Comic Sans MS" panose="030F0702030302020204" pitchFamily="66" charset="0"/>
              <a:ea typeface="Times New Roman" panose="02020603050405020304" pitchFamily="18" charset="0"/>
            </a:endParaRPr>
          </a:p>
          <a:p>
            <a:pPr marL="342900" indent="-342900" algn="just">
              <a:spcAft>
                <a:spcPts val="0"/>
              </a:spcAft>
              <a:buAutoNum type="arabicPeriod" startAt="6"/>
            </a:pPr>
            <a:r>
              <a:rPr lang="tr-TR" dirty="0">
                <a:latin typeface="Comic Sans MS" panose="030F0702030302020204" pitchFamily="66" charset="0"/>
                <a:ea typeface="Times New Roman" panose="02020603050405020304" pitchFamily="18" charset="0"/>
              </a:rPr>
              <a:t>Kurumun ya da mesleğin çıkarlarına hizmet eder</a:t>
            </a:r>
          </a:p>
          <a:p>
            <a:pPr marL="228600" indent="-228600" algn="just">
              <a:spcAft>
                <a:spcPts val="0"/>
              </a:spcAft>
              <a:buAutoNum type="arabicPeriod" startAt="6"/>
            </a:pPr>
            <a:endParaRPr lang="tr-TR" sz="1200" dirty="0">
              <a:latin typeface="Times New Roman" panose="02020603050405020304" pitchFamily="18" charset="0"/>
              <a:ea typeface="Times New Roman" panose="02020603050405020304" pitchFamily="18" charset="0"/>
            </a:endParaRPr>
          </a:p>
          <a:p>
            <a:pPr algn="just">
              <a:spcAft>
                <a:spcPts val="0"/>
              </a:spcAft>
            </a:pPr>
            <a:r>
              <a:rPr lang="tr-TR" dirty="0">
                <a:latin typeface="Times New Roman" panose="02020603050405020304" pitchFamily="18" charset="0"/>
                <a:ea typeface="Times New Roman" panose="02020603050405020304" pitchFamily="18" charset="0"/>
              </a:rPr>
              <a:t> </a:t>
            </a:r>
            <a:endParaRPr lang="tr-TR" sz="1200" dirty="0">
              <a:effectLst/>
              <a:latin typeface="Times New Roman" panose="02020603050405020304" pitchFamily="18" charset="0"/>
              <a:ea typeface="Times New Roman" panose="02020603050405020304" pitchFamily="18" charset="0"/>
            </a:endParaRPr>
          </a:p>
        </p:txBody>
      </p:sp>
      <p:pic>
        <p:nvPicPr>
          <p:cNvPr id="3" name="Resim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90383" y="4665407"/>
            <a:ext cx="1800000" cy="864961"/>
          </a:xfrm>
          <a:prstGeom prst="rect">
            <a:avLst/>
          </a:prstGeom>
        </p:spPr>
      </p:pic>
    </p:spTree>
    <p:extLst>
      <p:ext uri="{BB962C8B-B14F-4D97-AF65-F5344CB8AC3E}">
        <p14:creationId xmlns:p14="http://schemas.microsoft.com/office/powerpoint/2010/main" val="16422265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315453" y="1611232"/>
            <a:ext cx="8053137" cy="1754326"/>
          </a:xfrm>
          <a:prstGeom prst="rect">
            <a:avLst/>
          </a:prstGeom>
        </p:spPr>
        <p:txBody>
          <a:bodyPr wrap="square">
            <a:spAutoFit/>
          </a:bodyPr>
          <a:lstStyle/>
          <a:p>
            <a:pPr algn="just">
              <a:spcAft>
                <a:spcPts val="0"/>
              </a:spcAft>
            </a:pPr>
            <a:r>
              <a:rPr lang="tr-TR" b="1" dirty="0">
                <a:solidFill>
                  <a:srgbClr val="FF0000"/>
                </a:solidFill>
                <a:latin typeface="Comic Sans MS" panose="030F0702030302020204" pitchFamily="66" charset="0"/>
                <a:ea typeface="Times New Roman" panose="02020603050405020304" pitchFamily="18" charset="0"/>
              </a:rPr>
              <a:t>Davranışın Etik Açıdan Yargılanması</a:t>
            </a:r>
            <a:endParaRPr lang="tr-TR" sz="1200" dirty="0">
              <a:solidFill>
                <a:srgbClr val="FF0000"/>
              </a:solidFill>
              <a:latin typeface="Comic Sans MS" panose="030F0702030302020204" pitchFamily="66" charset="0"/>
              <a:ea typeface="Times New Roman" panose="02020603050405020304" pitchFamily="18" charset="0"/>
            </a:endParaRPr>
          </a:p>
          <a:p>
            <a:pPr algn="just">
              <a:spcAft>
                <a:spcPts val="0"/>
              </a:spcAft>
            </a:pPr>
            <a:r>
              <a:rPr lang="tr-TR" dirty="0">
                <a:latin typeface="Comic Sans MS" panose="030F0702030302020204" pitchFamily="66" charset="0"/>
                <a:ea typeface="Times New Roman" panose="02020603050405020304" pitchFamily="18" charset="0"/>
              </a:rPr>
              <a:t>	</a:t>
            </a:r>
          </a:p>
          <a:p>
            <a:r>
              <a:rPr lang="tr-TR" dirty="0">
                <a:latin typeface="Comic Sans MS" panose="030F0702030302020204" pitchFamily="66" charset="0"/>
                <a:ea typeface="Times New Roman" panose="02020603050405020304" pitchFamily="18" charset="0"/>
              </a:rPr>
              <a:t>Çalışanlar etik dışı davranışlara açgözlülükten- ideolojiye kadar değişen bir çok nedenlerle girişmektedirler. Ancak hiç kimse doğru görünen şeyi yapmak adına , yasaları bilmezlikten gelmek ya da </a:t>
            </a:r>
            <a:r>
              <a:rPr lang="tr-TR" dirty="0" err="1">
                <a:latin typeface="Comic Sans MS" panose="030F0702030302020204" pitchFamily="66" charset="0"/>
                <a:ea typeface="Times New Roman" panose="02020603050405020304" pitchFamily="18" charset="0"/>
              </a:rPr>
              <a:t>varolan</a:t>
            </a:r>
            <a:r>
              <a:rPr lang="tr-TR" dirty="0">
                <a:latin typeface="Comic Sans MS" panose="030F0702030302020204" pitchFamily="66" charset="0"/>
                <a:ea typeface="Times New Roman" panose="02020603050405020304" pitchFamily="18" charset="0"/>
              </a:rPr>
              <a:t> yasa ve yöntemleri geçersiz kılma yetkisine sahip değildir</a:t>
            </a:r>
            <a:endParaRPr lang="tr-TR" dirty="0">
              <a:latin typeface="Comic Sans MS" panose="030F0702030302020204" pitchFamily="66" charset="0"/>
            </a:endParaRPr>
          </a:p>
        </p:txBody>
      </p:sp>
      <p:pic>
        <p:nvPicPr>
          <p:cNvPr id="4" name="Resim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28236" y="4380102"/>
            <a:ext cx="2090057" cy="1460427"/>
          </a:xfrm>
          <a:prstGeom prst="rect">
            <a:avLst/>
          </a:prstGeom>
        </p:spPr>
      </p:pic>
    </p:spTree>
    <p:extLst>
      <p:ext uri="{BB962C8B-B14F-4D97-AF65-F5344CB8AC3E}">
        <p14:creationId xmlns:p14="http://schemas.microsoft.com/office/powerpoint/2010/main" val="561093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163053" y="1406968"/>
            <a:ext cx="8013031" cy="4985980"/>
          </a:xfrm>
          <a:prstGeom prst="rect">
            <a:avLst/>
          </a:prstGeom>
        </p:spPr>
        <p:txBody>
          <a:bodyPr wrap="square">
            <a:spAutoFit/>
          </a:bodyPr>
          <a:lstStyle/>
          <a:p>
            <a:r>
              <a:rPr lang="tr-TR" dirty="0">
                <a:latin typeface="Comic Sans MS" panose="030F0702030302020204" pitchFamily="66" charset="0"/>
                <a:ea typeface="Times New Roman" panose="02020603050405020304" pitchFamily="18" charset="0"/>
              </a:rPr>
              <a:t>Karmaşık ve şaşırtıcı olasılıklar arasında karar vermek gerektiğinde etik dışı davranışlardan kaçınmak için, yapılacak etik testler yararlı olmaktadır. </a:t>
            </a:r>
          </a:p>
          <a:p>
            <a:r>
              <a:rPr lang="tr-TR" dirty="0">
                <a:latin typeface="Comic Sans MS" panose="030F0702030302020204" pitchFamily="66" charset="0"/>
                <a:ea typeface="Times New Roman" panose="02020603050405020304" pitchFamily="18" charset="0"/>
              </a:rPr>
              <a:t>Bu amaçla bir çalışan, belli bir konuda karar vermeden önce şu altı soruya yanıt vermelidir.</a:t>
            </a:r>
          </a:p>
          <a:p>
            <a:endParaRPr lang="tr-TR" dirty="0">
              <a:latin typeface="Comic Sans MS" panose="030F0702030302020204" pitchFamily="66" charset="0"/>
              <a:ea typeface="Times New Roman" panose="02020603050405020304" pitchFamily="18" charset="0"/>
            </a:endParaRPr>
          </a:p>
          <a:p>
            <a:pPr marL="342900" indent="-342900">
              <a:buAutoNum type="arabicPeriod"/>
            </a:pPr>
            <a:r>
              <a:rPr lang="tr-TR" b="1" dirty="0">
                <a:solidFill>
                  <a:srgbClr val="FF0000"/>
                </a:solidFill>
                <a:latin typeface="Comic Sans MS" panose="030F0702030302020204" pitchFamily="66" charset="0"/>
                <a:ea typeface="Times New Roman" panose="02020603050405020304" pitchFamily="18" charset="0"/>
              </a:rPr>
              <a:t>Bu doğru mu ?</a:t>
            </a:r>
            <a:r>
              <a:rPr lang="tr-TR" dirty="0">
                <a:solidFill>
                  <a:srgbClr val="FF0000"/>
                </a:solidFill>
                <a:latin typeface="Comic Sans MS" panose="030F0702030302020204" pitchFamily="66" charset="0"/>
                <a:ea typeface="Times New Roman" panose="02020603050405020304" pitchFamily="18" charset="0"/>
              </a:rPr>
              <a:t> </a:t>
            </a:r>
            <a:r>
              <a:rPr lang="tr-TR" dirty="0">
                <a:latin typeface="Comic Sans MS" panose="030F0702030302020204" pitchFamily="66" charset="0"/>
                <a:ea typeface="Times New Roman" panose="02020603050405020304" pitchFamily="18" charset="0"/>
              </a:rPr>
              <a:t>Bu soru, doğru ve yanlışın açıkça değerlendirilmesini </a:t>
            </a:r>
            <a:r>
              <a:rPr lang="tr-TR" dirty="0" err="1">
                <a:latin typeface="Comic Sans MS" panose="030F0702030302020204" pitchFamily="66" charset="0"/>
                <a:ea typeface="Times New Roman" panose="02020603050405020304" pitchFamily="18" charset="0"/>
              </a:rPr>
              <a:t>gerektirir.Bu</a:t>
            </a:r>
            <a:r>
              <a:rPr lang="tr-TR" dirty="0">
                <a:latin typeface="Comic Sans MS" panose="030F0702030302020204" pitchFamily="66" charset="0"/>
                <a:ea typeface="Times New Roman" panose="02020603050405020304" pitchFamily="18" charset="0"/>
              </a:rPr>
              <a:t> soruyu yanıtlarken akılda tutulması gereken bir yaklaşım da “başkalarına, sana davranmalarını istediğin gibi davran”  ilkesidir. Bu ilke çerçevesinde verilen kararın ya da yapılması düşünülen eylemlerin doğruluğu tartışılmalıdır.</a:t>
            </a:r>
          </a:p>
          <a:p>
            <a:pPr marL="228600" indent="-228600">
              <a:buAutoNum type="arabicPeriod"/>
            </a:pPr>
            <a:endParaRPr lang="tr-TR" sz="1200" dirty="0">
              <a:latin typeface="Comic Sans MS" panose="030F0702030302020204" pitchFamily="66" charset="0"/>
              <a:ea typeface="Times New Roman" panose="02020603050405020304" pitchFamily="18" charset="0"/>
            </a:endParaRPr>
          </a:p>
          <a:p>
            <a:r>
              <a:rPr lang="tr-TR" b="1" dirty="0">
                <a:solidFill>
                  <a:srgbClr val="FF0000"/>
                </a:solidFill>
                <a:latin typeface="Comic Sans MS" panose="030F0702030302020204" pitchFamily="66" charset="0"/>
                <a:ea typeface="Times New Roman" panose="02020603050405020304" pitchFamily="18" charset="0"/>
              </a:rPr>
              <a:t>2.  Bu adil mi? </a:t>
            </a:r>
            <a:r>
              <a:rPr lang="tr-TR" dirty="0">
                <a:latin typeface="Comic Sans MS" panose="030F0702030302020204" pitchFamily="66" charset="0"/>
                <a:ea typeface="Times New Roman" panose="02020603050405020304" pitchFamily="18" charset="0"/>
              </a:rPr>
              <a:t>Bu sorunun yanıtı, altın kural olarak nitelenen bir başka soruda gizlidir. Aynı durumda siz karşıdakinin yerinde olsaydınız ve bu davranış size yapılsaydı, bunun adil olduğunu düşünür müydünüz ? Eğer bu soruya evet diyemiyorsanız, davranış ya da kararı yeniden gözden geçirmek gerekmektedir.</a:t>
            </a:r>
            <a:endParaRPr lang="tr-TR" dirty="0">
              <a:latin typeface="Comic Sans MS" panose="030F0702030302020204" pitchFamily="66" charset="0"/>
            </a:endParaRPr>
          </a:p>
          <a:p>
            <a:endParaRPr lang="tr-TR" dirty="0">
              <a:latin typeface="Comic Sans MS" panose="030F0702030302020204" pitchFamily="66" charset="0"/>
            </a:endParaRPr>
          </a:p>
        </p:txBody>
      </p:sp>
      <p:pic>
        <p:nvPicPr>
          <p:cNvPr id="3" name="Resi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42144" y="4185777"/>
            <a:ext cx="2524125" cy="1809750"/>
          </a:xfrm>
          <a:prstGeom prst="rect">
            <a:avLst/>
          </a:prstGeom>
        </p:spPr>
      </p:pic>
    </p:spTree>
    <p:extLst>
      <p:ext uri="{BB962C8B-B14F-4D97-AF65-F5344CB8AC3E}">
        <p14:creationId xmlns:p14="http://schemas.microsoft.com/office/powerpoint/2010/main" val="40797525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173704" y="2014894"/>
            <a:ext cx="6882064" cy="3323987"/>
          </a:xfrm>
          <a:prstGeom prst="rect">
            <a:avLst/>
          </a:prstGeom>
        </p:spPr>
        <p:txBody>
          <a:bodyPr wrap="square">
            <a:spAutoFit/>
          </a:bodyPr>
          <a:lstStyle/>
          <a:p>
            <a:pPr algn="just">
              <a:spcAft>
                <a:spcPts val="0"/>
              </a:spcAft>
            </a:pPr>
            <a:r>
              <a:rPr lang="tr-TR" dirty="0">
                <a:latin typeface="Times New Roman" panose="02020603050405020304" pitchFamily="18" charset="0"/>
                <a:ea typeface="Times New Roman" panose="02020603050405020304" pitchFamily="18" charset="0"/>
              </a:rPr>
              <a:t>	</a:t>
            </a:r>
            <a:r>
              <a:rPr lang="tr-TR" b="1" dirty="0">
                <a:solidFill>
                  <a:srgbClr val="FF0000"/>
                </a:solidFill>
                <a:latin typeface="Comic Sans MS" panose="030F0702030302020204" pitchFamily="66" charset="0"/>
                <a:ea typeface="Times New Roman" panose="02020603050405020304" pitchFamily="18" charset="0"/>
              </a:rPr>
              <a:t>3. Eğer birisi zarar görecekse bu kim ?</a:t>
            </a:r>
            <a:r>
              <a:rPr lang="tr-TR" dirty="0">
                <a:solidFill>
                  <a:srgbClr val="FF0000"/>
                </a:solidFill>
                <a:latin typeface="Comic Sans MS" panose="030F0702030302020204" pitchFamily="66" charset="0"/>
                <a:ea typeface="Times New Roman" panose="02020603050405020304" pitchFamily="18" charset="0"/>
              </a:rPr>
              <a:t> </a:t>
            </a:r>
            <a:r>
              <a:rPr lang="tr-TR" dirty="0">
                <a:latin typeface="Comic Sans MS" panose="030F0702030302020204" pitchFamily="66" charset="0"/>
                <a:ea typeface="Times New Roman" panose="02020603050405020304" pitchFamily="18" charset="0"/>
              </a:rPr>
              <a:t>Bu soru faydacılık kavramına dayalı bir sorudur. Bu yaklaşımın diğer boyutu kim kazanacak ? sorusudur. Bunu izleyen soru ise bu kişinin kaybetmeyi mi , kazanmayı mı hak ettiğine karar vermektir.</a:t>
            </a:r>
          </a:p>
          <a:p>
            <a:pPr algn="just">
              <a:spcAft>
                <a:spcPts val="0"/>
              </a:spcAft>
            </a:pPr>
            <a:endParaRPr lang="tr-TR" sz="1200" dirty="0">
              <a:latin typeface="Comic Sans MS" panose="030F0702030302020204" pitchFamily="66" charset="0"/>
              <a:ea typeface="Times New Roman" panose="02020603050405020304" pitchFamily="18" charset="0"/>
            </a:endParaRPr>
          </a:p>
          <a:p>
            <a:pPr algn="just">
              <a:spcAft>
                <a:spcPts val="0"/>
              </a:spcAft>
            </a:pPr>
            <a:r>
              <a:rPr lang="tr-TR" dirty="0">
                <a:latin typeface="Comic Sans MS" panose="030F0702030302020204" pitchFamily="66" charset="0"/>
                <a:ea typeface="Times New Roman" panose="02020603050405020304" pitchFamily="18" charset="0"/>
              </a:rPr>
              <a:t>	</a:t>
            </a:r>
            <a:r>
              <a:rPr lang="tr-TR" b="1" dirty="0">
                <a:solidFill>
                  <a:srgbClr val="FF0000"/>
                </a:solidFill>
                <a:latin typeface="Comic Sans MS" panose="030F0702030302020204" pitchFamily="66" charset="0"/>
                <a:ea typeface="Times New Roman" panose="02020603050405020304" pitchFamily="18" charset="0"/>
              </a:rPr>
              <a:t>4. Eğer verdiğiniz karar gazetelerin birinci sayfasında yer alsaydı kendinizi rahat hisseder miydiniz ?</a:t>
            </a:r>
            <a:r>
              <a:rPr lang="tr-TR" dirty="0">
                <a:solidFill>
                  <a:srgbClr val="FF0000"/>
                </a:solidFill>
                <a:latin typeface="Comic Sans MS" panose="030F0702030302020204" pitchFamily="66" charset="0"/>
                <a:ea typeface="Times New Roman" panose="02020603050405020304" pitchFamily="18" charset="0"/>
              </a:rPr>
              <a:t> </a:t>
            </a:r>
            <a:r>
              <a:rPr lang="tr-TR" dirty="0">
                <a:latin typeface="Comic Sans MS" panose="030F0702030302020204" pitchFamily="66" charset="0"/>
                <a:ea typeface="Times New Roman" panose="02020603050405020304" pitchFamily="18" charset="0"/>
              </a:rPr>
              <a:t>Eğer bu sorunun yanıtı “hayır” ise , hemen “niçin ?” sorusu sorulmalıdır. Bu soruya verilecek yanıt, sorunun tanımlanmasına yardım edecektir.</a:t>
            </a:r>
            <a:endParaRPr lang="tr-TR" sz="1200" dirty="0">
              <a:latin typeface="Comic Sans MS" panose="030F0702030302020204" pitchFamily="66" charset="0"/>
              <a:ea typeface="Times New Roman" panose="02020603050405020304" pitchFamily="18" charset="0"/>
            </a:endParaRPr>
          </a:p>
          <a:p>
            <a:pPr algn="just">
              <a:spcAft>
                <a:spcPts val="0"/>
              </a:spcAft>
            </a:pPr>
            <a:r>
              <a:rPr lang="tr-TR" dirty="0">
                <a:latin typeface="Comic Sans MS" panose="030F0702030302020204" pitchFamily="66" charset="0"/>
                <a:ea typeface="Times New Roman" panose="02020603050405020304" pitchFamily="18" charset="0"/>
              </a:rPr>
              <a:t>	</a:t>
            </a:r>
            <a:endParaRPr lang="tr-TR" sz="1200" dirty="0">
              <a:effectLst/>
              <a:latin typeface="Comic Sans MS" panose="030F0702030302020204" pitchFamily="66" charset="0"/>
              <a:ea typeface="Times New Roman" panose="02020603050405020304" pitchFamily="18" charset="0"/>
            </a:endParaRPr>
          </a:p>
        </p:txBody>
      </p:sp>
      <p:pic>
        <p:nvPicPr>
          <p:cNvPr id="3" name="Resim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52156" y="4288708"/>
            <a:ext cx="2133333" cy="1800000"/>
          </a:xfrm>
          <a:prstGeom prst="rect">
            <a:avLst/>
          </a:prstGeom>
        </p:spPr>
      </p:pic>
    </p:spTree>
    <p:extLst>
      <p:ext uri="{BB962C8B-B14F-4D97-AF65-F5344CB8AC3E}">
        <p14:creationId xmlns:p14="http://schemas.microsoft.com/office/powerpoint/2010/main" val="2887984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534653" y="1620850"/>
            <a:ext cx="6938210" cy="3139321"/>
          </a:xfrm>
          <a:prstGeom prst="rect">
            <a:avLst/>
          </a:prstGeom>
        </p:spPr>
        <p:txBody>
          <a:bodyPr wrap="square">
            <a:spAutoFit/>
          </a:bodyPr>
          <a:lstStyle/>
          <a:p>
            <a:pPr algn="just">
              <a:spcAft>
                <a:spcPts val="0"/>
              </a:spcAft>
            </a:pPr>
            <a:r>
              <a:rPr lang="tr-TR" b="1" dirty="0">
                <a:solidFill>
                  <a:srgbClr val="FF0000"/>
                </a:solidFill>
                <a:latin typeface="Comic Sans MS" panose="030F0702030302020204" pitchFamily="66" charset="0"/>
                <a:ea typeface="Times New Roman" panose="02020603050405020304" pitchFamily="18" charset="0"/>
              </a:rPr>
              <a:t>5. Aileniz, çocuğunuz ya da akrabalarınıza bunu söyler miydiniz ?</a:t>
            </a:r>
            <a:r>
              <a:rPr lang="tr-TR" dirty="0">
                <a:solidFill>
                  <a:srgbClr val="FF0000"/>
                </a:solidFill>
                <a:latin typeface="Comic Sans MS" panose="030F0702030302020204" pitchFamily="66" charset="0"/>
                <a:ea typeface="Times New Roman" panose="02020603050405020304" pitchFamily="18" charset="0"/>
              </a:rPr>
              <a:t> </a:t>
            </a:r>
            <a:r>
              <a:rPr lang="tr-TR" dirty="0">
                <a:latin typeface="Comic Sans MS" panose="030F0702030302020204" pitchFamily="66" charset="0"/>
                <a:ea typeface="Times New Roman" panose="02020603050405020304" pitchFamily="18" charset="0"/>
              </a:rPr>
              <a:t>Diğer bir deyişle gerçekleştirilmesi düşünülen eylem ya da davranışlar yakın çevre tarafından öğrenildiğinde eğer rahatsızlık hissedilecekse bu eylem veya davranışı yeniden gözden geçirmekte yarar vardır.</a:t>
            </a:r>
            <a:endParaRPr lang="tr-TR" sz="1200" dirty="0">
              <a:latin typeface="Comic Sans MS" panose="030F0702030302020204" pitchFamily="66" charset="0"/>
              <a:ea typeface="Times New Roman" panose="02020603050405020304" pitchFamily="18" charset="0"/>
            </a:endParaRPr>
          </a:p>
          <a:p>
            <a:pPr algn="just">
              <a:spcAft>
                <a:spcPts val="0"/>
              </a:spcAft>
            </a:pPr>
            <a:endParaRPr lang="tr-TR" dirty="0">
              <a:latin typeface="Comic Sans MS" panose="030F0702030302020204" pitchFamily="66" charset="0"/>
              <a:ea typeface="Times New Roman" panose="02020603050405020304" pitchFamily="18" charset="0"/>
            </a:endParaRPr>
          </a:p>
          <a:p>
            <a:pPr algn="just">
              <a:spcAft>
                <a:spcPts val="0"/>
              </a:spcAft>
            </a:pPr>
            <a:r>
              <a:rPr lang="tr-TR" b="1" dirty="0">
                <a:solidFill>
                  <a:srgbClr val="FF0000"/>
                </a:solidFill>
                <a:latin typeface="Comic Sans MS" panose="030F0702030302020204" pitchFamily="66" charset="0"/>
                <a:ea typeface="Times New Roman" panose="02020603050405020304" pitchFamily="18" charset="0"/>
              </a:rPr>
              <a:t>6. Olay nasıl kokuyor ?</a:t>
            </a:r>
            <a:r>
              <a:rPr lang="tr-TR" dirty="0">
                <a:solidFill>
                  <a:srgbClr val="FF0000"/>
                </a:solidFill>
                <a:latin typeface="Comic Sans MS" panose="030F0702030302020204" pitchFamily="66" charset="0"/>
                <a:ea typeface="Times New Roman" panose="02020603050405020304" pitchFamily="18" charset="0"/>
              </a:rPr>
              <a:t> </a:t>
            </a:r>
            <a:r>
              <a:rPr lang="tr-TR" dirty="0">
                <a:latin typeface="Comic Sans MS" panose="030F0702030302020204" pitchFamily="66" charset="0"/>
                <a:ea typeface="Times New Roman" panose="02020603050405020304" pitchFamily="18" charset="0"/>
              </a:rPr>
              <a:t>Bir karar ya da davranışın sonuçlarının neler olabileceğine ilişkin sezgiler üzerinde dikkatle durulmalıdır. Duyarlı insanlar olaylara ilişkin kötü kokuları kolaylıkla </a:t>
            </a:r>
            <a:r>
              <a:rPr lang="tr-TR" dirty="0" err="1">
                <a:latin typeface="Comic Sans MS" panose="030F0702030302020204" pitchFamily="66" charset="0"/>
                <a:ea typeface="Times New Roman" panose="02020603050405020304" pitchFamily="18" charset="0"/>
              </a:rPr>
              <a:t>farkedebilir</a:t>
            </a:r>
            <a:r>
              <a:rPr lang="tr-TR" dirty="0">
                <a:latin typeface="Comic Sans MS" panose="030F0702030302020204" pitchFamily="66" charset="0"/>
                <a:ea typeface="Times New Roman" panose="02020603050405020304" pitchFamily="18" charset="0"/>
              </a:rPr>
              <a:t>. Eğer bu tür bir kuşku varsa, bunun nedenlerinin  ortaya konulmasına çalışılmalıdır.</a:t>
            </a:r>
            <a:endParaRPr lang="tr-TR" sz="1200" dirty="0">
              <a:latin typeface="Comic Sans MS" panose="030F0702030302020204" pitchFamily="66" charset="0"/>
              <a:ea typeface="Times New Roman" panose="02020603050405020304" pitchFamily="18" charset="0"/>
            </a:endParaRPr>
          </a:p>
        </p:txBody>
      </p:sp>
      <p:pic>
        <p:nvPicPr>
          <p:cNvPr id="3" name="Resi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6787" y="3700462"/>
            <a:ext cx="1828800" cy="2505075"/>
          </a:xfrm>
          <a:prstGeom prst="rect">
            <a:avLst/>
          </a:prstGeom>
        </p:spPr>
      </p:pic>
    </p:spTree>
    <p:extLst>
      <p:ext uri="{BB962C8B-B14F-4D97-AF65-F5344CB8AC3E}">
        <p14:creationId xmlns:p14="http://schemas.microsoft.com/office/powerpoint/2010/main" val="22839949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467854" y="1263135"/>
            <a:ext cx="14535080" cy="4524315"/>
          </a:xfrm>
          <a:prstGeom prst="rect">
            <a:avLst/>
          </a:prstGeom>
        </p:spPr>
        <p:txBody>
          <a:bodyPr wrap="square">
            <a:spAutoFit/>
          </a:bodyPr>
          <a:lstStyle/>
          <a:p>
            <a:pPr algn="just">
              <a:spcAft>
                <a:spcPts val="0"/>
              </a:spcAft>
            </a:pPr>
            <a:endParaRPr lang="tr-TR" b="1" dirty="0">
              <a:solidFill>
                <a:srgbClr val="FF0000"/>
              </a:solidFill>
              <a:latin typeface="Comic Sans MS" panose="030F0702030302020204" pitchFamily="66" charset="0"/>
              <a:ea typeface="Times New Roman" panose="02020603050405020304" pitchFamily="18" charset="0"/>
            </a:endParaRPr>
          </a:p>
          <a:p>
            <a:pPr algn="just">
              <a:spcAft>
                <a:spcPts val="0"/>
              </a:spcAft>
            </a:pPr>
            <a:r>
              <a:rPr lang="tr-TR" b="1" dirty="0">
                <a:solidFill>
                  <a:srgbClr val="FF0000"/>
                </a:solidFill>
                <a:latin typeface="Comic Sans MS" panose="030F0702030302020204" pitchFamily="66" charset="0"/>
                <a:ea typeface="Times New Roman" panose="02020603050405020304" pitchFamily="18" charset="0"/>
              </a:rPr>
              <a:t>Etik Dışı Davranışın </a:t>
            </a:r>
            <a:r>
              <a:rPr lang="tr-TR" b="1" dirty="0" err="1">
                <a:solidFill>
                  <a:srgbClr val="FF0000"/>
                </a:solidFill>
                <a:latin typeface="Comic Sans MS" panose="030F0702030302020204" pitchFamily="66" charset="0"/>
                <a:ea typeface="Times New Roman" panose="02020603050405020304" pitchFamily="18" charset="0"/>
              </a:rPr>
              <a:t>Haklılaştırılması</a:t>
            </a:r>
            <a:endParaRPr lang="tr-TR" b="1" dirty="0">
              <a:solidFill>
                <a:srgbClr val="FF0000"/>
              </a:solidFill>
              <a:latin typeface="Comic Sans MS" panose="030F0702030302020204" pitchFamily="66" charset="0"/>
              <a:ea typeface="Times New Roman" panose="02020603050405020304" pitchFamily="18" charset="0"/>
            </a:endParaRPr>
          </a:p>
          <a:p>
            <a:pPr algn="just">
              <a:spcAft>
                <a:spcPts val="0"/>
              </a:spcAft>
            </a:pPr>
            <a:endParaRPr lang="tr-TR" b="1" dirty="0">
              <a:effectLst/>
              <a:latin typeface="Comic Sans MS" panose="030F0702030302020204" pitchFamily="66" charset="0"/>
              <a:ea typeface="Times New Roman" panose="02020603050405020304" pitchFamily="18" charset="0"/>
            </a:endParaRPr>
          </a:p>
          <a:p>
            <a:pPr algn="just">
              <a:spcAft>
                <a:spcPts val="0"/>
              </a:spcAft>
            </a:pPr>
            <a:endParaRPr lang="tr-TR" dirty="0">
              <a:latin typeface="Comic Sans MS" panose="030F0702030302020204" pitchFamily="66" charset="0"/>
            </a:endParaRPr>
          </a:p>
          <a:p>
            <a:pPr algn="just">
              <a:spcAft>
                <a:spcPts val="0"/>
              </a:spcAft>
            </a:pPr>
            <a:r>
              <a:rPr lang="tr-TR" dirty="0">
                <a:latin typeface="Comic Sans MS" panose="030F0702030302020204" pitchFamily="66" charset="0"/>
              </a:rPr>
              <a:t>Bazen etik ilkelerinin iyi  bilinmesi  bile çalışanları etik dışı davranmanın çekiciliğine</a:t>
            </a:r>
          </a:p>
          <a:p>
            <a:pPr algn="just">
              <a:spcAft>
                <a:spcPts val="0"/>
              </a:spcAft>
            </a:pPr>
            <a:r>
              <a:rPr lang="tr-TR" dirty="0">
                <a:latin typeface="Comic Sans MS" panose="030F0702030302020204" pitchFamily="66" charset="0"/>
              </a:rPr>
              <a:t> kurban olmaktan kurtaramaz. </a:t>
            </a:r>
          </a:p>
          <a:p>
            <a:pPr algn="just">
              <a:spcAft>
                <a:spcPts val="0"/>
              </a:spcAft>
            </a:pPr>
            <a:endParaRPr lang="tr-TR" dirty="0">
              <a:effectLst/>
              <a:latin typeface="Comic Sans MS" panose="030F0702030302020204" pitchFamily="66" charset="0"/>
              <a:ea typeface="Times New Roman" panose="02020603050405020304" pitchFamily="18" charset="0"/>
            </a:endParaRPr>
          </a:p>
          <a:p>
            <a:pPr algn="just">
              <a:spcAft>
                <a:spcPts val="0"/>
              </a:spcAft>
            </a:pPr>
            <a:endParaRPr lang="tr-TR" dirty="0">
              <a:latin typeface="Comic Sans MS" panose="030F0702030302020204" pitchFamily="66" charset="0"/>
            </a:endParaRPr>
          </a:p>
          <a:p>
            <a:pPr algn="just">
              <a:spcAft>
                <a:spcPts val="0"/>
              </a:spcAft>
            </a:pPr>
            <a:r>
              <a:rPr lang="tr-TR" dirty="0">
                <a:latin typeface="Comic Sans MS" panose="030F0702030302020204" pitchFamily="66" charset="0"/>
              </a:rPr>
              <a:t>İşyerinde etik dışı davranışın haklı gösterilmesi ve </a:t>
            </a:r>
            <a:r>
              <a:rPr lang="tr-TR" dirty="0" err="1">
                <a:solidFill>
                  <a:srgbClr val="FF0000"/>
                </a:solidFill>
                <a:latin typeface="Comic Sans MS" panose="030F0702030302020204" pitchFamily="66" charset="0"/>
              </a:rPr>
              <a:t>ussallaştırılması</a:t>
            </a:r>
            <a:r>
              <a:rPr lang="tr-TR" dirty="0">
                <a:solidFill>
                  <a:srgbClr val="FF0000"/>
                </a:solidFill>
                <a:latin typeface="Comic Sans MS" panose="030F0702030302020204" pitchFamily="66" charset="0"/>
              </a:rPr>
              <a:t> </a:t>
            </a:r>
            <a:r>
              <a:rPr lang="tr-TR" dirty="0">
                <a:latin typeface="Comic Sans MS" panose="030F0702030302020204" pitchFamily="66" charset="0"/>
              </a:rPr>
              <a:t>süreci</a:t>
            </a:r>
          </a:p>
          <a:p>
            <a:pPr algn="just">
              <a:spcAft>
                <a:spcPts val="0"/>
              </a:spcAft>
            </a:pPr>
            <a:endParaRPr lang="tr-TR" dirty="0">
              <a:latin typeface="Comic Sans MS" panose="030F0702030302020204" pitchFamily="66" charset="0"/>
            </a:endParaRPr>
          </a:p>
          <a:p>
            <a:pPr algn="just">
              <a:spcAft>
                <a:spcPts val="0"/>
              </a:spcAft>
            </a:pPr>
            <a:r>
              <a:rPr lang="tr-TR" dirty="0">
                <a:latin typeface="Comic Sans MS" panose="030F0702030302020204" pitchFamily="66" charset="0"/>
              </a:rPr>
              <a:t>dört tür davranışla başlar. </a:t>
            </a:r>
          </a:p>
          <a:p>
            <a:pPr algn="just">
              <a:spcAft>
                <a:spcPts val="0"/>
              </a:spcAft>
            </a:pPr>
            <a:endParaRPr lang="tr-TR" dirty="0">
              <a:latin typeface="Comic Sans MS" panose="030F0702030302020204" pitchFamily="66" charset="0"/>
            </a:endParaRPr>
          </a:p>
          <a:p>
            <a:pPr algn="just">
              <a:spcAft>
                <a:spcPts val="0"/>
              </a:spcAft>
            </a:pPr>
            <a:endParaRPr lang="tr-TR" dirty="0">
              <a:latin typeface="Comic Sans MS" panose="030F0702030302020204" pitchFamily="66" charset="0"/>
            </a:endParaRPr>
          </a:p>
          <a:p>
            <a:endParaRPr lang="tr-TR" dirty="0"/>
          </a:p>
          <a:p>
            <a:pPr algn="just">
              <a:spcAft>
                <a:spcPts val="0"/>
              </a:spcAft>
            </a:pPr>
            <a:endParaRPr lang="tr-TR" dirty="0">
              <a:latin typeface="Comic Sans MS" panose="030F0702030302020204" pitchFamily="66" charset="0"/>
            </a:endParaRPr>
          </a:p>
          <a:p>
            <a:pPr algn="just">
              <a:spcAft>
                <a:spcPts val="0"/>
              </a:spcAft>
            </a:pPr>
            <a:endParaRPr lang="tr-TR" dirty="0">
              <a:latin typeface="Comic Sans MS" panose="030F0702030302020204" pitchFamily="66" charset="0"/>
            </a:endParaRPr>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73110" y="626652"/>
            <a:ext cx="1800000" cy="1800000"/>
          </a:xfrm>
          <a:prstGeom prst="rect">
            <a:avLst/>
          </a:prstGeom>
        </p:spPr>
      </p:pic>
    </p:spTree>
    <p:extLst>
      <p:ext uri="{BB962C8B-B14F-4D97-AF65-F5344CB8AC3E}">
        <p14:creationId xmlns:p14="http://schemas.microsoft.com/office/powerpoint/2010/main" val="3933755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435509" y="928771"/>
            <a:ext cx="9240253" cy="3970318"/>
          </a:xfrm>
          <a:prstGeom prst="rect">
            <a:avLst/>
          </a:prstGeom>
        </p:spPr>
        <p:txBody>
          <a:bodyPr wrap="square">
            <a:spAutoFit/>
          </a:bodyPr>
          <a:lstStyle/>
          <a:p>
            <a:r>
              <a:rPr lang="tr-TR" u="sng" dirty="0" err="1">
                <a:solidFill>
                  <a:srgbClr val="FF0000"/>
                </a:solidFill>
                <a:latin typeface="Comic Sans MS" panose="030F0702030302020204" pitchFamily="66" charset="0"/>
              </a:rPr>
              <a:t>Ussallaştırma</a:t>
            </a:r>
            <a:r>
              <a:rPr lang="tr-TR" u="sng" dirty="0">
                <a:solidFill>
                  <a:srgbClr val="FF0000"/>
                </a:solidFill>
                <a:latin typeface="Comic Sans MS" panose="030F0702030302020204" pitchFamily="66" charset="0"/>
              </a:rPr>
              <a:t>, </a:t>
            </a:r>
            <a:r>
              <a:rPr lang="tr-TR" dirty="0">
                <a:latin typeface="Comic Sans MS" panose="030F0702030302020204" pitchFamily="66" charset="0"/>
              </a:rPr>
              <a:t>diğer bir adıyla </a:t>
            </a:r>
            <a:r>
              <a:rPr lang="tr-TR" b="1" u="sng" dirty="0">
                <a:solidFill>
                  <a:srgbClr val="FF0000"/>
                </a:solidFill>
                <a:latin typeface="Comic Sans MS" panose="030F0702030302020204" pitchFamily="66" charset="0"/>
              </a:rPr>
              <a:t>rasyonalizasyon</a:t>
            </a:r>
            <a:r>
              <a:rPr lang="tr-TR" dirty="0">
                <a:latin typeface="Comic Sans MS" panose="030F0702030302020204" pitchFamily="66" charset="0"/>
              </a:rPr>
              <a:t>, şahsın gerçek sebeplerini bilmediği kimi davranış,</a:t>
            </a:r>
          </a:p>
          <a:p>
            <a:r>
              <a:rPr lang="tr-TR" dirty="0">
                <a:latin typeface="Comic Sans MS" panose="030F0702030302020204" pitchFamily="66" charset="0"/>
              </a:rPr>
              <a:t>düşünce ve duygularını mantık açısından tutarlı ya da ahlak yönünden benimsenebilir ve anlayabileceği </a:t>
            </a:r>
          </a:p>
          <a:p>
            <a:r>
              <a:rPr lang="tr-TR" dirty="0">
                <a:latin typeface="Comic Sans MS" panose="030F0702030302020204" pitchFamily="66" charset="0"/>
              </a:rPr>
              <a:t>bir nedene bağlamasıdır.</a:t>
            </a:r>
          </a:p>
          <a:p>
            <a:endParaRPr lang="tr-TR" dirty="0">
              <a:latin typeface="Comic Sans MS" panose="030F0702030302020204" pitchFamily="66" charset="0"/>
            </a:endParaRPr>
          </a:p>
          <a:p>
            <a:r>
              <a:rPr lang="tr-TR" dirty="0" err="1">
                <a:solidFill>
                  <a:srgbClr val="002060"/>
                </a:solidFill>
                <a:latin typeface="Comic Sans MS" panose="030F0702030302020204" pitchFamily="66" charset="0"/>
                <a:hlinkClick r:id="rId2" tooltip="Psikoloji"/>
              </a:rPr>
              <a:t>Psikoloji</a:t>
            </a:r>
            <a:r>
              <a:rPr lang="tr-TR" dirty="0" err="1">
                <a:solidFill>
                  <a:srgbClr val="002060"/>
                </a:solidFill>
                <a:latin typeface="Comic Sans MS" panose="030F0702030302020204" pitchFamily="66" charset="0"/>
              </a:rPr>
              <a:t>'</a:t>
            </a:r>
            <a:r>
              <a:rPr lang="tr-TR" dirty="0" err="1">
                <a:latin typeface="Comic Sans MS" panose="030F0702030302020204" pitchFamily="66" charset="0"/>
              </a:rPr>
              <a:t>deki</a:t>
            </a:r>
            <a:r>
              <a:rPr lang="tr-TR" dirty="0">
                <a:latin typeface="Comic Sans MS" panose="030F0702030302020204" pitchFamily="66" charset="0"/>
              </a:rPr>
              <a:t> daha geniş anlamıyla rasyonalizasyon, bir </a:t>
            </a:r>
            <a:r>
              <a:rPr lang="tr-TR" dirty="0">
                <a:latin typeface="Comic Sans MS" panose="030F0702030302020204" pitchFamily="66" charset="0"/>
                <a:hlinkClick r:id="rId3" tooltip="Birey"/>
              </a:rPr>
              <a:t>bireyin</a:t>
            </a:r>
            <a:r>
              <a:rPr lang="tr-TR" dirty="0">
                <a:latin typeface="Comic Sans MS" panose="030F0702030302020204" pitchFamily="66" charset="0"/>
              </a:rPr>
              <a:t> veya </a:t>
            </a:r>
            <a:r>
              <a:rPr lang="tr-TR" dirty="0">
                <a:latin typeface="Comic Sans MS" panose="030F0702030302020204" pitchFamily="66" charset="0"/>
                <a:hlinkClick r:id="rId4" tooltip="Toplum"/>
              </a:rPr>
              <a:t>toplumun</a:t>
            </a:r>
            <a:r>
              <a:rPr lang="tr-TR" dirty="0">
                <a:latin typeface="Comic Sans MS" panose="030F0702030302020204" pitchFamily="66" charset="0"/>
              </a:rPr>
              <a:t> olumlu karşılamadığı,</a:t>
            </a:r>
          </a:p>
          <a:p>
            <a:r>
              <a:rPr lang="tr-TR" dirty="0">
                <a:latin typeface="Comic Sans MS" panose="030F0702030302020204" pitchFamily="66" charset="0"/>
              </a:rPr>
              <a:t>ahlaki kurallara, sosyal normlara uymayan bir düşünceyi,</a:t>
            </a:r>
          </a:p>
          <a:p>
            <a:r>
              <a:rPr lang="tr-TR" dirty="0">
                <a:latin typeface="Comic Sans MS" panose="030F0702030302020204" pitchFamily="66" charset="0"/>
              </a:rPr>
              <a:t>bir duyguyu veya tavrı, bireyin ve toplumun onaylayacağı cinsten bir kalıba sokacak şekilde</a:t>
            </a:r>
          </a:p>
          <a:p>
            <a:r>
              <a:rPr lang="tr-TR" dirty="0">
                <a:latin typeface="Comic Sans MS" panose="030F0702030302020204" pitchFamily="66" charset="0"/>
              </a:rPr>
              <a:t>yeni bir düşünce, duygu, tavır vs. yaratarak gayri </a:t>
            </a:r>
            <a:r>
              <a:rPr lang="tr-TR" dirty="0" err="1">
                <a:latin typeface="Comic Sans MS" panose="030F0702030302020204" pitchFamily="66" charset="0"/>
              </a:rPr>
              <a:t>şuuri</a:t>
            </a:r>
            <a:r>
              <a:rPr lang="tr-TR" dirty="0">
                <a:latin typeface="Comic Sans MS" panose="030F0702030302020204" pitchFamily="66" charset="0"/>
              </a:rPr>
              <a:t> bir şekilde gizlemeyi ifade eden bir mekanizmadır. </a:t>
            </a:r>
          </a:p>
          <a:p>
            <a:endParaRPr lang="tr-TR" dirty="0">
              <a:latin typeface="Comic Sans MS" panose="030F0702030302020204" pitchFamily="66" charset="0"/>
            </a:endParaRPr>
          </a:p>
        </p:txBody>
      </p:sp>
      <p:pic>
        <p:nvPicPr>
          <p:cNvPr id="4" name="Resim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29765" y="4566423"/>
            <a:ext cx="1750588" cy="1440000"/>
          </a:xfrm>
          <a:prstGeom prst="rect">
            <a:avLst/>
          </a:prstGeom>
        </p:spPr>
      </p:pic>
    </p:spTree>
    <p:extLst>
      <p:ext uri="{BB962C8B-B14F-4D97-AF65-F5344CB8AC3E}">
        <p14:creationId xmlns:p14="http://schemas.microsoft.com/office/powerpoint/2010/main" val="3398545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299411" y="1859340"/>
            <a:ext cx="8502315" cy="2862322"/>
          </a:xfrm>
          <a:prstGeom prst="rect">
            <a:avLst/>
          </a:prstGeom>
        </p:spPr>
        <p:txBody>
          <a:bodyPr wrap="square">
            <a:spAutoFit/>
          </a:bodyPr>
          <a:lstStyle/>
          <a:p>
            <a:endParaRPr lang="tr-TR" dirty="0">
              <a:latin typeface="Comic Sans MS" panose="030F0702030302020204" pitchFamily="66" charset="0"/>
            </a:endParaRPr>
          </a:p>
          <a:p>
            <a:endParaRPr lang="tr-TR" dirty="0">
              <a:latin typeface="Comic Sans MS" panose="030F0702030302020204" pitchFamily="66" charset="0"/>
            </a:endParaRPr>
          </a:p>
          <a:p>
            <a:r>
              <a:rPr lang="tr-TR" dirty="0">
                <a:latin typeface="Comic Sans MS" panose="030F0702030302020204" pitchFamily="66" charset="0"/>
              </a:rPr>
              <a:t>Diğer bir deyimle, bireyin kendi hareketlerinin sosyal normlara ters düşen, akıl-dışı ve gayri </a:t>
            </a:r>
            <a:r>
              <a:rPr lang="tr-TR" dirty="0" err="1">
                <a:latin typeface="Comic Sans MS" panose="030F0702030302020204" pitchFamily="66" charset="0"/>
              </a:rPr>
              <a:t>şuuri</a:t>
            </a:r>
            <a:r>
              <a:rPr lang="tr-TR" dirty="0">
                <a:latin typeface="Comic Sans MS" panose="030F0702030302020204" pitchFamily="66" charset="0"/>
              </a:rPr>
              <a:t> sebeplerini, </a:t>
            </a:r>
            <a:r>
              <a:rPr lang="tr-TR" dirty="0">
                <a:solidFill>
                  <a:srgbClr val="FF0000"/>
                </a:solidFill>
                <a:latin typeface="Comic Sans MS" panose="030F0702030302020204" pitchFamily="66" charset="0"/>
              </a:rPr>
              <a:t>rasyonel(ussal) </a:t>
            </a:r>
            <a:r>
              <a:rPr lang="tr-TR" dirty="0">
                <a:latin typeface="Comic Sans MS" panose="030F0702030302020204" pitchFamily="66" charset="0"/>
              </a:rPr>
              <a:t>ve şuurlu bir takım sebeplerle örtbas etmesini, normlara uygun ve toplum tarafından makul görünen bir bahaneye bağlamış olmasını ifade etmektedir. </a:t>
            </a:r>
          </a:p>
          <a:p>
            <a:endParaRPr lang="tr-TR" dirty="0">
              <a:latin typeface="Comic Sans MS" panose="030F0702030302020204" pitchFamily="66" charset="0"/>
            </a:endParaRPr>
          </a:p>
          <a:p>
            <a:r>
              <a:rPr lang="tr-TR" dirty="0">
                <a:latin typeface="Comic Sans MS" panose="030F0702030302020204" pitchFamily="66" charset="0"/>
              </a:rPr>
              <a:t>Sırf kendi hükmetme duygusunu tatmin etmek için çocuğuna hiç durmadan karışan ve baskı uygulayan bir annenin, bunu onun iyiliği için yaptığını söylemesi bir rasyonalizasyon örneğidir.</a:t>
            </a:r>
          </a:p>
        </p:txBody>
      </p:sp>
      <p:pic>
        <p:nvPicPr>
          <p:cNvPr id="3" name="Resi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662" y="610215"/>
            <a:ext cx="1905000" cy="1409700"/>
          </a:xfrm>
          <a:prstGeom prst="rect">
            <a:avLst/>
          </a:prstGeom>
        </p:spPr>
      </p:pic>
    </p:spTree>
    <p:extLst>
      <p:ext uri="{BB962C8B-B14F-4D97-AF65-F5344CB8AC3E}">
        <p14:creationId xmlns:p14="http://schemas.microsoft.com/office/powerpoint/2010/main" val="34071785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355559" y="1280915"/>
            <a:ext cx="7828547" cy="3600986"/>
          </a:xfrm>
          <a:prstGeom prst="rect">
            <a:avLst/>
          </a:prstGeom>
        </p:spPr>
        <p:txBody>
          <a:bodyPr wrap="square">
            <a:spAutoFit/>
          </a:bodyPr>
          <a:lstStyle/>
          <a:p>
            <a:pPr marL="228600" indent="-228600" algn="just">
              <a:buAutoNum type="arabicPeriod"/>
            </a:pPr>
            <a:r>
              <a:rPr lang="tr-TR" dirty="0">
                <a:latin typeface="Comic Sans MS" panose="030F0702030302020204" pitchFamily="66" charset="0"/>
              </a:rPr>
              <a:t>Yasal ve etik sınırlar içinde olan ve belli durumları kurtarmak  için rahatlatıcı ve uygun görünen davranış yollarının seçilebileceğine inanmak , etik dışı davranışların </a:t>
            </a:r>
            <a:r>
              <a:rPr lang="tr-TR" dirty="0" err="1">
                <a:latin typeface="Comic Sans MS" panose="030F0702030302020204" pitchFamily="66" charset="0"/>
              </a:rPr>
              <a:t>ussallaştırılmasında</a:t>
            </a:r>
            <a:r>
              <a:rPr lang="tr-TR" dirty="0">
                <a:latin typeface="Comic Sans MS" panose="030F0702030302020204" pitchFamily="66" charset="0"/>
              </a:rPr>
              <a:t> kullanılan yöntemlerden biridir. </a:t>
            </a:r>
          </a:p>
          <a:p>
            <a:pPr algn="just"/>
            <a:endParaRPr lang="tr-TR" dirty="0">
              <a:latin typeface="Comic Sans MS" panose="030F0702030302020204" pitchFamily="66" charset="0"/>
            </a:endParaRPr>
          </a:p>
          <a:p>
            <a:pPr algn="just"/>
            <a:r>
              <a:rPr lang="tr-TR" dirty="0">
                <a:latin typeface="Comic Sans MS" panose="030F0702030302020204" pitchFamily="66" charset="0"/>
              </a:rPr>
              <a:t>Örneğin, </a:t>
            </a:r>
          </a:p>
          <a:p>
            <a:pPr algn="just"/>
            <a:endParaRPr lang="tr-TR" dirty="0">
              <a:latin typeface="Comic Sans MS" panose="030F0702030302020204" pitchFamily="66" charset="0"/>
            </a:endParaRPr>
          </a:p>
          <a:p>
            <a:pPr algn="just"/>
            <a:r>
              <a:rPr lang="tr-TR" dirty="0">
                <a:latin typeface="Comic Sans MS" panose="030F0702030302020204" pitchFamily="66" charset="0"/>
              </a:rPr>
              <a:t>Bir yöneticinin  kurumda meydana gelen bir </a:t>
            </a:r>
          </a:p>
          <a:p>
            <a:pPr algn="just"/>
            <a:r>
              <a:rPr lang="tr-TR" dirty="0">
                <a:latin typeface="Comic Sans MS" panose="030F0702030302020204" pitchFamily="66" charset="0"/>
              </a:rPr>
              <a:t>iş kazasına tanık olan bir çalışana olayı gizli tutması için </a:t>
            </a:r>
          </a:p>
          <a:p>
            <a:pPr algn="just"/>
            <a:r>
              <a:rPr lang="tr-TR" dirty="0">
                <a:latin typeface="Comic Sans MS" panose="030F0702030302020204" pitchFamily="66" charset="0"/>
              </a:rPr>
              <a:t>izin ya da para vermeyi önermesi bu tür davranışa bir örnektir.</a:t>
            </a:r>
          </a:p>
          <a:p>
            <a:pPr algn="just">
              <a:spcAft>
                <a:spcPts val="0"/>
              </a:spcAft>
            </a:pPr>
            <a:endParaRPr lang="tr-TR" dirty="0">
              <a:latin typeface="Comic Sans MS" panose="030F0702030302020204" pitchFamily="66" charset="0"/>
            </a:endParaRPr>
          </a:p>
          <a:p>
            <a:pPr algn="just">
              <a:spcAft>
                <a:spcPts val="0"/>
              </a:spcAft>
            </a:pPr>
            <a:endParaRPr lang="tr-TR" dirty="0">
              <a:latin typeface="Comic Sans MS" panose="030F0702030302020204" pitchFamily="66" charset="0"/>
              <a:ea typeface="Times New Roman" panose="02020603050405020304" pitchFamily="18" charset="0"/>
            </a:endParaRPr>
          </a:p>
          <a:p>
            <a:pPr algn="just">
              <a:spcAft>
                <a:spcPts val="0"/>
              </a:spcAft>
            </a:pPr>
            <a:endParaRPr lang="tr-TR" sz="1200" dirty="0">
              <a:latin typeface="Times New Roman" panose="02020603050405020304" pitchFamily="18" charset="0"/>
              <a:ea typeface="Times New Roman" panose="02020603050405020304" pitchFamily="18" charset="0"/>
            </a:endParaRPr>
          </a:p>
        </p:txBody>
      </p:sp>
      <p:pic>
        <p:nvPicPr>
          <p:cNvPr id="3" name="Resim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04984" y="4763560"/>
            <a:ext cx="2090057" cy="1460427"/>
          </a:xfrm>
          <a:prstGeom prst="rect">
            <a:avLst/>
          </a:prstGeom>
        </p:spPr>
      </p:pic>
    </p:spTree>
    <p:extLst>
      <p:ext uri="{BB962C8B-B14F-4D97-AF65-F5344CB8AC3E}">
        <p14:creationId xmlns:p14="http://schemas.microsoft.com/office/powerpoint/2010/main" val="2487388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021305" y="2008002"/>
            <a:ext cx="7403432" cy="2585323"/>
          </a:xfrm>
          <a:prstGeom prst="rect">
            <a:avLst/>
          </a:prstGeom>
        </p:spPr>
        <p:txBody>
          <a:bodyPr wrap="square">
            <a:spAutoFit/>
          </a:bodyPr>
          <a:lstStyle/>
          <a:p>
            <a:pPr algn="just">
              <a:spcAft>
                <a:spcPts val="0"/>
              </a:spcAft>
            </a:pPr>
            <a:r>
              <a:rPr lang="tr-TR" dirty="0">
                <a:latin typeface="Comic Sans MS" panose="030F0702030302020204" pitchFamily="66" charset="0"/>
                <a:ea typeface="Times New Roman" panose="02020603050405020304" pitchFamily="18" charset="0"/>
              </a:rPr>
              <a:t>2. Etik dışı davranışların </a:t>
            </a:r>
            <a:r>
              <a:rPr lang="tr-TR" dirty="0" err="1">
                <a:latin typeface="Comic Sans MS" panose="030F0702030302020204" pitchFamily="66" charset="0"/>
                <a:ea typeface="Times New Roman" panose="02020603050405020304" pitchFamily="18" charset="0"/>
              </a:rPr>
              <a:t>haklılaştırılmasında</a:t>
            </a:r>
            <a:r>
              <a:rPr lang="tr-TR" dirty="0">
                <a:latin typeface="Comic Sans MS" panose="030F0702030302020204" pitchFamily="66" charset="0"/>
                <a:ea typeface="Times New Roman" panose="02020603050405020304" pitchFamily="18" charset="0"/>
              </a:rPr>
              <a:t> kullanılan bir diğer yaklaşım da, kurum ve birey için çok yararlı olabilecek davranışların gerçekleştirilmesinde bir sakınca olmadığına inanmaktır. </a:t>
            </a:r>
          </a:p>
          <a:p>
            <a:pPr algn="just">
              <a:spcAft>
                <a:spcPts val="0"/>
              </a:spcAft>
            </a:pPr>
            <a:endParaRPr lang="tr-TR" dirty="0">
              <a:latin typeface="Comic Sans MS" panose="030F0702030302020204" pitchFamily="66" charset="0"/>
              <a:ea typeface="Times New Roman" panose="02020603050405020304" pitchFamily="18" charset="0"/>
            </a:endParaRPr>
          </a:p>
          <a:p>
            <a:pPr algn="just">
              <a:spcAft>
                <a:spcPts val="0"/>
              </a:spcAft>
            </a:pPr>
            <a:r>
              <a:rPr lang="tr-TR" dirty="0">
                <a:latin typeface="Comic Sans MS" panose="030F0702030302020204" pitchFamily="66" charset="0"/>
                <a:ea typeface="Times New Roman" panose="02020603050405020304" pitchFamily="18" charset="0"/>
              </a:rPr>
              <a:t>Örneğin bir elektronik mühendisinin , kendi kurumunun rekabet gücünü artırmada çok yararlı olacağı için rakip kurumlardan yeni bir ürün taslağı ya da düşüncesini çalması bu tür davranışa örnektir. Burada çalışan kurumsal amaçları gerçekleştirebilmek için kurumun kendisinden her tür yardım ve katkıyı beklediğini varsaymaktadır.</a:t>
            </a:r>
            <a:endParaRPr lang="tr-TR" sz="1200" dirty="0">
              <a:effectLst/>
              <a:latin typeface="Comic Sans MS" panose="030F0702030302020204" pitchFamily="66" charset="0"/>
              <a:ea typeface="Times New Roman" panose="02020603050405020304" pitchFamily="18" charset="0"/>
            </a:endParaRPr>
          </a:p>
        </p:txBody>
      </p:sp>
    </p:spTree>
    <p:extLst>
      <p:ext uri="{BB962C8B-B14F-4D97-AF65-F5344CB8AC3E}">
        <p14:creationId xmlns:p14="http://schemas.microsoft.com/office/powerpoint/2010/main" val="10637501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957137" y="2104799"/>
            <a:ext cx="7451558" cy="1477328"/>
          </a:xfrm>
          <a:prstGeom prst="rect">
            <a:avLst/>
          </a:prstGeom>
        </p:spPr>
        <p:txBody>
          <a:bodyPr wrap="square">
            <a:spAutoFit/>
          </a:bodyPr>
          <a:lstStyle/>
          <a:p>
            <a:pPr algn="just">
              <a:spcAft>
                <a:spcPts val="0"/>
              </a:spcAft>
            </a:pPr>
            <a:r>
              <a:rPr lang="tr-TR" dirty="0">
                <a:latin typeface="Comic Sans MS" panose="030F0702030302020204" pitchFamily="66" charset="0"/>
                <a:ea typeface="Times New Roman" panose="02020603050405020304" pitchFamily="18" charset="0"/>
              </a:rPr>
              <a:t>3. Yapılan bir şeyin başkaları tarafından fark edilmeyeceği inancı da etik dışı davranışların </a:t>
            </a:r>
            <a:r>
              <a:rPr lang="tr-TR" dirty="0" err="1">
                <a:latin typeface="Comic Sans MS" panose="030F0702030302020204" pitchFamily="66" charset="0"/>
                <a:ea typeface="Times New Roman" panose="02020603050405020304" pitchFamily="18" charset="0"/>
              </a:rPr>
              <a:t>ussallaştırılmasında</a:t>
            </a:r>
            <a:r>
              <a:rPr lang="tr-TR" dirty="0">
                <a:latin typeface="Comic Sans MS" panose="030F0702030302020204" pitchFamily="66" charset="0"/>
                <a:ea typeface="Times New Roman" panose="02020603050405020304" pitchFamily="18" charset="0"/>
              </a:rPr>
              <a:t> kullanılan bir başka yöntemdir. </a:t>
            </a:r>
          </a:p>
          <a:p>
            <a:pPr algn="just">
              <a:spcAft>
                <a:spcPts val="0"/>
              </a:spcAft>
            </a:pPr>
            <a:r>
              <a:rPr lang="tr-TR" dirty="0">
                <a:latin typeface="Comic Sans MS" panose="030F0702030302020204" pitchFamily="66" charset="0"/>
                <a:ea typeface="Times New Roman" panose="02020603050405020304" pitchFamily="18" charset="0"/>
              </a:rPr>
              <a:t>Ancak işyerinden çalınan küçük şeylerin fark edilmeyeceği inancı, zamanla yerini büyük suçlara ve hırsızlıklara bırakabilir.</a:t>
            </a:r>
            <a:endParaRPr lang="tr-TR" sz="1200" dirty="0">
              <a:effectLst/>
              <a:latin typeface="Comic Sans MS" panose="030F0702030302020204" pitchFamily="66" charset="0"/>
              <a:ea typeface="Times New Roman" panose="02020603050405020304" pitchFamily="18" charset="0"/>
            </a:endParaRPr>
          </a:p>
        </p:txBody>
      </p:sp>
    </p:spTree>
    <p:extLst>
      <p:ext uri="{BB962C8B-B14F-4D97-AF65-F5344CB8AC3E}">
        <p14:creationId xmlns:p14="http://schemas.microsoft.com/office/powerpoint/2010/main" val="22572475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037347" y="2136339"/>
            <a:ext cx="7106653" cy="2862322"/>
          </a:xfrm>
          <a:prstGeom prst="rect">
            <a:avLst/>
          </a:prstGeom>
        </p:spPr>
        <p:txBody>
          <a:bodyPr wrap="square">
            <a:spAutoFit/>
          </a:bodyPr>
          <a:lstStyle/>
          <a:p>
            <a:pPr algn="just">
              <a:spcAft>
                <a:spcPts val="0"/>
              </a:spcAft>
            </a:pPr>
            <a:r>
              <a:rPr lang="tr-TR" dirty="0">
                <a:latin typeface="Comic Sans MS" panose="030F0702030302020204" pitchFamily="66" charset="0"/>
                <a:ea typeface="Times New Roman" panose="02020603050405020304" pitchFamily="18" charset="0"/>
              </a:rPr>
              <a:t>4. Kuruma yarar sağlayan ancak etik ilkelerini ihlal eden bir davranış nedeniyle çalışan yakalanırsa, kurumun kendisine arka çıkacağı veya koruyacağı inancı da çalışanların etik dışı davranışlarına buldukları bir </a:t>
            </a:r>
            <a:r>
              <a:rPr lang="tr-TR" dirty="0" err="1">
                <a:latin typeface="Comic Sans MS" panose="030F0702030302020204" pitchFamily="66" charset="0"/>
                <a:ea typeface="Times New Roman" panose="02020603050405020304" pitchFamily="18" charset="0"/>
              </a:rPr>
              <a:t>ussallaştırma</a:t>
            </a:r>
            <a:r>
              <a:rPr lang="tr-TR" dirty="0">
                <a:latin typeface="Comic Sans MS" panose="030F0702030302020204" pitchFamily="66" charset="0"/>
                <a:ea typeface="Times New Roman" panose="02020603050405020304" pitchFamily="18" charset="0"/>
              </a:rPr>
              <a:t> yoludur. </a:t>
            </a:r>
          </a:p>
          <a:p>
            <a:pPr algn="just">
              <a:spcAft>
                <a:spcPts val="0"/>
              </a:spcAft>
            </a:pPr>
            <a:endParaRPr lang="tr-TR" dirty="0">
              <a:latin typeface="Comic Sans MS" panose="030F0702030302020204" pitchFamily="66" charset="0"/>
              <a:ea typeface="Times New Roman" panose="02020603050405020304" pitchFamily="18" charset="0"/>
            </a:endParaRPr>
          </a:p>
          <a:p>
            <a:pPr algn="just">
              <a:spcAft>
                <a:spcPts val="0"/>
              </a:spcAft>
            </a:pPr>
            <a:r>
              <a:rPr lang="tr-TR" dirty="0">
                <a:latin typeface="Comic Sans MS" panose="030F0702030302020204" pitchFamily="66" charset="0"/>
                <a:ea typeface="Times New Roman" panose="02020603050405020304" pitchFamily="18" charset="0"/>
              </a:rPr>
              <a:t>Örneğin, bir çalışanın bir bankacıya rüşvet vererek kuruma büyük miktarda bir kredi sağlaması durumunda çalışan, kurumun kendisine minnettar kalacağını düşünebilir. Oysa bu arka çıkılacak bir düşünce ve eylem biçimi değil, tam tersine çalışanın işten atılmasını gerektiren bir suçtur.</a:t>
            </a:r>
            <a:endParaRPr lang="tr-TR" sz="1200" dirty="0">
              <a:effectLst/>
              <a:latin typeface="Comic Sans MS" panose="030F0702030302020204" pitchFamily="66" charset="0"/>
              <a:ea typeface="Times New Roman" panose="02020603050405020304" pitchFamily="18" charset="0"/>
            </a:endParaRPr>
          </a:p>
        </p:txBody>
      </p:sp>
    </p:spTree>
    <p:extLst>
      <p:ext uri="{BB962C8B-B14F-4D97-AF65-F5344CB8AC3E}">
        <p14:creationId xmlns:p14="http://schemas.microsoft.com/office/powerpoint/2010/main" val="39619022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860884" y="1720840"/>
            <a:ext cx="7283116" cy="3600986"/>
          </a:xfrm>
          <a:prstGeom prst="rect">
            <a:avLst/>
          </a:prstGeom>
        </p:spPr>
        <p:txBody>
          <a:bodyPr wrap="square">
            <a:spAutoFit/>
          </a:bodyPr>
          <a:lstStyle/>
          <a:p>
            <a:pPr marL="342900" indent="-342900" algn="just">
              <a:spcAft>
                <a:spcPts val="0"/>
              </a:spcAft>
              <a:buAutoNum type="arabicPeriod"/>
            </a:pPr>
            <a:r>
              <a:rPr lang="tr-TR" dirty="0">
                <a:latin typeface="Times New Roman" panose="02020603050405020304" pitchFamily="18" charset="0"/>
                <a:ea typeface="Times New Roman" panose="02020603050405020304" pitchFamily="18" charset="0"/>
              </a:rPr>
              <a:t>Toplumun çıkarları için işleri çabuklaştırmak amacı ile, bazı ilke ve prosedürleri atlamak.</a:t>
            </a:r>
          </a:p>
          <a:p>
            <a:pPr algn="just">
              <a:spcAft>
                <a:spcPts val="0"/>
              </a:spcAft>
            </a:pPr>
            <a:endParaRPr lang="tr-TR" sz="1200" dirty="0">
              <a:latin typeface="Times New Roman" panose="02020603050405020304" pitchFamily="18" charset="0"/>
              <a:ea typeface="Times New Roman" panose="02020603050405020304" pitchFamily="18" charset="0"/>
            </a:endParaRPr>
          </a:p>
          <a:p>
            <a:pPr marL="342900" indent="-342900" algn="just">
              <a:spcAft>
                <a:spcPts val="0"/>
              </a:spcAft>
              <a:buAutoNum type="arabicPeriod" startAt="2"/>
            </a:pPr>
            <a:r>
              <a:rPr lang="tr-TR" dirty="0">
                <a:latin typeface="Times New Roman" panose="02020603050405020304" pitchFamily="18" charset="0"/>
                <a:ea typeface="Times New Roman" panose="02020603050405020304" pitchFamily="18" charset="0"/>
              </a:rPr>
              <a:t>Kişisel olarak benim çıkarım yok, önemli olan işlerin yapılması. Bu nedenle kuralları biraz esnetmekte bir sakınca yoktur düşüncesi</a:t>
            </a:r>
          </a:p>
          <a:p>
            <a:pPr marL="228600" indent="-228600" algn="just">
              <a:spcAft>
                <a:spcPts val="0"/>
              </a:spcAft>
              <a:buAutoNum type="arabicPeriod" startAt="2"/>
            </a:pPr>
            <a:endParaRPr lang="tr-TR" sz="1200" dirty="0">
              <a:latin typeface="Times New Roman" panose="02020603050405020304" pitchFamily="18" charset="0"/>
              <a:ea typeface="Times New Roman" panose="02020603050405020304" pitchFamily="18" charset="0"/>
            </a:endParaRPr>
          </a:p>
          <a:p>
            <a:pPr algn="just">
              <a:spcAft>
                <a:spcPts val="0"/>
              </a:spcAft>
            </a:pPr>
            <a:r>
              <a:rPr lang="tr-TR" dirty="0">
                <a:latin typeface="Times New Roman" panose="02020603050405020304" pitchFamily="18" charset="0"/>
                <a:ea typeface="Times New Roman" panose="02020603050405020304" pitchFamily="18" charset="0"/>
              </a:rPr>
              <a:t> 3. Yalnızca bir arkadaşa yardım ediyorum, benim bu işte bir çıkarım yok düşüncesi</a:t>
            </a:r>
          </a:p>
          <a:p>
            <a:pPr algn="just">
              <a:spcAft>
                <a:spcPts val="0"/>
              </a:spcAft>
            </a:pPr>
            <a:endParaRPr lang="tr-TR" sz="1200" dirty="0">
              <a:latin typeface="Times New Roman" panose="02020603050405020304" pitchFamily="18" charset="0"/>
              <a:ea typeface="Times New Roman" panose="02020603050405020304" pitchFamily="18" charset="0"/>
            </a:endParaRPr>
          </a:p>
          <a:p>
            <a:pPr algn="just">
              <a:spcAft>
                <a:spcPts val="0"/>
              </a:spcAft>
            </a:pPr>
            <a:r>
              <a:rPr lang="tr-TR" dirty="0">
                <a:latin typeface="Times New Roman" panose="02020603050405020304" pitchFamily="18" charset="0"/>
                <a:ea typeface="Times New Roman" panose="02020603050405020304" pitchFamily="18" charset="0"/>
              </a:rPr>
              <a:t> 4. Üstlerim benim değerimi bilmiyor, ben sömürülüyorum . O halde ben de kendi çıkarlarımı düşünmek zorundayım düşüncesi</a:t>
            </a:r>
          </a:p>
          <a:p>
            <a:pPr algn="just">
              <a:spcAft>
                <a:spcPts val="0"/>
              </a:spcAft>
            </a:pPr>
            <a:endParaRPr lang="tr-TR" sz="1200" dirty="0">
              <a:latin typeface="Times New Roman" panose="02020603050405020304" pitchFamily="18" charset="0"/>
              <a:ea typeface="Times New Roman" panose="02020603050405020304" pitchFamily="18" charset="0"/>
            </a:endParaRPr>
          </a:p>
          <a:p>
            <a:pPr lvl="0" algn="just">
              <a:spcAft>
                <a:spcPts val="0"/>
              </a:spcAft>
              <a:buSzPts val="1100"/>
            </a:pPr>
            <a:r>
              <a:rPr lang="tr-TR" dirty="0">
                <a:latin typeface="Times New Roman" panose="02020603050405020304" pitchFamily="18" charset="0"/>
                <a:ea typeface="Times New Roman" panose="02020603050405020304" pitchFamily="18" charset="0"/>
              </a:rPr>
              <a:t> 5. Çalışan bir suç işlemiş, cezalandırılması gerekir ama benden   bulmasın düşüncesi.   </a:t>
            </a:r>
            <a:endParaRPr lang="tr-TR" sz="1200" u="none" strike="noStrike" dirty="0">
              <a:effectLst/>
              <a:latin typeface="Times New Roman" panose="02020603050405020304" pitchFamily="18" charset="0"/>
              <a:ea typeface="Times New Roman" panose="02020603050405020304" pitchFamily="18" charset="0"/>
            </a:endParaRPr>
          </a:p>
        </p:txBody>
      </p:sp>
      <p:sp>
        <p:nvSpPr>
          <p:cNvPr id="3" name="Dikdörtgen 2"/>
          <p:cNvSpPr/>
          <p:nvPr/>
        </p:nvSpPr>
        <p:spPr>
          <a:xfrm>
            <a:off x="1860884" y="811815"/>
            <a:ext cx="6096000" cy="646331"/>
          </a:xfrm>
          <a:prstGeom prst="rect">
            <a:avLst/>
          </a:prstGeom>
        </p:spPr>
        <p:txBody>
          <a:bodyPr>
            <a:spAutoFit/>
          </a:bodyPr>
          <a:lstStyle/>
          <a:p>
            <a:pPr algn="just">
              <a:spcAft>
                <a:spcPts val="0"/>
              </a:spcAft>
            </a:pPr>
            <a:r>
              <a:rPr lang="tr-TR" dirty="0">
                <a:latin typeface="Times New Roman" panose="02020603050405020304" pitchFamily="18" charset="0"/>
                <a:ea typeface="Times New Roman" panose="02020603050405020304" pitchFamily="18" charset="0"/>
              </a:rPr>
              <a:t>Etik dışı davranışın gerekçelendirilmesinde kullanılan yaklaşımlar:</a:t>
            </a:r>
            <a:endParaRPr lang="tr-TR"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139039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965158" y="1870047"/>
            <a:ext cx="6096000" cy="1754326"/>
          </a:xfrm>
          <a:prstGeom prst="rect">
            <a:avLst/>
          </a:prstGeom>
        </p:spPr>
        <p:txBody>
          <a:bodyPr>
            <a:spAutoFit/>
          </a:bodyPr>
          <a:lstStyle/>
          <a:p>
            <a:pPr algn="ctr">
              <a:spcAft>
                <a:spcPts val="0"/>
              </a:spcAft>
            </a:pPr>
            <a:r>
              <a:rPr lang="tr-TR" b="1" dirty="0">
                <a:latin typeface="Times New Roman" panose="02020603050405020304" pitchFamily="18" charset="0"/>
                <a:ea typeface="Times New Roman" panose="02020603050405020304" pitchFamily="18" charset="0"/>
              </a:rPr>
              <a:t>BAŞLICA ETİK İLKELER</a:t>
            </a:r>
            <a:endParaRPr lang="tr-TR" sz="1200" dirty="0">
              <a:latin typeface="Times New Roman" panose="02020603050405020304" pitchFamily="18" charset="0"/>
              <a:ea typeface="Times New Roman" panose="02020603050405020304" pitchFamily="18" charset="0"/>
            </a:endParaRPr>
          </a:p>
          <a:p>
            <a:pPr algn="ctr">
              <a:spcAft>
                <a:spcPts val="0"/>
              </a:spcAft>
            </a:pPr>
            <a:r>
              <a:rPr lang="tr-TR" dirty="0">
                <a:latin typeface="Times New Roman" panose="02020603050405020304" pitchFamily="18" charset="0"/>
                <a:ea typeface="Times New Roman" panose="02020603050405020304" pitchFamily="18" charset="0"/>
              </a:rPr>
              <a:t> </a:t>
            </a:r>
            <a:endParaRPr lang="tr-TR" sz="1200" dirty="0">
              <a:latin typeface="Times New Roman" panose="02020603050405020304" pitchFamily="18" charset="0"/>
              <a:ea typeface="Times New Roman" panose="02020603050405020304" pitchFamily="18" charset="0"/>
            </a:endParaRPr>
          </a:p>
          <a:p>
            <a:pPr algn="just">
              <a:spcAft>
                <a:spcPts val="0"/>
              </a:spcAft>
            </a:pPr>
            <a:r>
              <a:rPr lang="tr-TR" dirty="0">
                <a:latin typeface="Times New Roman" panose="02020603050405020304" pitchFamily="18" charset="0"/>
                <a:ea typeface="Times New Roman" panose="02020603050405020304" pitchFamily="18" charset="0"/>
              </a:rPr>
              <a:t>	</a:t>
            </a:r>
            <a:r>
              <a:rPr lang="tr-TR" b="1" dirty="0">
                <a:latin typeface="Times New Roman" panose="02020603050405020304" pitchFamily="18" charset="0"/>
                <a:ea typeface="Times New Roman" panose="02020603050405020304" pitchFamily="18" charset="0"/>
              </a:rPr>
              <a:t>1. Adalet:</a:t>
            </a:r>
            <a:r>
              <a:rPr lang="tr-TR" dirty="0">
                <a:latin typeface="Times New Roman" panose="02020603050405020304" pitchFamily="18" charset="0"/>
                <a:ea typeface="Times New Roman" panose="02020603050405020304" pitchFamily="18" charset="0"/>
              </a:rPr>
              <a:t> 	Genel olarak adalet, eşitlere eşit davranmayı içerir. Kurum açısından adalet, personele, kuruma katkıları oranında haklarını; kurallara aykırı davranmaları oranında da ceza verilmesidir</a:t>
            </a:r>
            <a:endParaRPr lang="tr-TR"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722571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390272" y="1333143"/>
            <a:ext cx="7291137" cy="3693319"/>
          </a:xfrm>
          <a:prstGeom prst="rect">
            <a:avLst/>
          </a:prstGeom>
        </p:spPr>
        <p:txBody>
          <a:bodyPr wrap="square">
            <a:spAutoFit/>
          </a:bodyPr>
          <a:lstStyle/>
          <a:p>
            <a:pPr algn="just">
              <a:spcAft>
                <a:spcPts val="0"/>
              </a:spcAft>
            </a:pPr>
            <a:r>
              <a:rPr lang="tr-TR" b="1" dirty="0">
                <a:latin typeface="Times New Roman" panose="02020603050405020304" pitchFamily="18" charset="0"/>
                <a:ea typeface="Times New Roman" panose="02020603050405020304" pitchFamily="18" charset="0"/>
              </a:rPr>
              <a:t>2. Eşitlik:  </a:t>
            </a:r>
            <a:r>
              <a:rPr lang="tr-TR" dirty="0">
                <a:latin typeface="Times New Roman" panose="02020603050405020304" pitchFamily="18" charset="0"/>
                <a:ea typeface="Times New Roman" panose="02020603050405020304" pitchFamily="18" charset="0"/>
              </a:rPr>
              <a:t>Eşitlik, yararların, sıkıntıların, hizmetlerin dağıtılmasında uygulanacak sınırların belirlenmesini içerir. Eşitlik, dürüstlük ve adalet kavramları ile bütünleşmiş bir kavramdır. Eşitlik kavramı temel bireysel eşitlik, kısmi eşitlik ve blokların eşitliği açılarından ele alınmaktadır. 	</a:t>
            </a:r>
            <a:endParaRPr lang="tr-TR" sz="1200" dirty="0">
              <a:latin typeface="Times New Roman" panose="02020603050405020304" pitchFamily="18" charset="0"/>
              <a:ea typeface="Times New Roman" panose="02020603050405020304" pitchFamily="18" charset="0"/>
            </a:endParaRPr>
          </a:p>
          <a:p>
            <a:pPr indent="449580" algn="just">
              <a:spcAft>
                <a:spcPts val="0"/>
              </a:spcAft>
            </a:pPr>
            <a:r>
              <a:rPr lang="tr-TR" dirty="0">
                <a:latin typeface="Times New Roman" panose="02020603050405020304" pitchFamily="18" charset="0"/>
                <a:ea typeface="Times New Roman" panose="02020603050405020304" pitchFamily="18" charset="0"/>
              </a:rPr>
              <a:t>a)   Temel bireysel eşitlik: Toplumdaki tüm vatandaşların bir oy hakkının olması gibi, tüm eşitlere eşit davranmayı içeren eşitlik anlayışı buna örnek gösterilebilir.</a:t>
            </a:r>
            <a:endParaRPr lang="tr-TR" sz="1200" dirty="0">
              <a:latin typeface="Times New Roman" panose="02020603050405020304" pitchFamily="18" charset="0"/>
              <a:ea typeface="Times New Roman" panose="02020603050405020304" pitchFamily="18" charset="0"/>
            </a:endParaRPr>
          </a:p>
          <a:p>
            <a:pPr indent="449580" algn="just">
              <a:spcAft>
                <a:spcPts val="0"/>
              </a:spcAft>
            </a:pPr>
            <a:r>
              <a:rPr lang="tr-TR" dirty="0">
                <a:latin typeface="Times New Roman" panose="02020603050405020304" pitchFamily="18" charset="0"/>
                <a:ea typeface="Times New Roman" panose="02020603050405020304" pitchFamily="18" charset="0"/>
              </a:rPr>
              <a:t>b) Kısmi eşitlik: Çiftçilerle işadamlarının gelir düzeylerinin farklı olması nedeniyle  farklı vergi ödemelerinde olduğu gibi, toplumdaki farklı gruplara eşitlik sağlamak için farklı davranılmasını içeren eşitlik bu tür bir anlayışa dayanır.</a:t>
            </a:r>
            <a:endParaRPr lang="tr-TR" sz="1200" dirty="0">
              <a:latin typeface="Times New Roman" panose="02020603050405020304" pitchFamily="18" charset="0"/>
              <a:ea typeface="Times New Roman" panose="02020603050405020304" pitchFamily="18" charset="0"/>
            </a:endParaRPr>
          </a:p>
          <a:p>
            <a:pPr lvl="0" algn="just">
              <a:spcAft>
                <a:spcPts val="0"/>
              </a:spcAft>
              <a:buSzPts val="1200"/>
            </a:pPr>
            <a:r>
              <a:rPr lang="tr-TR" dirty="0">
                <a:latin typeface="Times New Roman" panose="02020603050405020304" pitchFamily="18" charset="0"/>
                <a:ea typeface="Times New Roman" panose="02020603050405020304" pitchFamily="18" charset="0"/>
              </a:rPr>
              <a:t>      c)Blokların </a:t>
            </a:r>
            <a:r>
              <a:rPr lang="tr-TR" dirty="0" err="1">
                <a:latin typeface="Times New Roman" panose="02020603050405020304" pitchFamily="18" charset="0"/>
                <a:ea typeface="Times New Roman" panose="02020603050405020304" pitchFamily="18" charset="0"/>
              </a:rPr>
              <a:t>eşitliği:Kadın-erkek</a:t>
            </a:r>
            <a:r>
              <a:rPr lang="tr-TR" dirty="0">
                <a:latin typeface="Times New Roman" panose="02020603050405020304" pitchFamily="18" charset="0"/>
                <a:ea typeface="Times New Roman" panose="02020603050405020304" pitchFamily="18" charset="0"/>
              </a:rPr>
              <a:t>, genç yaşlı gibi doğal blokların eşitlenmesi çabalarını içerir.</a:t>
            </a:r>
            <a:endParaRPr lang="tr-TR"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803479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892969" y="1534760"/>
            <a:ext cx="8277726" cy="2862322"/>
          </a:xfrm>
          <a:prstGeom prst="rect">
            <a:avLst/>
          </a:prstGeom>
        </p:spPr>
        <p:txBody>
          <a:bodyPr wrap="square">
            <a:spAutoFit/>
          </a:bodyPr>
          <a:lstStyle/>
          <a:p>
            <a:pPr indent="457200" algn="just">
              <a:spcAft>
                <a:spcPts val="0"/>
              </a:spcAft>
            </a:pPr>
            <a:r>
              <a:rPr lang="tr-TR" b="1" dirty="0">
                <a:latin typeface="Times New Roman" panose="02020603050405020304" pitchFamily="18" charset="0"/>
                <a:ea typeface="Times New Roman" panose="02020603050405020304" pitchFamily="18" charset="0"/>
              </a:rPr>
              <a:t>3. Dürüstlük ve Doğruluk:</a:t>
            </a:r>
            <a:r>
              <a:rPr lang="tr-TR" dirty="0">
                <a:latin typeface="Times New Roman" panose="02020603050405020304" pitchFamily="18" charset="0"/>
                <a:ea typeface="Times New Roman" panose="02020603050405020304" pitchFamily="18" charset="0"/>
              </a:rPr>
              <a:t> </a:t>
            </a:r>
            <a:endParaRPr lang="tr-TR" sz="1200" dirty="0">
              <a:latin typeface="Times New Roman" panose="02020603050405020304" pitchFamily="18" charset="0"/>
              <a:ea typeface="Times New Roman" panose="02020603050405020304" pitchFamily="18" charset="0"/>
            </a:endParaRPr>
          </a:p>
          <a:p>
            <a:pPr algn="just">
              <a:spcAft>
                <a:spcPts val="0"/>
              </a:spcAft>
            </a:pPr>
            <a:r>
              <a:rPr lang="tr-TR" b="1" dirty="0">
                <a:latin typeface="Times New Roman" panose="02020603050405020304" pitchFamily="18" charset="0"/>
                <a:ea typeface="Times New Roman" panose="02020603050405020304" pitchFamily="18" charset="0"/>
              </a:rPr>
              <a:t>	</a:t>
            </a:r>
            <a:endParaRPr lang="tr-TR" sz="1200" dirty="0">
              <a:latin typeface="Times New Roman" panose="02020603050405020304" pitchFamily="18" charset="0"/>
              <a:ea typeface="Times New Roman" panose="02020603050405020304" pitchFamily="18" charset="0"/>
            </a:endParaRPr>
          </a:p>
          <a:p>
            <a:pPr algn="just">
              <a:spcAft>
                <a:spcPts val="0"/>
              </a:spcAft>
            </a:pPr>
            <a:r>
              <a:rPr lang="tr-TR" dirty="0">
                <a:latin typeface="Times New Roman" panose="02020603050405020304" pitchFamily="18" charset="0"/>
                <a:ea typeface="Times New Roman" panose="02020603050405020304" pitchFamily="18" charset="0"/>
              </a:rPr>
              <a:t>Dürüstlük, doğruluğu içerir, ama ondan farklı bir kavramdır.</a:t>
            </a:r>
            <a:endParaRPr lang="tr-TR" sz="1200" dirty="0">
              <a:latin typeface="Times New Roman" panose="02020603050405020304" pitchFamily="18" charset="0"/>
              <a:ea typeface="Times New Roman" panose="02020603050405020304" pitchFamily="18" charset="0"/>
            </a:endParaRPr>
          </a:p>
          <a:p>
            <a:r>
              <a:rPr lang="tr-TR" dirty="0">
                <a:latin typeface="Times New Roman" panose="02020603050405020304" pitchFamily="18" charset="0"/>
                <a:ea typeface="Times New Roman" panose="02020603050405020304" pitchFamily="18" charset="0"/>
              </a:rPr>
              <a:t> Doğruluk gerçeği söylemek, yani </a:t>
            </a:r>
            <a:r>
              <a:rPr lang="tr-TR" i="1" dirty="0">
                <a:latin typeface="Times New Roman" panose="02020603050405020304" pitchFamily="18" charset="0"/>
                <a:ea typeface="Times New Roman" panose="02020603050405020304" pitchFamily="18" charset="0"/>
              </a:rPr>
              <a:t>sözlerimizi gerçeğe uydurmaktır.</a:t>
            </a:r>
            <a:r>
              <a:rPr lang="tr-TR" dirty="0">
                <a:latin typeface="Times New Roman" panose="02020603050405020304" pitchFamily="18" charset="0"/>
                <a:ea typeface="Times New Roman" panose="02020603050405020304" pitchFamily="18" charset="0"/>
              </a:rPr>
              <a:t> </a:t>
            </a:r>
          </a:p>
          <a:p>
            <a:endParaRPr lang="tr-TR" dirty="0">
              <a:latin typeface="Times New Roman" panose="02020603050405020304" pitchFamily="18" charset="0"/>
              <a:ea typeface="Times New Roman" panose="02020603050405020304" pitchFamily="18" charset="0"/>
            </a:endParaRPr>
          </a:p>
          <a:p>
            <a:r>
              <a:rPr lang="tr-TR" dirty="0">
                <a:latin typeface="Times New Roman" panose="02020603050405020304" pitchFamily="18" charset="0"/>
                <a:ea typeface="Times New Roman" panose="02020603050405020304" pitchFamily="18" charset="0"/>
              </a:rPr>
              <a:t>Dürüstlük ise,</a:t>
            </a:r>
            <a:r>
              <a:rPr lang="tr-TR" i="1" dirty="0">
                <a:latin typeface="Times New Roman" panose="02020603050405020304" pitchFamily="18" charset="0"/>
                <a:ea typeface="Times New Roman" panose="02020603050405020304" pitchFamily="18" charset="0"/>
              </a:rPr>
              <a:t> gerçeği sözlerimize uydurmak, </a:t>
            </a:r>
            <a:r>
              <a:rPr lang="tr-TR" dirty="0">
                <a:latin typeface="Times New Roman" panose="02020603050405020304" pitchFamily="18" charset="0"/>
                <a:ea typeface="Times New Roman" panose="02020603050405020304" pitchFamily="18" charset="0"/>
              </a:rPr>
              <a:t>yani sözümüze bağlı kalmak ve beklentileri gerçekleştirmektir. </a:t>
            </a:r>
          </a:p>
          <a:p>
            <a:endParaRPr lang="tr-TR" dirty="0">
              <a:latin typeface="Times New Roman" panose="02020603050405020304" pitchFamily="18" charset="0"/>
              <a:ea typeface="Times New Roman" panose="02020603050405020304" pitchFamily="18" charset="0"/>
            </a:endParaRPr>
          </a:p>
          <a:p>
            <a:r>
              <a:rPr lang="tr-TR" dirty="0">
                <a:latin typeface="Times New Roman" panose="02020603050405020304" pitchFamily="18" charset="0"/>
                <a:ea typeface="Times New Roman" panose="02020603050405020304" pitchFamily="18" charset="0"/>
              </a:rPr>
              <a:t>Dürüstlüğü kanıtlamanın en iyi yollarından biri, o sırada yanımızda olmayan kişilere sadakat göstermektir</a:t>
            </a:r>
            <a:endParaRPr lang="tr-TR" dirty="0"/>
          </a:p>
        </p:txBody>
      </p:sp>
    </p:spTree>
    <p:extLst>
      <p:ext uri="{BB962C8B-B14F-4D97-AF65-F5344CB8AC3E}">
        <p14:creationId xmlns:p14="http://schemas.microsoft.com/office/powerpoint/2010/main" val="229310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844842" y="1997839"/>
            <a:ext cx="7299158" cy="2862322"/>
          </a:xfrm>
          <a:prstGeom prst="rect">
            <a:avLst/>
          </a:prstGeom>
        </p:spPr>
        <p:txBody>
          <a:bodyPr wrap="square">
            <a:spAutoFit/>
          </a:bodyPr>
          <a:lstStyle/>
          <a:p>
            <a:pPr algn="just">
              <a:spcAft>
                <a:spcPts val="0"/>
              </a:spcAft>
            </a:pPr>
            <a:r>
              <a:rPr lang="tr-TR" b="1" dirty="0">
                <a:latin typeface="Times New Roman" panose="02020603050405020304" pitchFamily="18" charset="0"/>
                <a:ea typeface="Times New Roman" panose="02020603050405020304" pitchFamily="18" charset="0"/>
              </a:rPr>
              <a:t>4. </a:t>
            </a:r>
            <a:r>
              <a:rPr lang="tr-TR" b="1" dirty="0" err="1">
                <a:latin typeface="Times New Roman" panose="02020603050405020304" pitchFamily="18" charset="0"/>
                <a:ea typeface="Times New Roman" panose="02020603050405020304" pitchFamily="18" charset="0"/>
              </a:rPr>
              <a:t>Tarafsızlık:</a:t>
            </a:r>
            <a:r>
              <a:rPr lang="tr-TR" dirty="0" err="1">
                <a:latin typeface="Times New Roman" panose="02020603050405020304" pitchFamily="18" charset="0"/>
                <a:ea typeface="Times New Roman" panose="02020603050405020304" pitchFamily="18" charset="0"/>
              </a:rPr>
              <a:t>Tarafsızlık</a:t>
            </a:r>
            <a:r>
              <a:rPr lang="tr-TR" dirty="0">
                <a:latin typeface="Times New Roman" panose="02020603050405020304" pitchFamily="18" charset="0"/>
                <a:ea typeface="Times New Roman" panose="02020603050405020304" pitchFamily="18" charset="0"/>
              </a:rPr>
              <a:t> ya da nesnellik, insanın bireyleri ya da nesneleri oldukları gibi görebilmesi, ve bu görüntüyü bireyin kendi istek ve korkuları ile oluşturduğu görüntüden ayırabilmesidir. </a:t>
            </a:r>
            <a:endParaRPr lang="tr-TR" sz="1200" dirty="0">
              <a:latin typeface="Times New Roman" panose="02020603050405020304" pitchFamily="18" charset="0"/>
              <a:ea typeface="Times New Roman" panose="02020603050405020304" pitchFamily="18" charset="0"/>
            </a:endParaRPr>
          </a:p>
          <a:p>
            <a:pPr algn="just">
              <a:spcAft>
                <a:spcPts val="0"/>
              </a:spcAft>
            </a:pPr>
            <a:r>
              <a:rPr lang="tr-TR" dirty="0">
                <a:latin typeface="Times New Roman" panose="02020603050405020304" pitchFamily="18" charset="0"/>
                <a:ea typeface="Times New Roman" panose="02020603050405020304" pitchFamily="18" charset="0"/>
              </a:rPr>
              <a:t> </a:t>
            </a:r>
            <a:endParaRPr lang="tr-TR" sz="1200" dirty="0">
              <a:latin typeface="Times New Roman" panose="02020603050405020304" pitchFamily="18" charset="0"/>
              <a:ea typeface="Times New Roman" panose="02020603050405020304" pitchFamily="18" charset="0"/>
            </a:endParaRPr>
          </a:p>
          <a:p>
            <a:r>
              <a:rPr lang="tr-TR" b="1" dirty="0">
                <a:latin typeface="Times New Roman" panose="02020603050405020304" pitchFamily="18" charset="0"/>
                <a:ea typeface="Times New Roman" panose="02020603050405020304" pitchFamily="18" charset="0"/>
              </a:rPr>
              <a:t>5. Sorumluluk: </a:t>
            </a:r>
            <a:r>
              <a:rPr lang="tr-TR" dirty="0">
                <a:latin typeface="Times New Roman" panose="02020603050405020304" pitchFamily="18" charset="0"/>
                <a:ea typeface="Times New Roman" panose="02020603050405020304" pitchFamily="18" charset="0"/>
              </a:rPr>
              <a:t>En genel anlamda sorumluluk, belirli bir görevin istenilen nitelik ve nicelikte yerine getirilmesidir.</a:t>
            </a:r>
            <a:r>
              <a:rPr lang="tr-TR" b="1" dirty="0">
                <a:latin typeface="Times New Roman" panose="02020603050405020304" pitchFamily="18" charset="0"/>
                <a:ea typeface="Times New Roman" panose="02020603050405020304" pitchFamily="18" charset="0"/>
              </a:rPr>
              <a:t> </a:t>
            </a:r>
          </a:p>
          <a:p>
            <a:endParaRPr lang="tr-TR" b="1" dirty="0">
              <a:latin typeface="Times New Roman" panose="02020603050405020304" pitchFamily="18" charset="0"/>
              <a:ea typeface="Times New Roman" panose="02020603050405020304" pitchFamily="18" charset="0"/>
            </a:endParaRPr>
          </a:p>
          <a:p>
            <a:r>
              <a:rPr lang="tr-TR" dirty="0">
                <a:latin typeface="Times New Roman" panose="02020603050405020304" pitchFamily="18" charset="0"/>
                <a:ea typeface="Times New Roman" panose="02020603050405020304" pitchFamily="18" charset="0"/>
              </a:rPr>
              <a:t>Genellikle iki tür sorumluluk vardır. Bunlardan birincisi, üstlere hesap vermeyi içeren “sorumlu </a:t>
            </a:r>
            <a:r>
              <a:rPr lang="tr-TR" dirty="0" err="1">
                <a:latin typeface="Times New Roman" panose="02020603050405020304" pitchFamily="18" charset="0"/>
                <a:ea typeface="Times New Roman" panose="02020603050405020304" pitchFamily="18" charset="0"/>
              </a:rPr>
              <a:t>olma”dır</a:t>
            </a:r>
            <a:r>
              <a:rPr lang="tr-TR" dirty="0">
                <a:latin typeface="Times New Roman" panose="02020603050405020304" pitchFamily="18" charset="0"/>
                <a:ea typeface="Times New Roman" panose="02020603050405020304" pitchFamily="18" charset="0"/>
              </a:rPr>
              <a:t>. İkincisi ise bir işi yapmayı üstlenmek anlamına gelen “sorumluluk </a:t>
            </a:r>
            <a:r>
              <a:rPr lang="tr-TR" dirty="0" err="1">
                <a:latin typeface="Times New Roman" panose="02020603050405020304" pitchFamily="18" charset="0"/>
                <a:ea typeface="Times New Roman" panose="02020603050405020304" pitchFamily="18" charset="0"/>
              </a:rPr>
              <a:t>alma”dır</a:t>
            </a:r>
            <a:endParaRPr lang="tr-TR" dirty="0"/>
          </a:p>
        </p:txBody>
      </p:sp>
    </p:spTree>
    <p:extLst>
      <p:ext uri="{BB962C8B-B14F-4D97-AF65-F5344CB8AC3E}">
        <p14:creationId xmlns:p14="http://schemas.microsoft.com/office/powerpoint/2010/main" val="34370626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077453" y="2287142"/>
            <a:ext cx="7002379" cy="1754326"/>
          </a:xfrm>
          <a:prstGeom prst="rect">
            <a:avLst/>
          </a:prstGeom>
        </p:spPr>
        <p:txBody>
          <a:bodyPr wrap="square">
            <a:spAutoFit/>
          </a:bodyPr>
          <a:lstStyle/>
          <a:p>
            <a:pPr algn="just">
              <a:spcAft>
                <a:spcPts val="0"/>
              </a:spcAft>
            </a:pPr>
            <a:r>
              <a:rPr lang="tr-TR" b="1" dirty="0">
                <a:latin typeface="Times New Roman" panose="02020603050405020304" pitchFamily="18" charset="0"/>
                <a:ea typeface="Times New Roman" panose="02020603050405020304" pitchFamily="18" charset="0"/>
              </a:rPr>
              <a:t>6. İnsan Hakları:</a:t>
            </a:r>
            <a:r>
              <a:rPr lang="tr-TR" dirty="0">
                <a:latin typeface="Times New Roman" panose="02020603050405020304" pitchFamily="18" charset="0"/>
                <a:ea typeface="Times New Roman" panose="02020603050405020304" pitchFamily="18" charset="0"/>
              </a:rPr>
              <a:t> İnsan hakları, insanın insan olma özelliği nedeniyle sahip olduğu; dokunulmaz, devredilmez ve vazgeçilmez nitelikte, kişiliğe bağlı haklardır.</a:t>
            </a:r>
          </a:p>
          <a:p>
            <a:pPr algn="just">
              <a:spcAft>
                <a:spcPts val="0"/>
              </a:spcAft>
            </a:pPr>
            <a:r>
              <a:rPr lang="tr-TR" dirty="0">
                <a:latin typeface="Times New Roman" panose="02020603050405020304" pitchFamily="18" charset="0"/>
                <a:ea typeface="Times New Roman" panose="02020603050405020304" pitchFamily="18" charset="0"/>
              </a:rPr>
              <a:t> İnsan haklarının iyi anlaşılması ve bireylerin bu haklarına saygılı olmak, bir görevlinin mesleki değerleri arasında öncelikle yer alması gereken unsurdur.</a:t>
            </a:r>
            <a:endParaRPr lang="tr-TR"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5062959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350168" y="1735286"/>
            <a:ext cx="7523748" cy="2308324"/>
          </a:xfrm>
          <a:prstGeom prst="rect">
            <a:avLst/>
          </a:prstGeom>
        </p:spPr>
        <p:txBody>
          <a:bodyPr wrap="square">
            <a:spAutoFit/>
          </a:bodyPr>
          <a:lstStyle/>
          <a:p>
            <a:r>
              <a:rPr lang="tr-TR" b="1" dirty="0">
                <a:latin typeface="Times New Roman" panose="02020603050405020304" pitchFamily="18" charset="0"/>
                <a:ea typeface="Times New Roman" panose="02020603050405020304" pitchFamily="18" charset="0"/>
              </a:rPr>
              <a:t>7. Hümanizm: </a:t>
            </a:r>
            <a:r>
              <a:rPr lang="tr-TR" dirty="0">
                <a:latin typeface="Times New Roman" panose="02020603050405020304" pitchFamily="18" charset="0"/>
                <a:ea typeface="Times New Roman" panose="02020603050405020304" pitchFamily="18" charset="0"/>
              </a:rPr>
              <a:t>Hümanizm, insan varlığının insani erdemlerce biçimlendirilmesi, insancıllık çabası; insanın insancıl bir biçimde eğitilmesi öğretisi; insanların yetişme ve gelişme yeteneğinden, insanın erdemleriyle , kişiliğinin göz önünde tutulmasından yola çıkılarak, insanın çok yönlü yetişmesini, özgürce etkinlikte bulunmasını, yaratıcı güçlerini ve yeteneklerini kullanabilmesini amaçlayan, insan toplumunun gelişmesine ve insan soyunun daha da yetkinleşmesine ve özgürleşmesine yönelik düşünce ve çabaların bütünüdür </a:t>
            </a:r>
            <a:endParaRPr lang="tr-TR" dirty="0"/>
          </a:p>
        </p:txBody>
      </p:sp>
    </p:spTree>
    <p:extLst>
      <p:ext uri="{BB962C8B-B14F-4D97-AF65-F5344CB8AC3E}">
        <p14:creationId xmlns:p14="http://schemas.microsoft.com/office/powerpoint/2010/main" val="35391488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245895" y="1922457"/>
            <a:ext cx="6841958" cy="1754326"/>
          </a:xfrm>
          <a:prstGeom prst="rect">
            <a:avLst/>
          </a:prstGeom>
        </p:spPr>
        <p:txBody>
          <a:bodyPr wrap="square">
            <a:spAutoFit/>
          </a:bodyPr>
          <a:lstStyle/>
          <a:p>
            <a:r>
              <a:rPr lang="tr-TR" b="1" dirty="0">
                <a:latin typeface="Times New Roman" panose="02020603050405020304" pitchFamily="18" charset="0"/>
                <a:ea typeface="Times New Roman" panose="02020603050405020304" pitchFamily="18" charset="0"/>
              </a:rPr>
              <a:t>8. Bağlılık :</a:t>
            </a:r>
            <a:r>
              <a:rPr lang="tr-TR" dirty="0">
                <a:latin typeface="Times New Roman" panose="02020603050405020304" pitchFamily="18" charset="0"/>
                <a:ea typeface="Times New Roman" panose="02020603050405020304" pitchFamily="18" charset="0"/>
              </a:rPr>
              <a:t>Personelin  kurum üyeliklerini sürdürmeleri ve  kurumda kalmak istemeleri olarak tanımlanabilir. Kuruma bağlı personel, kurumdan etkilenirler ve kendileri de ortak amaçların gerçekleştirilmesi için ortaklaşa bir çaba gösterirler.</a:t>
            </a:r>
          </a:p>
          <a:p>
            <a:endParaRPr lang="tr-TR" dirty="0">
              <a:latin typeface="Times New Roman" panose="02020603050405020304" pitchFamily="18" charset="0"/>
            </a:endParaRPr>
          </a:p>
          <a:p>
            <a:endParaRPr lang="tr-TR" dirty="0"/>
          </a:p>
        </p:txBody>
      </p:sp>
      <p:sp>
        <p:nvSpPr>
          <p:cNvPr id="3" name="Dikdörtgen 2"/>
          <p:cNvSpPr/>
          <p:nvPr/>
        </p:nvSpPr>
        <p:spPr>
          <a:xfrm>
            <a:off x="2358189" y="3437890"/>
            <a:ext cx="7475621" cy="2031325"/>
          </a:xfrm>
          <a:prstGeom prst="rect">
            <a:avLst/>
          </a:prstGeom>
        </p:spPr>
        <p:txBody>
          <a:bodyPr wrap="square">
            <a:spAutoFit/>
          </a:bodyPr>
          <a:lstStyle/>
          <a:p>
            <a:r>
              <a:rPr lang="tr-TR" b="1" dirty="0">
                <a:latin typeface="Times New Roman" panose="02020603050405020304" pitchFamily="18" charset="0"/>
                <a:ea typeface="Times New Roman" panose="02020603050405020304" pitchFamily="18" charset="0"/>
              </a:rPr>
              <a:t>9. Hukukun Üstünlüğü: </a:t>
            </a:r>
            <a:r>
              <a:rPr lang="tr-TR" dirty="0">
                <a:latin typeface="Times New Roman" panose="02020603050405020304" pitchFamily="18" charset="0"/>
                <a:ea typeface="Times New Roman" panose="02020603050405020304" pitchFamily="18" charset="0"/>
              </a:rPr>
              <a:t>Hukukun üstünlüğü ilkesinin yaşama geçirilmesi, hukuk düzeninin toplumda egemen kılınması, hukuk üzerinde politik baskı olmaması, yasaların kişilere göre çifte standartlı olarak uygulanmaması, suçlunun kısa sürede yakalanıp cezalandırılması, yargısız uygulama yapılmaması, yetkili kişi ve kuruluşların yasalara saygılı olması, hukuk sisteminin sağlıklı ve düzenli çalışmasını sağlar. Bireye ve topluma güven, huzur , mutluluk ve rahatlık verir </a:t>
            </a:r>
            <a:endParaRPr lang="tr-TR" dirty="0"/>
          </a:p>
        </p:txBody>
      </p:sp>
    </p:spTree>
    <p:extLst>
      <p:ext uri="{BB962C8B-B14F-4D97-AF65-F5344CB8AC3E}">
        <p14:creationId xmlns:p14="http://schemas.microsoft.com/office/powerpoint/2010/main" val="9105582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269958" y="2122983"/>
            <a:ext cx="7620000" cy="3139321"/>
          </a:xfrm>
          <a:prstGeom prst="rect">
            <a:avLst/>
          </a:prstGeom>
        </p:spPr>
        <p:txBody>
          <a:bodyPr wrap="square">
            <a:spAutoFit/>
          </a:bodyPr>
          <a:lstStyle/>
          <a:p>
            <a:r>
              <a:rPr lang="tr-TR" b="1" dirty="0">
                <a:latin typeface="Times New Roman" panose="02020603050405020304" pitchFamily="18" charset="0"/>
                <a:ea typeface="Times New Roman" panose="02020603050405020304" pitchFamily="18" charset="0"/>
              </a:rPr>
              <a:t>10. Sevgi : </a:t>
            </a:r>
            <a:r>
              <a:rPr lang="tr-TR" dirty="0">
                <a:latin typeface="Times New Roman" panose="02020603050405020304" pitchFamily="18" charset="0"/>
                <a:ea typeface="Times New Roman" panose="02020603050405020304" pitchFamily="18" charset="0"/>
              </a:rPr>
              <a:t>Sevgi, insanın kendisiyle ve başkalarıyla yaratıcı bir ilişki kurması demektir. Sevgi, sorumluluğu, ilgi ve bakımı, saygı ve bilgiyi, başkasının yetişme ve gelişmesi için istek duymayı gerektirir.</a:t>
            </a:r>
          </a:p>
          <a:p>
            <a:endParaRPr lang="tr-TR" dirty="0">
              <a:latin typeface="Times New Roman" panose="02020603050405020304" pitchFamily="18" charset="0"/>
              <a:ea typeface="Times New Roman" panose="02020603050405020304" pitchFamily="18" charset="0"/>
            </a:endParaRPr>
          </a:p>
          <a:p>
            <a:r>
              <a:rPr lang="tr-TR" b="1" dirty="0"/>
              <a:t>11. Hoşgörü:</a:t>
            </a:r>
            <a:r>
              <a:rPr lang="tr-TR" dirty="0"/>
              <a:t> Hoşgörü Batı dillerinde “</a:t>
            </a:r>
            <a:r>
              <a:rPr lang="tr-TR" dirty="0" err="1"/>
              <a:t>tolerance</a:t>
            </a:r>
            <a:r>
              <a:rPr lang="tr-TR" dirty="0"/>
              <a:t>” sözcüğü, Latince “</a:t>
            </a:r>
            <a:r>
              <a:rPr lang="tr-TR" dirty="0" err="1"/>
              <a:t>tolerare</a:t>
            </a:r>
            <a:r>
              <a:rPr lang="tr-TR" dirty="0"/>
              <a:t>” kökünden gelmektedir. </a:t>
            </a:r>
            <a:r>
              <a:rPr lang="tr-TR" dirty="0" err="1"/>
              <a:t>Türkçe’de</a:t>
            </a:r>
            <a:r>
              <a:rPr lang="tr-TR" dirty="0"/>
              <a:t> bu kavramın karşılığı “katlanmak”, “tahammül etmek”, “dayanmak” şeklinde karşılık bulmaktadır</a:t>
            </a:r>
          </a:p>
          <a:p>
            <a:endParaRPr lang="tr-TR" dirty="0">
              <a:latin typeface="Times New Roman" panose="02020603050405020304" pitchFamily="18" charset="0"/>
              <a:ea typeface="Times New Roman" panose="02020603050405020304" pitchFamily="18" charset="0"/>
            </a:endParaRPr>
          </a:p>
          <a:p>
            <a:r>
              <a:rPr lang="tr-TR" dirty="0"/>
              <a:t>Hoşgörü insanın karşısındaki insanla etkileşirken, onunla </a:t>
            </a:r>
            <a:r>
              <a:rPr lang="tr-TR" dirty="0" err="1"/>
              <a:t>eşduyum</a:t>
            </a:r>
            <a:r>
              <a:rPr lang="tr-TR" dirty="0"/>
              <a:t>(</a:t>
            </a:r>
            <a:r>
              <a:rPr lang="tr-TR" dirty="0" err="1"/>
              <a:t>empaty</a:t>
            </a:r>
            <a:r>
              <a:rPr lang="tr-TR" dirty="0"/>
              <a:t>) içinde olmaya; etkileşim konusunda onun algılarını tanımaya çalışması; böylece ona tepkide bulunması; ve ona  belli bir sınır içinde kusurluluk hakkı tanınmasıdır </a:t>
            </a:r>
            <a:r>
              <a:rPr lang="tr-TR" dirty="0">
                <a:latin typeface="Times New Roman" panose="02020603050405020304" pitchFamily="18" charset="0"/>
                <a:ea typeface="Times New Roman" panose="02020603050405020304" pitchFamily="18" charset="0"/>
              </a:rPr>
              <a:t> </a:t>
            </a:r>
            <a:endParaRPr lang="tr-TR" dirty="0"/>
          </a:p>
        </p:txBody>
      </p:sp>
    </p:spTree>
    <p:extLst>
      <p:ext uri="{BB962C8B-B14F-4D97-AF65-F5344CB8AC3E}">
        <p14:creationId xmlns:p14="http://schemas.microsoft.com/office/powerpoint/2010/main" val="32031474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077452" y="1966300"/>
            <a:ext cx="7603958" cy="1846659"/>
          </a:xfrm>
          <a:prstGeom prst="rect">
            <a:avLst/>
          </a:prstGeom>
        </p:spPr>
        <p:txBody>
          <a:bodyPr wrap="square">
            <a:spAutoFit/>
          </a:bodyPr>
          <a:lstStyle/>
          <a:p>
            <a:pPr algn="just">
              <a:spcAft>
                <a:spcPts val="0"/>
              </a:spcAft>
            </a:pPr>
            <a:r>
              <a:rPr lang="tr-TR" b="1" dirty="0">
                <a:latin typeface="Times New Roman" panose="02020603050405020304" pitchFamily="18" charset="0"/>
                <a:ea typeface="Times New Roman" panose="02020603050405020304" pitchFamily="18" charset="0"/>
              </a:rPr>
              <a:t>12. Saygı:</a:t>
            </a:r>
            <a:r>
              <a:rPr lang="tr-TR" dirty="0">
                <a:latin typeface="Times New Roman" panose="02020603050405020304" pitchFamily="18" charset="0"/>
                <a:ea typeface="Times New Roman" panose="02020603050405020304" pitchFamily="18" charset="0"/>
              </a:rPr>
              <a:t> Saygı, birçok kişinin bildiği ve beklediği gibi korkmak, çekinmek değildir. Saygılı olmak, bir insanı olduğu gibi görebilme  yetisini ve onu özgün bireyselliği içinde </a:t>
            </a:r>
            <a:r>
              <a:rPr lang="tr-TR" dirty="0" err="1">
                <a:latin typeface="Times New Roman" panose="02020603050405020304" pitchFamily="18" charset="0"/>
                <a:ea typeface="Times New Roman" panose="02020603050405020304" pitchFamily="18" charset="0"/>
              </a:rPr>
              <a:t>farkedebilmeyi</a:t>
            </a:r>
            <a:r>
              <a:rPr lang="tr-TR" dirty="0">
                <a:latin typeface="Times New Roman" panose="02020603050405020304" pitchFamily="18" charset="0"/>
                <a:ea typeface="Times New Roman" panose="02020603050405020304" pitchFamily="18" charset="0"/>
              </a:rPr>
              <a:t> anlatır. </a:t>
            </a:r>
          </a:p>
          <a:p>
            <a:pPr algn="just">
              <a:spcAft>
                <a:spcPts val="0"/>
              </a:spcAft>
            </a:pPr>
            <a:r>
              <a:rPr lang="tr-TR" dirty="0">
                <a:latin typeface="Times New Roman" panose="02020603050405020304" pitchFamily="18" charset="0"/>
                <a:ea typeface="Times New Roman" panose="02020603050405020304" pitchFamily="18" charset="0"/>
              </a:rPr>
              <a:t>Saygı bir insanı, bir kişi olarak olduğu gibi görmek, onun kişiliğini ve özgünlüğünü  fark etmek demektir.</a:t>
            </a:r>
          </a:p>
          <a:p>
            <a:pPr algn="just">
              <a:spcAft>
                <a:spcPts val="0"/>
              </a:spcAft>
            </a:pPr>
            <a:endParaRPr lang="tr-TR" sz="1200" dirty="0">
              <a:effectLst/>
              <a:latin typeface="Times New Roman" panose="02020603050405020304" pitchFamily="18" charset="0"/>
              <a:ea typeface="Times New Roman" panose="02020603050405020304" pitchFamily="18" charset="0"/>
            </a:endParaRPr>
          </a:p>
          <a:p>
            <a:pPr algn="just">
              <a:spcAft>
                <a:spcPts val="0"/>
              </a:spcAft>
            </a:pPr>
            <a:endParaRPr lang="tr-TR" sz="1200" dirty="0">
              <a:effectLst/>
              <a:latin typeface="Times New Roman" panose="02020603050405020304" pitchFamily="18" charset="0"/>
              <a:ea typeface="Times New Roman" panose="02020603050405020304" pitchFamily="18" charset="0"/>
            </a:endParaRPr>
          </a:p>
        </p:txBody>
      </p:sp>
      <p:sp>
        <p:nvSpPr>
          <p:cNvPr id="3" name="Dikdörtgen 2"/>
          <p:cNvSpPr/>
          <p:nvPr/>
        </p:nvSpPr>
        <p:spPr>
          <a:xfrm>
            <a:off x="2157662" y="3812959"/>
            <a:ext cx="7764379" cy="646331"/>
          </a:xfrm>
          <a:prstGeom prst="rect">
            <a:avLst/>
          </a:prstGeom>
        </p:spPr>
        <p:txBody>
          <a:bodyPr wrap="square">
            <a:spAutoFit/>
          </a:bodyPr>
          <a:lstStyle/>
          <a:p>
            <a:r>
              <a:rPr lang="tr-TR" b="1" dirty="0">
                <a:latin typeface="Times New Roman" panose="02020603050405020304" pitchFamily="18" charset="0"/>
                <a:ea typeface="Times New Roman" panose="02020603050405020304" pitchFamily="18" charset="0"/>
              </a:rPr>
              <a:t>13.Tutumluluk:</a:t>
            </a:r>
            <a:r>
              <a:rPr lang="tr-TR" dirty="0">
                <a:latin typeface="Times New Roman" panose="02020603050405020304" pitchFamily="18" charset="0"/>
                <a:ea typeface="Times New Roman" panose="02020603050405020304" pitchFamily="18" charset="0"/>
              </a:rPr>
              <a:t> Kurumu amaçlarına uygun  olarak yaşatmak, kurumdaki insan ve madde kaynaklarını en verimli biçimde kullanmakla gerçekleşir </a:t>
            </a:r>
            <a:endParaRPr lang="tr-TR" dirty="0"/>
          </a:p>
        </p:txBody>
      </p:sp>
    </p:spTree>
    <p:extLst>
      <p:ext uri="{BB962C8B-B14F-4D97-AF65-F5344CB8AC3E}">
        <p14:creationId xmlns:p14="http://schemas.microsoft.com/office/powerpoint/2010/main" val="7905384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157663" y="1693584"/>
            <a:ext cx="7828548" cy="2308324"/>
          </a:xfrm>
          <a:prstGeom prst="rect">
            <a:avLst/>
          </a:prstGeom>
        </p:spPr>
        <p:txBody>
          <a:bodyPr wrap="square">
            <a:spAutoFit/>
          </a:bodyPr>
          <a:lstStyle/>
          <a:p>
            <a:r>
              <a:rPr lang="tr-TR" b="1" dirty="0">
                <a:latin typeface="Times New Roman" panose="02020603050405020304" pitchFamily="18" charset="0"/>
                <a:ea typeface="Times New Roman" panose="02020603050405020304" pitchFamily="18" charset="0"/>
              </a:rPr>
              <a:t>18. Hak ve özgürlükler:</a:t>
            </a:r>
            <a:r>
              <a:rPr lang="tr-TR" dirty="0">
                <a:latin typeface="Times New Roman" panose="02020603050405020304" pitchFamily="18" charset="0"/>
                <a:ea typeface="Times New Roman" panose="02020603050405020304" pitchFamily="18" charset="0"/>
              </a:rPr>
              <a:t> Hak ve özgürlükler bir arada kullanılan ancak birbiri ile karıştırılan kavramlardır. </a:t>
            </a:r>
            <a:r>
              <a:rPr lang="tr-TR" i="1" dirty="0">
                <a:latin typeface="Times New Roman" panose="02020603050405020304" pitchFamily="18" charset="0"/>
                <a:ea typeface="Times New Roman" panose="02020603050405020304" pitchFamily="18" charset="0"/>
              </a:rPr>
              <a:t>Özgürlük kavramı, bireyin bir şeyi yapma ya da yapmama serbestliğidir.</a:t>
            </a:r>
            <a:r>
              <a:rPr lang="tr-TR" dirty="0">
                <a:latin typeface="Times New Roman" panose="02020603050405020304" pitchFamily="18" charset="0"/>
                <a:ea typeface="Times New Roman" panose="02020603050405020304" pitchFamily="18" charset="0"/>
              </a:rPr>
              <a:t> Devlet ya da başka herhangi bir güç tarafından, herhangi bir şey için zorlanmamayı, baskı altında tutulmamayı ifade eder. </a:t>
            </a:r>
            <a:r>
              <a:rPr lang="tr-TR" i="1" dirty="0">
                <a:latin typeface="Times New Roman" panose="02020603050405020304" pitchFamily="18" charset="0"/>
                <a:ea typeface="Times New Roman" panose="02020603050405020304" pitchFamily="18" charset="0"/>
              </a:rPr>
              <a:t>Hak kavramı ise, özgürlükten daha geniş bir anlam taşır. Bu terim, </a:t>
            </a:r>
            <a:r>
              <a:rPr lang="tr-TR" i="1" dirty="0"/>
              <a:t>yalnızca serbest olmayı değil, bunun yanı sıra devletten ya da toplumdan bazı istemlerde bulunmayı da içerir.</a:t>
            </a:r>
            <a:r>
              <a:rPr lang="tr-TR" dirty="0"/>
              <a:t> Bu anlamda örneğin eğitim hakkı ile eğitim özgürlüğü birbirinden farklı kavramlardır</a:t>
            </a:r>
            <a:r>
              <a:rPr lang="tr-TR" i="1" dirty="0">
                <a:latin typeface="Times New Roman" panose="02020603050405020304" pitchFamily="18" charset="0"/>
              </a:rPr>
              <a:t>. </a:t>
            </a:r>
          </a:p>
          <a:p>
            <a:endParaRPr lang="tr-TR" dirty="0"/>
          </a:p>
        </p:txBody>
      </p:sp>
    </p:spTree>
    <p:extLst>
      <p:ext uri="{BB962C8B-B14F-4D97-AF65-F5344CB8AC3E}">
        <p14:creationId xmlns:p14="http://schemas.microsoft.com/office/powerpoint/2010/main" val="15022464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644316" y="1166297"/>
            <a:ext cx="7523747" cy="4247317"/>
          </a:xfrm>
          <a:prstGeom prst="rect">
            <a:avLst/>
          </a:prstGeom>
        </p:spPr>
        <p:txBody>
          <a:bodyPr wrap="square">
            <a:spAutoFit/>
          </a:bodyPr>
          <a:lstStyle/>
          <a:p>
            <a:pPr algn="just">
              <a:spcAft>
                <a:spcPts val="0"/>
              </a:spcAft>
            </a:pPr>
            <a:r>
              <a:rPr lang="tr-TR" b="1" dirty="0">
                <a:latin typeface="Times New Roman" panose="02020603050405020304" pitchFamily="18" charset="0"/>
                <a:ea typeface="Times New Roman" panose="02020603050405020304" pitchFamily="18" charset="0"/>
              </a:rPr>
              <a:t>19. Emeğin hakkını verme: </a:t>
            </a:r>
            <a:r>
              <a:rPr lang="tr-TR" dirty="0">
                <a:latin typeface="Times New Roman" panose="02020603050405020304" pitchFamily="18" charset="0"/>
                <a:ea typeface="Times New Roman" panose="02020603050405020304" pitchFamily="18" charset="0"/>
              </a:rPr>
              <a:t>Emek, personelin iş performansını elde etmek için harcadığı kafa ve kol gücüdür. Personelin emeğinin hakkı, kurumun yapacağı ödeme ile verilir. Ödeme, personelin üretim için kuruma harcadığı emekle yarattığı değer artışından hak ettiği değerin kendisine döndürülmesidir. Ödeme kavramı içine, personelin kurumca karşılanan her türlü gereksinmesi girmektedir. Personelin kendilerinden beklenen performans düzeyine ulaşmaları için onlara emeklerine denk ödemenin yapılması gerekmektedir.</a:t>
            </a:r>
          </a:p>
          <a:p>
            <a:pPr algn="just">
              <a:spcAft>
                <a:spcPts val="0"/>
              </a:spcAft>
            </a:pPr>
            <a:r>
              <a:rPr lang="tr-TR" b="1" dirty="0">
                <a:latin typeface="Times New Roman" panose="02020603050405020304" pitchFamily="18" charset="0"/>
                <a:ea typeface="Times New Roman" panose="02020603050405020304" pitchFamily="18" charset="0"/>
              </a:rPr>
              <a:t> </a:t>
            </a:r>
            <a:endParaRPr lang="tr-TR" sz="1200" dirty="0">
              <a:latin typeface="Times New Roman" panose="02020603050405020304" pitchFamily="18" charset="0"/>
              <a:ea typeface="Times New Roman" panose="02020603050405020304" pitchFamily="18" charset="0"/>
            </a:endParaRPr>
          </a:p>
          <a:p>
            <a:pPr algn="just">
              <a:spcAft>
                <a:spcPts val="0"/>
              </a:spcAft>
            </a:pPr>
            <a:r>
              <a:rPr lang="tr-TR" b="1" dirty="0">
                <a:latin typeface="Times New Roman" panose="02020603050405020304" pitchFamily="18" charset="0"/>
                <a:ea typeface="Times New Roman" panose="02020603050405020304" pitchFamily="18" charset="0"/>
              </a:rPr>
              <a:t>20.Yasa dışı emirlere karşı direnme: </a:t>
            </a:r>
            <a:r>
              <a:rPr lang="tr-TR" dirty="0">
                <a:latin typeface="Times New Roman" panose="02020603050405020304" pitchFamily="18" charset="0"/>
                <a:ea typeface="Times New Roman" panose="02020603050405020304" pitchFamily="18" charset="0"/>
              </a:rPr>
              <a:t>Hukuken suç teşkil eden emirlerin</a:t>
            </a:r>
            <a:endParaRPr lang="tr-TR" sz="1200" dirty="0">
              <a:latin typeface="Times New Roman" panose="02020603050405020304" pitchFamily="18" charset="0"/>
              <a:ea typeface="Times New Roman" panose="02020603050405020304" pitchFamily="18" charset="0"/>
            </a:endParaRPr>
          </a:p>
          <a:p>
            <a:pPr algn="just">
              <a:spcAft>
                <a:spcPts val="0"/>
              </a:spcAft>
            </a:pPr>
            <a:r>
              <a:rPr lang="tr-TR" dirty="0">
                <a:latin typeface="Times New Roman" panose="02020603050405020304" pitchFamily="18" charset="0"/>
                <a:ea typeface="Times New Roman" panose="02020603050405020304" pitchFamily="18" charset="0"/>
              </a:rPr>
              <a:t> yerine getirilmemesi konusunda meslek mensupları kesin bir tavır içinde olmalıdırlar. Verilen emrin hukuka aykırı olduğu kanısına varan görevlinin, bu aykırılığı üstüne bildirmesi ve emrin yazılı bir şekilde kendisine verilmesini sağlaması gerekir. Böylece hukuka aykırı emir veren üstün, bu emrin verilmesinden veya yerine getirilmesinden doğan sorumluluğu üstlenmesi sağlanır  </a:t>
            </a:r>
            <a:endParaRPr lang="tr-TR"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25870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50900" y="317932"/>
            <a:ext cx="8291799" cy="914400"/>
          </a:xfrm>
          <a:prstGeom prst="rect">
            <a:avLst/>
          </a:prstGeom>
          <a:blipFill>
            <a:blip r:embed="rId2" cstate="print"/>
            <a:stretch>
              <a:fillRect/>
            </a:stretch>
          </a:blipFill>
        </p:spPr>
        <p:txBody>
          <a:bodyPr wrap="square" lIns="0" tIns="0" rIns="0" bIns="0" rtlCol="0"/>
          <a:lstStyle/>
          <a:p>
            <a:endParaRPr sz="1632">
              <a:solidFill>
                <a:prstClr val="black"/>
              </a:solidFill>
            </a:endParaRPr>
          </a:p>
        </p:txBody>
      </p:sp>
      <p:sp>
        <p:nvSpPr>
          <p:cNvPr id="3" name="object 3"/>
          <p:cNvSpPr/>
          <p:nvPr/>
        </p:nvSpPr>
        <p:spPr>
          <a:xfrm>
            <a:off x="5942936" y="316816"/>
            <a:ext cx="4299764" cy="521116"/>
          </a:xfrm>
          <a:prstGeom prst="rect">
            <a:avLst/>
          </a:prstGeom>
          <a:blipFill>
            <a:blip r:embed="rId3" cstate="print"/>
            <a:stretch>
              <a:fillRect/>
            </a:stretch>
          </a:blipFill>
        </p:spPr>
        <p:txBody>
          <a:bodyPr wrap="square" lIns="0" tIns="0" rIns="0" bIns="0" rtlCol="0"/>
          <a:lstStyle/>
          <a:p>
            <a:endParaRPr sz="1632">
              <a:solidFill>
                <a:prstClr val="black"/>
              </a:solidFill>
            </a:endParaRPr>
          </a:p>
        </p:txBody>
      </p:sp>
      <p:sp>
        <p:nvSpPr>
          <p:cNvPr id="4" name="object 4"/>
          <p:cNvSpPr/>
          <p:nvPr/>
        </p:nvSpPr>
        <p:spPr>
          <a:xfrm>
            <a:off x="8028044" y="388792"/>
            <a:ext cx="2214656" cy="471479"/>
          </a:xfrm>
          <a:prstGeom prst="rect">
            <a:avLst/>
          </a:prstGeom>
          <a:blipFill>
            <a:blip r:embed="rId4" cstate="print"/>
            <a:stretch>
              <a:fillRect/>
            </a:stretch>
          </a:blipFill>
        </p:spPr>
        <p:txBody>
          <a:bodyPr wrap="square" lIns="0" tIns="0" rIns="0" bIns="0" rtlCol="0"/>
          <a:lstStyle/>
          <a:p>
            <a:endParaRPr sz="1632">
              <a:solidFill>
                <a:prstClr val="black"/>
              </a:solidFill>
            </a:endParaRPr>
          </a:p>
        </p:txBody>
      </p:sp>
      <p:sp>
        <p:nvSpPr>
          <p:cNvPr id="5" name="object 5"/>
          <p:cNvSpPr/>
          <p:nvPr/>
        </p:nvSpPr>
        <p:spPr>
          <a:xfrm>
            <a:off x="1974325" y="1064378"/>
            <a:ext cx="513273" cy="169095"/>
          </a:xfrm>
          <a:prstGeom prst="rect">
            <a:avLst/>
          </a:prstGeom>
          <a:blipFill>
            <a:blip r:embed="rId5" cstate="print"/>
            <a:stretch>
              <a:fillRect/>
            </a:stretch>
          </a:blipFill>
        </p:spPr>
        <p:txBody>
          <a:bodyPr wrap="square" lIns="0" tIns="0" rIns="0" bIns="0" rtlCol="0"/>
          <a:lstStyle/>
          <a:p>
            <a:endParaRPr sz="1632">
              <a:solidFill>
                <a:prstClr val="black"/>
              </a:solidFill>
            </a:endParaRPr>
          </a:p>
        </p:txBody>
      </p:sp>
      <p:sp>
        <p:nvSpPr>
          <p:cNvPr id="6" name="object 6"/>
          <p:cNvSpPr/>
          <p:nvPr/>
        </p:nvSpPr>
        <p:spPr>
          <a:xfrm>
            <a:off x="2468170" y="737860"/>
            <a:ext cx="3411403" cy="321991"/>
          </a:xfrm>
          <a:prstGeom prst="rect">
            <a:avLst/>
          </a:prstGeom>
          <a:blipFill>
            <a:blip r:embed="rId6" cstate="print"/>
            <a:stretch>
              <a:fillRect/>
            </a:stretch>
          </a:blipFill>
        </p:spPr>
        <p:txBody>
          <a:bodyPr wrap="square" lIns="0" tIns="0" rIns="0" bIns="0" rtlCol="0"/>
          <a:lstStyle/>
          <a:p>
            <a:endParaRPr sz="1632">
              <a:solidFill>
                <a:prstClr val="black"/>
              </a:solidFill>
            </a:endParaRPr>
          </a:p>
        </p:txBody>
      </p:sp>
      <p:sp>
        <p:nvSpPr>
          <p:cNvPr id="7" name="object 7"/>
          <p:cNvSpPr/>
          <p:nvPr/>
        </p:nvSpPr>
        <p:spPr>
          <a:xfrm>
            <a:off x="5835971" y="854952"/>
            <a:ext cx="2372764" cy="137989"/>
          </a:xfrm>
          <a:prstGeom prst="rect">
            <a:avLst/>
          </a:prstGeom>
          <a:blipFill>
            <a:blip r:embed="rId7" cstate="print"/>
            <a:stretch>
              <a:fillRect/>
            </a:stretch>
          </a:blipFill>
        </p:spPr>
        <p:txBody>
          <a:bodyPr wrap="square" lIns="0" tIns="0" rIns="0" bIns="0" rtlCol="0"/>
          <a:lstStyle/>
          <a:p>
            <a:endParaRPr sz="1632">
              <a:solidFill>
                <a:prstClr val="black"/>
              </a:solidFill>
            </a:endParaRPr>
          </a:p>
        </p:txBody>
      </p:sp>
      <p:sp>
        <p:nvSpPr>
          <p:cNvPr id="8" name="object 8"/>
          <p:cNvSpPr/>
          <p:nvPr/>
        </p:nvSpPr>
        <p:spPr>
          <a:xfrm>
            <a:off x="8143829" y="852695"/>
            <a:ext cx="488904" cy="88906"/>
          </a:xfrm>
          <a:prstGeom prst="rect">
            <a:avLst/>
          </a:prstGeom>
          <a:blipFill>
            <a:blip r:embed="rId8" cstate="print"/>
            <a:stretch>
              <a:fillRect/>
            </a:stretch>
          </a:blipFill>
        </p:spPr>
        <p:txBody>
          <a:bodyPr wrap="square" lIns="0" tIns="0" rIns="0" bIns="0" rtlCol="0"/>
          <a:lstStyle/>
          <a:p>
            <a:endParaRPr sz="1632">
              <a:solidFill>
                <a:prstClr val="black"/>
              </a:solidFill>
            </a:endParaRPr>
          </a:p>
        </p:txBody>
      </p:sp>
      <p:sp>
        <p:nvSpPr>
          <p:cNvPr id="9" name="object 9"/>
          <p:cNvSpPr/>
          <p:nvPr/>
        </p:nvSpPr>
        <p:spPr>
          <a:xfrm>
            <a:off x="8892014" y="762914"/>
            <a:ext cx="60472" cy="15121"/>
          </a:xfrm>
          <a:prstGeom prst="rect">
            <a:avLst/>
          </a:prstGeom>
          <a:blipFill>
            <a:blip r:embed="rId9" cstate="print"/>
            <a:stretch>
              <a:fillRect/>
            </a:stretch>
          </a:blipFill>
        </p:spPr>
        <p:txBody>
          <a:bodyPr wrap="square" lIns="0" tIns="0" rIns="0" bIns="0" rtlCol="0"/>
          <a:lstStyle/>
          <a:p>
            <a:endParaRPr sz="1632">
              <a:solidFill>
                <a:prstClr val="black"/>
              </a:solidFill>
            </a:endParaRPr>
          </a:p>
        </p:txBody>
      </p:sp>
      <p:sp>
        <p:nvSpPr>
          <p:cNvPr id="10" name="object 10"/>
          <p:cNvSpPr/>
          <p:nvPr/>
        </p:nvSpPr>
        <p:spPr>
          <a:xfrm>
            <a:off x="8928487" y="316816"/>
            <a:ext cx="1266329" cy="443380"/>
          </a:xfrm>
          <a:prstGeom prst="rect">
            <a:avLst/>
          </a:prstGeom>
          <a:blipFill>
            <a:blip r:embed="rId10" cstate="print"/>
            <a:stretch>
              <a:fillRect/>
            </a:stretch>
          </a:blipFill>
        </p:spPr>
        <p:txBody>
          <a:bodyPr wrap="square" lIns="0" tIns="0" rIns="0" bIns="0" rtlCol="0"/>
          <a:lstStyle/>
          <a:p>
            <a:endParaRPr sz="1632">
              <a:solidFill>
                <a:prstClr val="black"/>
              </a:solidFill>
            </a:endParaRPr>
          </a:p>
        </p:txBody>
      </p:sp>
      <p:sp>
        <p:nvSpPr>
          <p:cNvPr id="11" name="object 11"/>
          <p:cNvSpPr/>
          <p:nvPr/>
        </p:nvSpPr>
        <p:spPr>
          <a:xfrm>
            <a:off x="2487597" y="773442"/>
            <a:ext cx="3348374" cy="290936"/>
          </a:xfrm>
          <a:prstGeom prst="rect">
            <a:avLst/>
          </a:prstGeom>
          <a:blipFill>
            <a:blip r:embed="rId11" cstate="print"/>
            <a:stretch>
              <a:fillRect/>
            </a:stretch>
          </a:blipFill>
        </p:spPr>
        <p:txBody>
          <a:bodyPr wrap="square" lIns="0" tIns="0" rIns="0" bIns="0" rtlCol="0"/>
          <a:lstStyle/>
          <a:p>
            <a:endParaRPr sz="1632">
              <a:solidFill>
                <a:prstClr val="black"/>
              </a:solidFill>
            </a:endParaRPr>
          </a:p>
        </p:txBody>
      </p:sp>
      <p:sp>
        <p:nvSpPr>
          <p:cNvPr id="12" name="object 12"/>
          <p:cNvSpPr/>
          <p:nvPr/>
        </p:nvSpPr>
        <p:spPr>
          <a:xfrm>
            <a:off x="5879572" y="849909"/>
            <a:ext cx="2094897" cy="106066"/>
          </a:xfrm>
          <a:prstGeom prst="rect">
            <a:avLst/>
          </a:prstGeom>
          <a:blipFill>
            <a:blip r:embed="rId12" cstate="print"/>
            <a:stretch>
              <a:fillRect/>
            </a:stretch>
          </a:blipFill>
        </p:spPr>
        <p:txBody>
          <a:bodyPr wrap="square" lIns="0" tIns="0" rIns="0" bIns="0" rtlCol="0"/>
          <a:lstStyle/>
          <a:p>
            <a:endParaRPr sz="1632">
              <a:solidFill>
                <a:prstClr val="black"/>
              </a:solidFill>
            </a:endParaRPr>
          </a:p>
        </p:txBody>
      </p:sp>
      <p:sp>
        <p:nvSpPr>
          <p:cNvPr id="13" name="object 13"/>
          <p:cNvSpPr/>
          <p:nvPr/>
        </p:nvSpPr>
        <p:spPr>
          <a:xfrm>
            <a:off x="1950901" y="1059851"/>
            <a:ext cx="517269" cy="181844"/>
          </a:xfrm>
          <a:prstGeom prst="rect">
            <a:avLst/>
          </a:prstGeom>
          <a:blipFill>
            <a:blip r:embed="rId13" cstate="print"/>
            <a:stretch>
              <a:fillRect/>
            </a:stretch>
          </a:blipFill>
        </p:spPr>
        <p:txBody>
          <a:bodyPr wrap="square" lIns="0" tIns="0" rIns="0" bIns="0" rtlCol="0"/>
          <a:lstStyle/>
          <a:p>
            <a:endParaRPr sz="1632">
              <a:solidFill>
                <a:prstClr val="black"/>
              </a:solidFill>
            </a:endParaRPr>
          </a:p>
        </p:txBody>
      </p:sp>
      <p:sp>
        <p:nvSpPr>
          <p:cNvPr id="14" name="object 14"/>
          <p:cNvSpPr/>
          <p:nvPr/>
        </p:nvSpPr>
        <p:spPr>
          <a:xfrm>
            <a:off x="7902550" y="858165"/>
            <a:ext cx="630763" cy="80188"/>
          </a:xfrm>
          <a:prstGeom prst="rect">
            <a:avLst/>
          </a:prstGeom>
          <a:blipFill>
            <a:blip r:embed="rId14" cstate="print"/>
            <a:stretch>
              <a:fillRect/>
            </a:stretch>
          </a:blipFill>
        </p:spPr>
        <p:txBody>
          <a:bodyPr wrap="square" lIns="0" tIns="0" rIns="0" bIns="0" rtlCol="0"/>
          <a:lstStyle/>
          <a:p>
            <a:endParaRPr sz="1632">
              <a:solidFill>
                <a:prstClr val="black"/>
              </a:solidFill>
            </a:endParaRPr>
          </a:p>
        </p:txBody>
      </p:sp>
      <p:sp>
        <p:nvSpPr>
          <p:cNvPr id="15" name="object 15"/>
          <p:cNvSpPr/>
          <p:nvPr/>
        </p:nvSpPr>
        <p:spPr>
          <a:xfrm>
            <a:off x="8581763" y="760196"/>
            <a:ext cx="346723" cy="95700"/>
          </a:xfrm>
          <a:prstGeom prst="rect">
            <a:avLst/>
          </a:prstGeom>
          <a:blipFill>
            <a:blip r:embed="rId15" cstate="print"/>
            <a:stretch>
              <a:fillRect/>
            </a:stretch>
          </a:blipFill>
        </p:spPr>
        <p:txBody>
          <a:bodyPr wrap="square" lIns="0" tIns="0" rIns="0" bIns="0" rtlCol="0"/>
          <a:lstStyle/>
          <a:p>
            <a:endParaRPr sz="1632">
              <a:solidFill>
                <a:prstClr val="black"/>
              </a:solidFill>
            </a:endParaRPr>
          </a:p>
        </p:txBody>
      </p:sp>
      <p:sp>
        <p:nvSpPr>
          <p:cNvPr id="16" name="object 16"/>
          <p:cNvSpPr/>
          <p:nvPr/>
        </p:nvSpPr>
        <p:spPr>
          <a:xfrm>
            <a:off x="8952486" y="364839"/>
            <a:ext cx="1290214" cy="398075"/>
          </a:xfrm>
          <a:prstGeom prst="rect">
            <a:avLst/>
          </a:prstGeom>
          <a:blipFill>
            <a:blip r:embed="rId16" cstate="print"/>
            <a:stretch>
              <a:fillRect/>
            </a:stretch>
          </a:blipFill>
        </p:spPr>
        <p:txBody>
          <a:bodyPr wrap="square" lIns="0" tIns="0" rIns="0" bIns="0" rtlCol="0"/>
          <a:lstStyle/>
          <a:p>
            <a:endParaRPr sz="1632">
              <a:solidFill>
                <a:prstClr val="black"/>
              </a:solidFill>
            </a:endParaRPr>
          </a:p>
        </p:txBody>
      </p:sp>
      <p:sp>
        <p:nvSpPr>
          <p:cNvPr id="17" name="object 17"/>
          <p:cNvSpPr/>
          <p:nvPr/>
        </p:nvSpPr>
        <p:spPr>
          <a:xfrm>
            <a:off x="8479266" y="787132"/>
            <a:ext cx="357272" cy="72622"/>
          </a:xfrm>
          <a:prstGeom prst="rect">
            <a:avLst/>
          </a:prstGeom>
          <a:blipFill>
            <a:blip r:embed="rId17" cstate="print"/>
            <a:stretch>
              <a:fillRect/>
            </a:stretch>
          </a:blipFill>
        </p:spPr>
        <p:txBody>
          <a:bodyPr wrap="square" lIns="0" tIns="0" rIns="0" bIns="0" rtlCol="0"/>
          <a:lstStyle/>
          <a:p>
            <a:endParaRPr sz="1632">
              <a:solidFill>
                <a:prstClr val="black"/>
              </a:solidFill>
            </a:endParaRPr>
          </a:p>
        </p:txBody>
      </p:sp>
      <p:sp>
        <p:nvSpPr>
          <p:cNvPr id="18" name="object 18"/>
          <p:cNvSpPr/>
          <p:nvPr/>
        </p:nvSpPr>
        <p:spPr>
          <a:xfrm>
            <a:off x="2351682" y="1022688"/>
            <a:ext cx="280584" cy="72887"/>
          </a:xfrm>
          <a:prstGeom prst="rect">
            <a:avLst/>
          </a:prstGeom>
          <a:blipFill>
            <a:blip r:embed="rId18" cstate="print"/>
            <a:stretch>
              <a:fillRect/>
            </a:stretch>
          </a:blipFill>
        </p:spPr>
        <p:txBody>
          <a:bodyPr wrap="square" lIns="0" tIns="0" rIns="0" bIns="0" rtlCol="0"/>
          <a:lstStyle/>
          <a:p>
            <a:endParaRPr sz="1632">
              <a:solidFill>
                <a:prstClr val="black"/>
              </a:solidFill>
            </a:endParaRPr>
          </a:p>
        </p:txBody>
      </p:sp>
      <p:sp>
        <p:nvSpPr>
          <p:cNvPr id="19" name="object 19"/>
          <p:cNvSpPr/>
          <p:nvPr/>
        </p:nvSpPr>
        <p:spPr>
          <a:xfrm>
            <a:off x="5543997" y="823351"/>
            <a:ext cx="636118" cy="59666"/>
          </a:xfrm>
          <a:prstGeom prst="rect">
            <a:avLst/>
          </a:prstGeom>
          <a:blipFill>
            <a:blip r:embed="rId19" cstate="print"/>
            <a:stretch>
              <a:fillRect/>
            </a:stretch>
          </a:blipFill>
        </p:spPr>
        <p:txBody>
          <a:bodyPr wrap="square" lIns="0" tIns="0" rIns="0" bIns="0" rtlCol="0"/>
          <a:lstStyle/>
          <a:p>
            <a:endParaRPr sz="1632">
              <a:solidFill>
                <a:prstClr val="black"/>
              </a:solidFill>
            </a:endParaRPr>
          </a:p>
        </p:txBody>
      </p:sp>
      <p:sp>
        <p:nvSpPr>
          <p:cNvPr id="20" name="object 20"/>
          <p:cNvSpPr/>
          <p:nvPr/>
        </p:nvSpPr>
        <p:spPr>
          <a:xfrm>
            <a:off x="8745445" y="707243"/>
            <a:ext cx="379211" cy="106157"/>
          </a:xfrm>
          <a:prstGeom prst="rect">
            <a:avLst/>
          </a:prstGeom>
          <a:blipFill>
            <a:blip r:embed="rId20" cstate="print"/>
            <a:stretch>
              <a:fillRect/>
            </a:stretch>
          </a:blipFill>
        </p:spPr>
        <p:txBody>
          <a:bodyPr wrap="square" lIns="0" tIns="0" rIns="0" bIns="0" rtlCol="0"/>
          <a:lstStyle/>
          <a:p>
            <a:endParaRPr sz="1632">
              <a:solidFill>
                <a:prstClr val="black"/>
              </a:solidFill>
            </a:endParaRPr>
          </a:p>
        </p:txBody>
      </p:sp>
      <p:sp>
        <p:nvSpPr>
          <p:cNvPr id="21" name="object 21"/>
          <p:cNvSpPr txBox="1"/>
          <p:nvPr/>
        </p:nvSpPr>
        <p:spPr>
          <a:xfrm>
            <a:off x="2436890" y="1098318"/>
            <a:ext cx="874093" cy="362856"/>
          </a:xfrm>
          <a:prstGeom prst="rect">
            <a:avLst/>
          </a:prstGeom>
        </p:spPr>
        <p:txBody>
          <a:bodyPr vert="horz" wrap="square" lIns="0" tIns="0" rIns="0" bIns="0" rtlCol="0">
            <a:spAutoFit/>
          </a:bodyPr>
          <a:lstStyle/>
          <a:p>
            <a:pPr marL="11516"/>
            <a:r>
              <a:rPr sz="2358" spc="-5" dirty="0">
                <a:solidFill>
                  <a:srgbClr val="231F20"/>
                </a:solidFill>
                <a:latin typeface="Constantia"/>
                <a:cs typeface="Constantia"/>
              </a:rPr>
              <a:t>Dü</a:t>
            </a:r>
            <a:r>
              <a:rPr sz="2358" spc="-32" dirty="0">
                <a:solidFill>
                  <a:srgbClr val="231F20"/>
                </a:solidFill>
                <a:latin typeface="Constantia"/>
                <a:cs typeface="Constantia"/>
              </a:rPr>
              <a:t>ny</a:t>
            </a:r>
            <a:r>
              <a:rPr sz="2358" dirty="0">
                <a:solidFill>
                  <a:srgbClr val="231F20"/>
                </a:solidFill>
                <a:latin typeface="Constantia"/>
                <a:cs typeface="Constantia"/>
              </a:rPr>
              <a:t>a</a:t>
            </a:r>
            <a:endParaRPr sz="2358" dirty="0">
              <a:solidFill>
                <a:prstClr val="black"/>
              </a:solidFill>
              <a:latin typeface="Constantia"/>
              <a:cs typeface="Constantia"/>
            </a:endParaRPr>
          </a:p>
        </p:txBody>
      </p:sp>
      <p:sp>
        <p:nvSpPr>
          <p:cNvPr id="22" name="object 22"/>
          <p:cNvSpPr txBox="1"/>
          <p:nvPr/>
        </p:nvSpPr>
        <p:spPr>
          <a:xfrm>
            <a:off x="3519933" y="1098318"/>
            <a:ext cx="3168729" cy="362856"/>
          </a:xfrm>
          <a:prstGeom prst="rect">
            <a:avLst/>
          </a:prstGeom>
        </p:spPr>
        <p:txBody>
          <a:bodyPr vert="horz" wrap="square" lIns="0" tIns="0" rIns="0" bIns="0" rtlCol="0">
            <a:spAutoFit/>
          </a:bodyPr>
          <a:lstStyle/>
          <a:p>
            <a:pPr marL="11516">
              <a:tabLst>
                <a:tab pos="1884076" algn="l"/>
              </a:tabLst>
            </a:pPr>
            <a:r>
              <a:rPr sz="2358" spc="-9" dirty="0">
                <a:solidFill>
                  <a:srgbClr val="231F20"/>
                </a:solidFill>
                <a:latin typeface="Constantia"/>
                <a:cs typeface="Constantia"/>
              </a:rPr>
              <a:t>Mühendisler	Birliği'nin</a:t>
            </a:r>
            <a:endParaRPr sz="2358">
              <a:solidFill>
                <a:prstClr val="black"/>
              </a:solidFill>
              <a:latin typeface="Constantia"/>
              <a:cs typeface="Constantia"/>
            </a:endParaRPr>
          </a:p>
        </p:txBody>
      </p:sp>
      <p:sp>
        <p:nvSpPr>
          <p:cNvPr id="23" name="object 23"/>
          <p:cNvSpPr txBox="1"/>
          <p:nvPr/>
        </p:nvSpPr>
        <p:spPr>
          <a:xfrm>
            <a:off x="2684267" y="1457644"/>
            <a:ext cx="2391951" cy="362856"/>
          </a:xfrm>
          <a:prstGeom prst="rect">
            <a:avLst/>
          </a:prstGeom>
        </p:spPr>
        <p:txBody>
          <a:bodyPr vert="horz" wrap="square" lIns="0" tIns="0" rIns="0" bIns="0" rtlCol="0">
            <a:spAutoFit/>
          </a:bodyPr>
          <a:lstStyle/>
          <a:p>
            <a:pPr marL="11516">
              <a:tabLst>
                <a:tab pos="1921505" algn="l"/>
              </a:tabLst>
            </a:pPr>
            <a:r>
              <a:rPr sz="2358" spc="-32" dirty="0">
                <a:solidFill>
                  <a:srgbClr val="231F20"/>
                </a:solidFill>
                <a:latin typeface="Constantia"/>
                <a:cs typeface="Constantia"/>
              </a:rPr>
              <a:t>t</a:t>
            </a:r>
            <a:r>
              <a:rPr sz="2358" spc="-14" dirty="0">
                <a:solidFill>
                  <a:srgbClr val="231F20"/>
                </a:solidFill>
                <a:latin typeface="Constantia"/>
                <a:cs typeface="Constantia"/>
              </a:rPr>
              <a:t>o</a:t>
            </a:r>
            <a:r>
              <a:rPr sz="2358" dirty="0">
                <a:solidFill>
                  <a:srgbClr val="231F20"/>
                </a:solidFill>
                <a:latin typeface="Constantia"/>
                <a:cs typeface="Constantia"/>
              </a:rPr>
              <a:t>pl</a:t>
            </a:r>
            <a:r>
              <a:rPr sz="2358" spc="-9" dirty="0">
                <a:solidFill>
                  <a:srgbClr val="231F20"/>
                </a:solidFill>
                <a:latin typeface="Constantia"/>
                <a:cs typeface="Constantia"/>
              </a:rPr>
              <a:t>a</a:t>
            </a:r>
            <a:r>
              <a:rPr sz="2358" spc="-18" dirty="0">
                <a:solidFill>
                  <a:srgbClr val="231F20"/>
                </a:solidFill>
                <a:latin typeface="Constantia"/>
                <a:cs typeface="Constantia"/>
              </a:rPr>
              <a:t>n</a:t>
            </a:r>
            <a:r>
              <a:rPr sz="2358" spc="-5" dirty="0">
                <a:solidFill>
                  <a:srgbClr val="231F20"/>
                </a:solidFill>
                <a:latin typeface="Constantia"/>
                <a:cs typeface="Constantia"/>
              </a:rPr>
              <a:t>tı</a:t>
            </a:r>
            <a:r>
              <a:rPr sz="2358" dirty="0">
                <a:solidFill>
                  <a:srgbClr val="231F20"/>
                </a:solidFill>
                <a:latin typeface="Constantia"/>
                <a:cs typeface="Constantia"/>
              </a:rPr>
              <a:t>s</a:t>
            </a:r>
            <a:r>
              <a:rPr sz="2358" spc="-5" dirty="0">
                <a:solidFill>
                  <a:srgbClr val="231F20"/>
                </a:solidFill>
                <a:latin typeface="Constantia"/>
                <a:cs typeface="Constantia"/>
              </a:rPr>
              <a:t>ı</a:t>
            </a:r>
            <a:r>
              <a:rPr sz="2358" spc="-18" dirty="0">
                <a:solidFill>
                  <a:srgbClr val="231F20"/>
                </a:solidFill>
                <a:latin typeface="Constantia"/>
                <a:cs typeface="Constantia"/>
              </a:rPr>
              <a:t>n</a:t>
            </a:r>
            <a:r>
              <a:rPr sz="2358" spc="-5" dirty="0">
                <a:solidFill>
                  <a:srgbClr val="231F20"/>
                </a:solidFill>
                <a:latin typeface="Constantia"/>
                <a:cs typeface="Constantia"/>
              </a:rPr>
              <a:t>d</a:t>
            </a:r>
            <a:r>
              <a:rPr sz="2358" dirty="0">
                <a:solidFill>
                  <a:srgbClr val="231F20"/>
                </a:solidFill>
                <a:latin typeface="Constantia"/>
                <a:cs typeface="Constantia"/>
              </a:rPr>
              <a:t>a	son</a:t>
            </a:r>
            <a:endParaRPr sz="2358">
              <a:solidFill>
                <a:prstClr val="black"/>
              </a:solidFill>
              <a:latin typeface="Constantia"/>
              <a:cs typeface="Constantia"/>
            </a:endParaRPr>
          </a:p>
        </p:txBody>
      </p:sp>
      <p:sp>
        <p:nvSpPr>
          <p:cNvPr id="24" name="object 24"/>
          <p:cNvSpPr txBox="1"/>
          <p:nvPr/>
        </p:nvSpPr>
        <p:spPr>
          <a:xfrm>
            <a:off x="5249775" y="1457644"/>
            <a:ext cx="1802888" cy="362856"/>
          </a:xfrm>
          <a:prstGeom prst="rect">
            <a:avLst/>
          </a:prstGeom>
        </p:spPr>
        <p:txBody>
          <a:bodyPr vert="horz" wrap="square" lIns="0" tIns="0" rIns="0" bIns="0" rtlCol="0">
            <a:spAutoFit/>
          </a:bodyPr>
          <a:lstStyle/>
          <a:p>
            <a:pPr marL="11516">
              <a:tabLst>
                <a:tab pos="1065263" algn="l"/>
              </a:tabLst>
            </a:pPr>
            <a:r>
              <a:rPr sz="2358" spc="-14" dirty="0">
                <a:solidFill>
                  <a:srgbClr val="231F20"/>
                </a:solidFill>
                <a:latin typeface="Constantia"/>
                <a:cs typeface="Constantia"/>
              </a:rPr>
              <a:t>ş</a:t>
            </a:r>
            <a:r>
              <a:rPr sz="2358" spc="-5" dirty="0">
                <a:solidFill>
                  <a:srgbClr val="231F20"/>
                </a:solidFill>
                <a:latin typeface="Constantia"/>
                <a:cs typeface="Constantia"/>
              </a:rPr>
              <a:t>eklin</a:t>
            </a:r>
            <a:r>
              <a:rPr sz="2358" dirty="0">
                <a:solidFill>
                  <a:srgbClr val="231F20"/>
                </a:solidFill>
                <a:latin typeface="Constantia"/>
                <a:cs typeface="Constantia"/>
              </a:rPr>
              <a:t>i	</a:t>
            </a:r>
            <a:r>
              <a:rPr sz="2358" spc="-5" dirty="0">
                <a:solidFill>
                  <a:srgbClr val="231F20"/>
                </a:solidFill>
                <a:latin typeface="Constantia"/>
                <a:cs typeface="Constantia"/>
              </a:rPr>
              <a:t>kabul</a:t>
            </a:r>
            <a:endParaRPr sz="2358">
              <a:solidFill>
                <a:prstClr val="black"/>
              </a:solidFill>
              <a:latin typeface="Constantia"/>
              <a:cs typeface="Constantia"/>
            </a:endParaRPr>
          </a:p>
        </p:txBody>
      </p:sp>
      <p:sp>
        <p:nvSpPr>
          <p:cNvPr id="25" name="object 25"/>
          <p:cNvSpPr txBox="1"/>
          <p:nvPr/>
        </p:nvSpPr>
        <p:spPr>
          <a:xfrm>
            <a:off x="6900866" y="1098319"/>
            <a:ext cx="1083691" cy="725711"/>
          </a:xfrm>
          <a:prstGeom prst="rect">
            <a:avLst/>
          </a:prstGeom>
        </p:spPr>
        <p:txBody>
          <a:bodyPr vert="horz" wrap="square" lIns="0" tIns="0" rIns="0" bIns="0" rtlCol="0">
            <a:spAutoFit/>
          </a:bodyPr>
          <a:lstStyle/>
          <a:p>
            <a:pPr marL="342036" marR="4607" indent="-331095">
              <a:tabLst>
                <a:tab pos="392708" algn="l"/>
              </a:tabLst>
            </a:pPr>
            <a:r>
              <a:rPr sz="2358" dirty="0">
                <a:solidFill>
                  <a:srgbClr val="231F20"/>
                </a:solidFill>
                <a:latin typeface="Constantia"/>
                <a:cs typeface="Constantia"/>
              </a:rPr>
              <a:t>5		</a:t>
            </a:r>
            <a:r>
              <a:rPr sz="2358" spc="-5" dirty="0">
                <a:solidFill>
                  <a:srgbClr val="231F20"/>
                </a:solidFill>
                <a:latin typeface="Constantia"/>
                <a:cs typeface="Constantia"/>
              </a:rPr>
              <a:t>Ekim  </a:t>
            </a:r>
            <a:r>
              <a:rPr sz="2358" spc="-9" dirty="0">
                <a:solidFill>
                  <a:srgbClr val="231F20"/>
                </a:solidFill>
                <a:latin typeface="Constantia"/>
                <a:cs typeface="Constantia"/>
              </a:rPr>
              <a:t>ettiği</a:t>
            </a:r>
            <a:endParaRPr sz="2358">
              <a:solidFill>
                <a:prstClr val="black"/>
              </a:solidFill>
              <a:latin typeface="Constantia"/>
              <a:cs typeface="Constantia"/>
            </a:endParaRPr>
          </a:p>
        </p:txBody>
      </p:sp>
      <p:sp>
        <p:nvSpPr>
          <p:cNvPr id="26" name="object 26"/>
          <p:cNvSpPr txBox="1"/>
          <p:nvPr/>
        </p:nvSpPr>
        <p:spPr>
          <a:xfrm>
            <a:off x="8107164" y="1098319"/>
            <a:ext cx="1653175" cy="725711"/>
          </a:xfrm>
          <a:prstGeom prst="rect">
            <a:avLst/>
          </a:prstGeom>
        </p:spPr>
        <p:txBody>
          <a:bodyPr vert="horz" wrap="square" lIns="0" tIns="0" rIns="0" bIns="0" rtlCol="0">
            <a:spAutoFit/>
          </a:bodyPr>
          <a:lstStyle/>
          <a:p>
            <a:pPr marL="11516" marR="4607" indent="89252">
              <a:tabLst>
                <a:tab pos="889063" algn="l"/>
              </a:tabLst>
            </a:pPr>
            <a:r>
              <a:rPr sz="2358" spc="-5" dirty="0">
                <a:solidFill>
                  <a:srgbClr val="231F20"/>
                </a:solidFill>
                <a:latin typeface="Constantia"/>
                <a:cs typeface="Constantia"/>
              </a:rPr>
              <a:t>19</a:t>
            </a:r>
            <a:r>
              <a:rPr sz="2358" spc="14" dirty="0">
                <a:solidFill>
                  <a:srgbClr val="231F20"/>
                </a:solidFill>
                <a:latin typeface="Constantia"/>
                <a:cs typeface="Constantia"/>
              </a:rPr>
              <a:t>7</a:t>
            </a:r>
            <a:r>
              <a:rPr sz="2358" dirty="0">
                <a:solidFill>
                  <a:srgbClr val="231F20"/>
                </a:solidFill>
                <a:latin typeface="Constantia"/>
                <a:cs typeface="Constantia"/>
              </a:rPr>
              <a:t>7	</a:t>
            </a:r>
            <a:r>
              <a:rPr sz="2358" spc="-5" dirty="0">
                <a:solidFill>
                  <a:srgbClr val="231F20"/>
                </a:solidFill>
                <a:latin typeface="Constantia"/>
                <a:cs typeface="Constantia"/>
              </a:rPr>
              <a:t>günlü  </a:t>
            </a:r>
            <a:r>
              <a:rPr sz="2358" spc="-73" dirty="0">
                <a:solidFill>
                  <a:srgbClr val="231F20"/>
                </a:solidFill>
                <a:latin typeface="Constantia"/>
                <a:cs typeface="Constantia"/>
              </a:rPr>
              <a:t>M</a:t>
            </a:r>
            <a:r>
              <a:rPr sz="2358" spc="-5" dirty="0">
                <a:solidFill>
                  <a:srgbClr val="231F20"/>
                </a:solidFill>
                <a:latin typeface="Constantia"/>
                <a:cs typeface="Constantia"/>
              </a:rPr>
              <a:t>ühendislik</a:t>
            </a:r>
            <a:endParaRPr sz="2358">
              <a:solidFill>
                <a:prstClr val="black"/>
              </a:solidFill>
              <a:latin typeface="Constantia"/>
              <a:cs typeface="Constantia"/>
            </a:endParaRPr>
          </a:p>
        </p:txBody>
      </p:sp>
      <p:sp>
        <p:nvSpPr>
          <p:cNvPr id="27" name="object 27"/>
          <p:cNvSpPr txBox="1"/>
          <p:nvPr/>
        </p:nvSpPr>
        <p:spPr>
          <a:xfrm>
            <a:off x="2684268" y="1816969"/>
            <a:ext cx="3016137" cy="362856"/>
          </a:xfrm>
          <a:prstGeom prst="rect">
            <a:avLst/>
          </a:prstGeom>
        </p:spPr>
        <p:txBody>
          <a:bodyPr vert="horz" wrap="square" lIns="0" tIns="0" rIns="0" bIns="0" rtlCol="0">
            <a:spAutoFit/>
          </a:bodyPr>
          <a:lstStyle/>
          <a:p>
            <a:pPr marL="11516"/>
            <a:r>
              <a:rPr sz="2358" spc="-5" dirty="0">
                <a:solidFill>
                  <a:srgbClr val="231F20"/>
                </a:solidFill>
                <a:latin typeface="Constantia"/>
                <a:cs typeface="Constantia"/>
              </a:rPr>
              <a:t>Etiği'nin </a:t>
            </a:r>
            <a:r>
              <a:rPr sz="2358" spc="-45" dirty="0">
                <a:solidFill>
                  <a:srgbClr val="231F20"/>
                </a:solidFill>
                <a:latin typeface="Constantia"/>
                <a:cs typeface="Constantia"/>
              </a:rPr>
              <a:t>Temel</a:t>
            </a:r>
            <a:r>
              <a:rPr sz="2358" spc="-118" dirty="0">
                <a:solidFill>
                  <a:srgbClr val="231F20"/>
                </a:solidFill>
                <a:latin typeface="Constantia"/>
                <a:cs typeface="Constantia"/>
              </a:rPr>
              <a:t> </a:t>
            </a:r>
            <a:r>
              <a:rPr sz="2358" spc="-9" dirty="0">
                <a:solidFill>
                  <a:srgbClr val="231F20"/>
                </a:solidFill>
                <a:latin typeface="Constantia"/>
                <a:cs typeface="Constantia"/>
              </a:rPr>
              <a:t>ilkeleri;</a:t>
            </a:r>
            <a:endParaRPr sz="2358">
              <a:solidFill>
                <a:prstClr val="black"/>
              </a:solidFill>
              <a:latin typeface="Constantia"/>
              <a:cs typeface="Constantia"/>
            </a:endParaRPr>
          </a:p>
        </p:txBody>
      </p:sp>
      <p:sp>
        <p:nvSpPr>
          <p:cNvPr id="28" name="object 28"/>
          <p:cNvSpPr txBox="1"/>
          <p:nvPr/>
        </p:nvSpPr>
        <p:spPr>
          <a:xfrm>
            <a:off x="2436890" y="2248460"/>
            <a:ext cx="1966996" cy="362856"/>
          </a:xfrm>
          <a:prstGeom prst="rect">
            <a:avLst/>
          </a:prstGeom>
        </p:spPr>
        <p:txBody>
          <a:bodyPr vert="horz" wrap="square" lIns="0" tIns="0" rIns="0" bIns="0" rtlCol="0">
            <a:spAutoFit/>
          </a:bodyPr>
          <a:lstStyle/>
          <a:p>
            <a:pPr marL="258542" indent="-247026">
              <a:buClr>
                <a:srgbClr val="33C0CD"/>
              </a:buClr>
              <a:buSzPct val="94230"/>
              <a:buFont typeface="Arial"/>
              <a:buChar char="•"/>
              <a:tabLst>
                <a:tab pos="259118" algn="l"/>
              </a:tabLst>
            </a:pPr>
            <a:r>
              <a:rPr sz="2358" spc="-68" dirty="0">
                <a:solidFill>
                  <a:srgbClr val="231F20"/>
                </a:solidFill>
                <a:latin typeface="Constantia"/>
                <a:cs typeface="Constantia"/>
              </a:rPr>
              <a:t>M</a:t>
            </a:r>
            <a:r>
              <a:rPr sz="2358" spc="-5" dirty="0">
                <a:solidFill>
                  <a:srgbClr val="231F20"/>
                </a:solidFill>
                <a:latin typeface="Constantia"/>
                <a:cs typeface="Constantia"/>
              </a:rPr>
              <a:t>ü</a:t>
            </a:r>
            <a:r>
              <a:rPr sz="2358" dirty="0">
                <a:solidFill>
                  <a:srgbClr val="231F20"/>
                </a:solidFill>
                <a:latin typeface="Constantia"/>
                <a:cs typeface="Constantia"/>
              </a:rPr>
              <a:t>hendis</a:t>
            </a:r>
            <a:r>
              <a:rPr sz="2358" spc="-27" dirty="0">
                <a:solidFill>
                  <a:srgbClr val="231F20"/>
                </a:solidFill>
                <a:latin typeface="Constantia"/>
                <a:cs typeface="Constantia"/>
              </a:rPr>
              <a:t>l</a:t>
            </a:r>
            <a:r>
              <a:rPr sz="2358" dirty="0">
                <a:solidFill>
                  <a:srgbClr val="231F20"/>
                </a:solidFill>
                <a:latin typeface="Constantia"/>
                <a:cs typeface="Constantia"/>
              </a:rPr>
              <a:t>e</a:t>
            </a:r>
            <a:r>
              <a:rPr sz="2358" spc="-190" dirty="0">
                <a:solidFill>
                  <a:srgbClr val="231F20"/>
                </a:solidFill>
                <a:latin typeface="Constantia"/>
                <a:cs typeface="Constantia"/>
              </a:rPr>
              <a:t>r</a:t>
            </a:r>
            <a:r>
              <a:rPr sz="2358" dirty="0">
                <a:solidFill>
                  <a:srgbClr val="231F20"/>
                </a:solidFill>
                <a:latin typeface="Constantia"/>
                <a:cs typeface="Constantia"/>
              </a:rPr>
              <a:t>,</a:t>
            </a:r>
            <a:endParaRPr sz="2358" dirty="0">
              <a:solidFill>
                <a:prstClr val="black"/>
              </a:solidFill>
              <a:latin typeface="Constantia"/>
              <a:cs typeface="Constantia"/>
            </a:endParaRPr>
          </a:p>
        </p:txBody>
      </p:sp>
      <p:sp>
        <p:nvSpPr>
          <p:cNvPr id="29" name="object 29"/>
          <p:cNvSpPr txBox="1"/>
          <p:nvPr/>
        </p:nvSpPr>
        <p:spPr>
          <a:xfrm>
            <a:off x="4564338" y="2248460"/>
            <a:ext cx="1648569" cy="362856"/>
          </a:xfrm>
          <a:prstGeom prst="rect">
            <a:avLst/>
          </a:prstGeom>
        </p:spPr>
        <p:txBody>
          <a:bodyPr vert="horz" wrap="square" lIns="0" tIns="0" rIns="0" bIns="0" rtlCol="0">
            <a:spAutoFit/>
          </a:bodyPr>
          <a:lstStyle/>
          <a:p>
            <a:pPr marL="11516"/>
            <a:r>
              <a:rPr sz="2358" spc="-5" dirty="0">
                <a:solidFill>
                  <a:srgbClr val="231F20"/>
                </a:solidFill>
                <a:latin typeface="Constantia"/>
                <a:cs typeface="Constantia"/>
              </a:rPr>
              <a:t>mühendislik</a:t>
            </a:r>
            <a:endParaRPr sz="2358">
              <a:solidFill>
                <a:prstClr val="black"/>
              </a:solidFill>
              <a:latin typeface="Constantia"/>
              <a:cs typeface="Constantia"/>
            </a:endParaRPr>
          </a:p>
        </p:txBody>
      </p:sp>
      <p:sp>
        <p:nvSpPr>
          <p:cNvPr id="30" name="object 30"/>
          <p:cNvSpPr txBox="1"/>
          <p:nvPr/>
        </p:nvSpPr>
        <p:spPr>
          <a:xfrm>
            <a:off x="6369374" y="2248460"/>
            <a:ext cx="1444153" cy="362856"/>
          </a:xfrm>
          <a:prstGeom prst="rect">
            <a:avLst/>
          </a:prstGeom>
        </p:spPr>
        <p:txBody>
          <a:bodyPr vert="horz" wrap="square" lIns="0" tIns="0" rIns="0" bIns="0" rtlCol="0">
            <a:spAutoFit/>
          </a:bodyPr>
          <a:lstStyle/>
          <a:p>
            <a:pPr marL="11516"/>
            <a:r>
              <a:rPr sz="2358" spc="-5" dirty="0">
                <a:solidFill>
                  <a:srgbClr val="231F20"/>
                </a:solidFill>
                <a:latin typeface="Constantia"/>
                <a:cs typeface="Constantia"/>
              </a:rPr>
              <a:t>mesleğinin</a:t>
            </a:r>
            <a:endParaRPr sz="2358">
              <a:solidFill>
                <a:prstClr val="black"/>
              </a:solidFill>
              <a:latin typeface="Constantia"/>
              <a:cs typeface="Constantia"/>
            </a:endParaRPr>
          </a:p>
        </p:txBody>
      </p:sp>
      <p:sp>
        <p:nvSpPr>
          <p:cNvPr id="31" name="object 31"/>
          <p:cNvSpPr txBox="1"/>
          <p:nvPr/>
        </p:nvSpPr>
        <p:spPr>
          <a:xfrm>
            <a:off x="7969128" y="2248460"/>
            <a:ext cx="1787340" cy="362856"/>
          </a:xfrm>
          <a:prstGeom prst="rect">
            <a:avLst/>
          </a:prstGeom>
        </p:spPr>
        <p:txBody>
          <a:bodyPr vert="horz" wrap="square" lIns="0" tIns="0" rIns="0" bIns="0" rtlCol="0">
            <a:spAutoFit/>
          </a:bodyPr>
          <a:lstStyle/>
          <a:p>
            <a:pPr marL="11516"/>
            <a:r>
              <a:rPr sz="2358" spc="-9" dirty="0">
                <a:solidFill>
                  <a:srgbClr val="231F20"/>
                </a:solidFill>
                <a:latin typeface="Constantia"/>
                <a:cs typeface="Constantia"/>
              </a:rPr>
              <a:t>doğruluğunu,</a:t>
            </a:r>
            <a:endParaRPr sz="2358">
              <a:solidFill>
                <a:prstClr val="black"/>
              </a:solidFill>
              <a:latin typeface="Constantia"/>
              <a:cs typeface="Constantia"/>
            </a:endParaRPr>
          </a:p>
        </p:txBody>
      </p:sp>
      <p:sp>
        <p:nvSpPr>
          <p:cNvPr id="32" name="object 32"/>
          <p:cNvSpPr txBox="1"/>
          <p:nvPr/>
        </p:nvSpPr>
        <p:spPr>
          <a:xfrm>
            <a:off x="2684262" y="2607773"/>
            <a:ext cx="2621702" cy="362856"/>
          </a:xfrm>
          <a:prstGeom prst="rect">
            <a:avLst/>
          </a:prstGeom>
        </p:spPr>
        <p:txBody>
          <a:bodyPr vert="horz" wrap="square" lIns="0" tIns="0" rIns="0" bIns="0" rtlCol="0">
            <a:spAutoFit/>
          </a:bodyPr>
          <a:lstStyle/>
          <a:p>
            <a:pPr marL="11516"/>
            <a:r>
              <a:rPr sz="2358" dirty="0">
                <a:solidFill>
                  <a:srgbClr val="231F20"/>
                </a:solidFill>
                <a:latin typeface="Constantia"/>
                <a:cs typeface="Constantia"/>
              </a:rPr>
              <a:t>onurunu </a:t>
            </a:r>
            <a:r>
              <a:rPr sz="2358" spc="-27" dirty="0">
                <a:solidFill>
                  <a:srgbClr val="231F20"/>
                </a:solidFill>
                <a:latin typeface="Constantia"/>
                <a:cs typeface="Constantia"/>
              </a:rPr>
              <a:t>ve</a:t>
            </a:r>
            <a:r>
              <a:rPr sz="2358" spc="-340" dirty="0">
                <a:solidFill>
                  <a:srgbClr val="231F20"/>
                </a:solidFill>
                <a:latin typeface="Constantia"/>
                <a:cs typeface="Constantia"/>
              </a:rPr>
              <a:t> </a:t>
            </a:r>
            <a:r>
              <a:rPr sz="2358" spc="-9" dirty="0">
                <a:solidFill>
                  <a:srgbClr val="231F20"/>
                </a:solidFill>
                <a:latin typeface="Constantia"/>
                <a:cs typeface="Constantia"/>
              </a:rPr>
              <a:t>değerini</a:t>
            </a:r>
            <a:endParaRPr sz="2358">
              <a:solidFill>
                <a:prstClr val="black"/>
              </a:solidFill>
              <a:latin typeface="Constantia"/>
              <a:cs typeface="Constantia"/>
            </a:endParaRPr>
          </a:p>
        </p:txBody>
      </p:sp>
      <p:sp>
        <p:nvSpPr>
          <p:cNvPr id="33" name="object 33"/>
          <p:cNvSpPr txBox="1"/>
          <p:nvPr/>
        </p:nvSpPr>
        <p:spPr>
          <a:xfrm>
            <a:off x="2436890" y="3039176"/>
            <a:ext cx="1566803" cy="362856"/>
          </a:xfrm>
          <a:prstGeom prst="rect">
            <a:avLst/>
          </a:prstGeom>
        </p:spPr>
        <p:txBody>
          <a:bodyPr vert="horz" wrap="square" lIns="0" tIns="0" rIns="0" bIns="0" rtlCol="0">
            <a:spAutoFit/>
          </a:bodyPr>
          <a:lstStyle/>
          <a:p>
            <a:pPr marL="258542" indent="-247026">
              <a:buClr>
                <a:srgbClr val="33C0CD"/>
              </a:buClr>
              <a:buSzPct val="94230"/>
              <a:buFont typeface="Arial"/>
              <a:buChar char="•"/>
              <a:tabLst>
                <a:tab pos="259118" algn="l"/>
              </a:tabLst>
            </a:pPr>
            <a:r>
              <a:rPr sz="2358" spc="-5" dirty="0">
                <a:solidFill>
                  <a:srgbClr val="231F20"/>
                </a:solidFill>
                <a:latin typeface="Constantia"/>
                <a:cs typeface="Constantia"/>
              </a:rPr>
              <a:t>İnsanlığın</a:t>
            </a:r>
            <a:endParaRPr sz="2358">
              <a:solidFill>
                <a:prstClr val="black"/>
              </a:solidFill>
              <a:latin typeface="Constantia"/>
              <a:cs typeface="Constantia"/>
            </a:endParaRPr>
          </a:p>
        </p:txBody>
      </p:sp>
      <p:sp>
        <p:nvSpPr>
          <p:cNvPr id="34" name="object 34"/>
          <p:cNvSpPr txBox="1"/>
          <p:nvPr/>
        </p:nvSpPr>
        <p:spPr>
          <a:xfrm>
            <a:off x="4234111" y="3039176"/>
            <a:ext cx="5529586" cy="362856"/>
          </a:xfrm>
          <a:prstGeom prst="rect">
            <a:avLst/>
          </a:prstGeom>
        </p:spPr>
        <p:txBody>
          <a:bodyPr vert="horz" wrap="square" lIns="0" tIns="0" rIns="0" bIns="0" rtlCol="0">
            <a:spAutoFit/>
          </a:bodyPr>
          <a:lstStyle/>
          <a:p>
            <a:pPr marL="11516">
              <a:tabLst>
                <a:tab pos="1449910" algn="l"/>
                <a:tab pos="2682736" algn="l"/>
                <a:tab pos="3419783" algn="l"/>
                <a:tab pos="4405008" algn="l"/>
                <a:tab pos="5235337" algn="l"/>
              </a:tabLst>
            </a:pPr>
            <a:r>
              <a:rPr sz="2358" spc="-41" dirty="0">
                <a:solidFill>
                  <a:srgbClr val="231F20"/>
                </a:solidFill>
                <a:latin typeface="Constantia"/>
                <a:cs typeface="Constantia"/>
              </a:rPr>
              <a:t>r</a:t>
            </a:r>
            <a:r>
              <a:rPr sz="2358" dirty="0">
                <a:solidFill>
                  <a:srgbClr val="231F20"/>
                </a:solidFill>
                <a:latin typeface="Constantia"/>
                <a:cs typeface="Constantia"/>
              </a:rPr>
              <a:t>efah</a:t>
            </a:r>
            <a:r>
              <a:rPr sz="2358" spc="-5" dirty="0">
                <a:solidFill>
                  <a:srgbClr val="231F20"/>
                </a:solidFill>
                <a:latin typeface="Constantia"/>
                <a:cs typeface="Constantia"/>
              </a:rPr>
              <a:t>ı</a:t>
            </a:r>
            <a:r>
              <a:rPr sz="2358" dirty="0">
                <a:solidFill>
                  <a:srgbClr val="231F20"/>
                </a:solidFill>
                <a:latin typeface="Constantia"/>
                <a:cs typeface="Constantia"/>
              </a:rPr>
              <a:t>nın	</a:t>
            </a:r>
            <a:r>
              <a:rPr sz="2358" spc="-5" dirty="0">
                <a:solidFill>
                  <a:srgbClr val="231F20"/>
                </a:solidFill>
                <a:latin typeface="Constantia"/>
                <a:cs typeface="Constantia"/>
              </a:rPr>
              <a:t>artma</a:t>
            </a:r>
            <a:r>
              <a:rPr sz="2358" dirty="0">
                <a:solidFill>
                  <a:srgbClr val="231F20"/>
                </a:solidFill>
                <a:latin typeface="Constantia"/>
                <a:cs typeface="Constantia"/>
              </a:rPr>
              <a:t>sı	</a:t>
            </a:r>
            <a:r>
              <a:rPr sz="2358" spc="-5" dirty="0">
                <a:solidFill>
                  <a:srgbClr val="231F20"/>
                </a:solidFill>
                <a:latin typeface="Constantia"/>
                <a:cs typeface="Constantia"/>
              </a:rPr>
              <a:t>içi</a:t>
            </a:r>
            <a:r>
              <a:rPr sz="2358" dirty="0">
                <a:solidFill>
                  <a:srgbClr val="231F20"/>
                </a:solidFill>
                <a:latin typeface="Constantia"/>
                <a:cs typeface="Constantia"/>
              </a:rPr>
              <a:t>n	</a:t>
            </a:r>
            <a:r>
              <a:rPr sz="2358" spc="-54" dirty="0">
                <a:solidFill>
                  <a:srgbClr val="231F20"/>
                </a:solidFill>
                <a:latin typeface="Constantia"/>
                <a:cs typeface="Constantia"/>
              </a:rPr>
              <a:t>k</a:t>
            </a:r>
            <a:r>
              <a:rPr sz="2358" spc="9" dirty="0">
                <a:solidFill>
                  <a:srgbClr val="231F20"/>
                </a:solidFill>
                <a:latin typeface="Constantia"/>
                <a:cs typeface="Constantia"/>
              </a:rPr>
              <a:t>e</a:t>
            </a:r>
            <a:r>
              <a:rPr sz="2358" spc="-5" dirty="0">
                <a:solidFill>
                  <a:srgbClr val="231F20"/>
                </a:solidFill>
                <a:latin typeface="Constantia"/>
                <a:cs typeface="Constantia"/>
              </a:rPr>
              <a:t>nd</a:t>
            </a:r>
            <a:r>
              <a:rPr sz="2358" dirty="0">
                <a:solidFill>
                  <a:srgbClr val="231F20"/>
                </a:solidFill>
                <a:latin typeface="Constantia"/>
                <a:cs typeface="Constantia"/>
              </a:rPr>
              <a:t>i	</a:t>
            </a:r>
            <a:r>
              <a:rPr sz="2358" spc="-5" dirty="0">
                <a:solidFill>
                  <a:srgbClr val="231F20"/>
                </a:solidFill>
                <a:latin typeface="Constantia"/>
                <a:cs typeface="Constantia"/>
              </a:rPr>
              <a:t>bilg</a:t>
            </a:r>
            <a:r>
              <a:rPr sz="2358" dirty="0">
                <a:solidFill>
                  <a:srgbClr val="231F20"/>
                </a:solidFill>
                <a:latin typeface="Constantia"/>
                <a:cs typeface="Constantia"/>
              </a:rPr>
              <a:t>i	</a:t>
            </a:r>
            <a:r>
              <a:rPr sz="2358" spc="-54" dirty="0">
                <a:solidFill>
                  <a:srgbClr val="231F20"/>
                </a:solidFill>
                <a:latin typeface="Constantia"/>
                <a:cs typeface="Constantia"/>
              </a:rPr>
              <a:t>v</a:t>
            </a:r>
            <a:r>
              <a:rPr sz="2358" dirty="0">
                <a:solidFill>
                  <a:srgbClr val="231F20"/>
                </a:solidFill>
                <a:latin typeface="Constantia"/>
                <a:cs typeface="Constantia"/>
              </a:rPr>
              <a:t>e</a:t>
            </a:r>
            <a:endParaRPr sz="2358">
              <a:solidFill>
                <a:prstClr val="black"/>
              </a:solidFill>
              <a:latin typeface="Constantia"/>
              <a:cs typeface="Constantia"/>
            </a:endParaRPr>
          </a:p>
        </p:txBody>
      </p:sp>
      <p:sp>
        <p:nvSpPr>
          <p:cNvPr id="35" name="object 35"/>
          <p:cNvSpPr txBox="1"/>
          <p:nvPr/>
        </p:nvSpPr>
        <p:spPr>
          <a:xfrm>
            <a:off x="2436891" y="3398502"/>
            <a:ext cx="7327867" cy="1165512"/>
          </a:xfrm>
          <a:prstGeom prst="rect">
            <a:avLst/>
          </a:prstGeom>
        </p:spPr>
        <p:txBody>
          <a:bodyPr vert="horz" wrap="square" lIns="0" tIns="0" rIns="0" bIns="0" rtlCol="0">
            <a:spAutoFit/>
          </a:bodyPr>
          <a:lstStyle/>
          <a:p>
            <a:pPr marL="258542"/>
            <a:r>
              <a:rPr sz="2358" spc="-9" dirty="0">
                <a:solidFill>
                  <a:srgbClr val="231F20"/>
                </a:solidFill>
                <a:latin typeface="Constantia"/>
                <a:cs typeface="Constantia"/>
              </a:rPr>
              <a:t>becerilerini</a:t>
            </a:r>
            <a:r>
              <a:rPr sz="2358" spc="14" dirty="0">
                <a:solidFill>
                  <a:srgbClr val="231F20"/>
                </a:solidFill>
                <a:latin typeface="Constantia"/>
                <a:cs typeface="Constantia"/>
              </a:rPr>
              <a:t> </a:t>
            </a:r>
            <a:r>
              <a:rPr sz="2358" spc="-9" dirty="0">
                <a:solidFill>
                  <a:srgbClr val="231F20"/>
                </a:solidFill>
                <a:latin typeface="Constantia"/>
                <a:cs typeface="Constantia"/>
              </a:rPr>
              <a:t>kullanarak</a:t>
            </a:r>
            <a:endParaRPr sz="2358" dirty="0">
              <a:solidFill>
                <a:prstClr val="black"/>
              </a:solidFill>
              <a:latin typeface="Constantia"/>
              <a:cs typeface="Constantia"/>
            </a:endParaRPr>
          </a:p>
          <a:p>
            <a:pPr marL="258542" indent="-247026">
              <a:spcBef>
                <a:spcPts val="562"/>
              </a:spcBef>
              <a:buClr>
                <a:srgbClr val="33C0CD"/>
              </a:buClr>
              <a:buSzPct val="94230"/>
              <a:buFont typeface="Arial"/>
              <a:buChar char="•"/>
              <a:tabLst>
                <a:tab pos="259118" algn="l"/>
              </a:tabLst>
            </a:pPr>
            <a:r>
              <a:rPr sz="2358" spc="-5" dirty="0">
                <a:solidFill>
                  <a:srgbClr val="231F20"/>
                </a:solidFill>
                <a:latin typeface="Constantia"/>
                <a:cs typeface="Constantia"/>
              </a:rPr>
              <a:t>Dürüst </a:t>
            </a:r>
            <a:r>
              <a:rPr sz="2358" spc="-27" dirty="0">
                <a:solidFill>
                  <a:srgbClr val="231F20"/>
                </a:solidFill>
                <a:latin typeface="Constantia"/>
                <a:cs typeface="Constantia"/>
              </a:rPr>
              <a:t>ve </a:t>
            </a:r>
            <a:r>
              <a:rPr sz="2358" spc="-9" dirty="0">
                <a:solidFill>
                  <a:srgbClr val="231F20"/>
                </a:solidFill>
                <a:latin typeface="Constantia"/>
                <a:cs typeface="Constantia"/>
              </a:rPr>
              <a:t>tarafsız </a:t>
            </a:r>
            <a:r>
              <a:rPr sz="2358" spc="-14" dirty="0">
                <a:solidFill>
                  <a:srgbClr val="231F20"/>
                </a:solidFill>
                <a:latin typeface="Constantia"/>
                <a:cs typeface="Constantia"/>
              </a:rPr>
              <a:t>olarak </a:t>
            </a:r>
            <a:r>
              <a:rPr sz="2358" dirty="0">
                <a:solidFill>
                  <a:srgbClr val="231F20"/>
                </a:solidFill>
                <a:latin typeface="Constantia"/>
                <a:cs typeface="Constantia"/>
              </a:rPr>
              <a:t>halka, </a:t>
            </a:r>
            <a:r>
              <a:rPr sz="2358" spc="-14" dirty="0">
                <a:solidFill>
                  <a:srgbClr val="231F20"/>
                </a:solidFill>
                <a:latin typeface="Constantia"/>
                <a:cs typeface="Constantia"/>
              </a:rPr>
              <a:t>kendi </a:t>
            </a:r>
            <a:r>
              <a:rPr sz="2358" spc="-9" dirty="0">
                <a:solidFill>
                  <a:srgbClr val="231F20"/>
                </a:solidFill>
                <a:latin typeface="Constantia"/>
                <a:cs typeface="Constantia"/>
              </a:rPr>
              <a:t>işverenlerine  </a:t>
            </a:r>
            <a:r>
              <a:rPr sz="2358" dirty="0">
                <a:solidFill>
                  <a:srgbClr val="231F20"/>
                </a:solidFill>
                <a:latin typeface="Constantia"/>
                <a:cs typeface="Constantia"/>
              </a:rPr>
              <a:t> </a:t>
            </a:r>
            <a:r>
              <a:rPr sz="2358" spc="-27" dirty="0">
                <a:solidFill>
                  <a:srgbClr val="231F20"/>
                </a:solidFill>
                <a:latin typeface="Constantia"/>
                <a:cs typeface="Constantia"/>
              </a:rPr>
              <a:t>ve</a:t>
            </a:r>
            <a:endParaRPr sz="2358" dirty="0">
              <a:solidFill>
                <a:prstClr val="black"/>
              </a:solidFill>
              <a:latin typeface="Constantia"/>
              <a:cs typeface="Constantia"/>
            </a:endParaRPr>
          </a:p>
          <a:p>
            <a:pPr marL="258542"/>
            <a:r>
              <a:rPr sz="2358" spc="-5" dirty="0">
                <a:solidFill>
                  <a:srgbClr val="231F20"/>
                </a:solidFill>
                <a:latin typeface="Constantia"/>
                <a:cs typeface="Constantia"/>
              </a:rPr>
              <a:t>müşterilerine sadakatle hizmet</a:t>
            </a:r>
            <a:r>
              <a:rPr sz="2358" spc="-336" dirty="0">
                <a:solidFill>
                  <a:srgbClr val="231F20"/>
                </a:solidFill>
                <a:latin typeface="Constantia"/>
                <a:cs typeface="Constantia"/>
              </a:rPr>
              <a:t> </a:t>
            </a:r>
            <a:r>
              <a:rPr sz="2358" spc="-9" dirty="0">
                <a:solidFill>
                  <a:srgbClr val="231F20"/>
                </a:solidFill>
                <a:latin typeface="Constantia"/>
                <a:cs typeface="Constantia"/>
              </a:rPr>
              <a:t>ederek</a:t>
            </a:r>
            <a:endParaRPr sz="2358" dirty="0">
              <a:solidFill>
                <a:prstClr val="black"/>
              </a:solidFill>
              <a:latin typeface="Constantia"/>
              <a:cs typeface="Constantia"/>
            </a:endParaRPr>
          </a:p>
        </p:txBody>
      </p:sp>
      <p:sp>
        <p:nvSpPr>
          <p:cNvPr id="36" name="object 36"/>
          <p:cNvSpPr txBox="1"/>
          <p:nvPr/>
        </p:nvSpPr>
        <p:spPr>
          <a:xfrm>
            <a:off x="2436891" y="4620493"/>
            <a:ext cx="1901929" cy="362856"/>
          </a:xfrm>
          <a:prstGeom prst="rect">
            <a:avLst/>
          </a:prstGeom>
        </p:spPr>
        <p:txBody>
          <a:bodyPr vert="horz" wrap="square" lIns="0" tIns="0" rIns="0" bIns="0" rtlCol="0">
            <a:spAutoFit/>
          </a:bodyPr>
          <a:lstStyle/>
          <a:p>
            <a:pPr marL="258542" indent="-247026">
              <a:buClr>
                <a:srgbClr val="33C0CD"/>
              </a:buClr>
              <a:buSzPct val="94230"/>
              <a:buFont typeface="Arial"/>
              <a:buChar char="•"/>
              <a:tabLst>
                <a:tab pos="259118" algn="l"/>
              </a:tabLst>
            </a:pPr>
            <a:r>
              <a:rPr sz="2358" spc="-9" dirty="0">
                <a:solidFill>
                  <a:srgbClr val="231F20"/>
                </a:solidFill>
                <a:latin typeface="Constantia"/>
                <a:cs typeface="Constantia"/>
              </a:rPr>
              <a:t>Mühendislik</a:t>
            </a:r>
            <a:endParaRPr sz="2358">
              <a:solidFill>
                <a:prstClr val="black"/>
              </a:solidFill>
              <a:latin typeface="Constantia"/>
              <a:cs typeface="Constantia"/>
            </a:endParaRPr>
          </a:p>
        </p:txBody>
      </p:sp>
      <p:sp>
        <p:nvSpPr>
          <p:cNvPr id="37" name="object 37"/>
          <p:cNvSpPr txBox="1"/>
          <p:nvPr/>
        </p:nvSpPr>
        <p:spPr>
          <a:xfrm>
            <a:off x="4620035" y="4620493"/>
            <a:ext cx="5137454" cy="362856"/>
          </a:xfrm>
          <a:prstGeom prst="rect">
            <a:avLst/>
          </a:prstGeom>
        </p:spPr>
        <p:txBody>
          <a:bodyPr vert="horz" wrap="square" lIns="0" tIns="0" rIns="0" bIns="0" rtlCol="0">
            <a:spAutoFit/>
          </a:bodyPr>
          <a:lstStyle/>
          <a:p>
            <a:pPr marL="11516">
              <a:tabLst>
                <a:tab pos="1737819" algn="l"/>
                <a:tab pos="3385810" algn="l"/>
                <a:tab pos="3968538" algn="l"/>
              </a:tabLst>
            </a:pPr>
            <a:r>
              <a:rPr sz="2358" spc="-5" dirty="0">
                <a:solidFill>
                  <a:srgbClr val="231F20"/>
                </a:solidFill>
                <a:latin typeface="Constantia"/>
                <a:cs typeface="Constantia"/>
              </a:rPr>
              <a:t>mesleğinin	</a:t>
            </a:r>
            <a:r>
              <a:rPr sz="2358" spc="-14" dirty="0">
                <a:solidFill>
                  <a:srgbClr val="231F20"/>
                </a:solidFill>
                <a:latin typeface="Constantia"/>
                <a:cs typeface="Constantia"/>
              </a:rPr>
              <a:t>yeteneğini	</a:t>
            </a:r>
            <a:r>
              <a:rPr sz="2358" spc="-27" dirty="0">
                <a:solidFill>
                  <a:srgbClr val="231F20"/>
                </a:solidFill>
                <a:latin typeface="Constantia"/>
                <a:cs typeface="Constantia"/>
              </a:rPr>
              <a:t>ve	</a:t>
            </a:r>
            <a:r>
              <a:rPr sz="2358" spc="-9" dirty="0">
                <a:solidFill>
                  <a:srgbClr val="231F20"/>
                </a:solidFill>
                <a:latin typeface="Constantia"/>
                <a:cs typeface="Constantia"/>
              </a:rPr>
              <a:t>prestijini</a:t>
            </a:r>
            <a:endParaRPr sz="2358">
              <a:solidFill>
                <a:prstClr val="black"/>
              </a:solidFill>
              <a:latin typeface="Constantia"/>
              <a:cs typeface="Constantia"/>
            </a:endParaRPr>
          </a:p>
        </p:txBody>
      </p:sp>
      <p:sp>
        <p:nvSpPr>
          <p:cNvPr id="38" name="object 38"/>
          <p:cNvSpPr txBox="1"/>
          <p:nvPr/>
        </p:nvSpPr>
        <p:spPr>
          <a:xfrm>
            <a:off x="2684233" y="4979818"/>
            <a:ext cx="2843968" cy="362856"/>
          </a:xfrm>
          <a:prstGeom prst="rect">
            <a:avLst/>
          </a:prstGeom>
        </p:spPr>
        <p:txBody>
          <a:bodyPr vert="horz" wrap="square" lIns="0" tIns="0" rIns="0" bIns="0" rtlCol="0">
            <a:spAutoFit/>
          </a:bodyPr>
          <a:lstStyle/>
          <a:p>
            <a:pPr marL="11516"/>
            <a:r>
              <a:rPr sz="2358" spc="-14" dirty="0">
                <a:solidFill>
                  <a:srgbClr val="231F20"/>
                </a:solidFill>
                <a:latin typeface="Constantia"/>
                <a:cs typeface="Constantia"/>
              </a:rPr>
              <a:t>artırmaya</a:t>
            </a:r>
            <a:r>
              <a:rPr sz="2358" spc="-154" dirty="0">
                <a:solidFill>
                  <a:srgbClr val="231F20"/>
                </a:solidFill>
                <a:latin typeface="Constantia"/>
                <a:cs typeface="Constantia"/>
              </a:rPr>
              <a:t> </a:t>
            </a:r>
            <a:r>
              <a:rPr sz="2358" spc="-14" dirty="0">
                <a:solidFill>
                  <a:srgbClr val="231F20"/>
                </a:solidFill>
                <a:latin typeface="Constantia"/>
                <a:cs typeface="Constantia"/>
              </a:rPr>
              <a:t>çabalayarak</a:t>
            </a:r>
            <a:endParaRPr sz="2358">
              <a:solidFill>
                <a:prstClr val="black"/>
              </a:solidFill>
              <a:latin typeface="Constantia"/>
              <a:cs typeface="Constantia"/>
            </a:endParaRPr>
          </a:p>
        </p:txBody>
      </p:sp>
      <p:sp>
        <p:nvSpPr>
          <p:cNvPr id="39" name="object 39"/>
          <p:cNvSpPr txBox="1"/>
          <p:nvPr/>
        </p:nvSpPr>
        <p:spPr>
          <a:xfrm>
            <a:off x="2436890" y="5411209"/>
            <a:ext cx="1035322" cy="362856"/>
          </a:xfrm>
          <a:prstGeom prst="rect">
            <a:avLst/>
          </a:prstGeom>
        </p:spPr>
        <p:txBody>
          <a:bodyPr vert="horz" wrap="square" lIns="0" tIns="0" rIns="0" bIns="0" rtlCol="0">
            <a:spAutoFit/>
          </a:bodyPr>
          <a:lstStyle/>
          <a:p>
            <a:pPr marL="258542" indent="-247026">
              <a:buClr>
                <a:srgbClr val="33C0CD"/>
              </a:buClr>
              <a:buSzPct val="94230"/>
              <a:buFont typeface="Arial"/>
              <a:buChar char="•"/>
              <a:tabLst>
                <a:tab pos="259118" algn="l"/>
              </a:tabLst>
            </a:pPr>
            <a:r>
              <a:rPr sz="2358" spc="-50" dirty="0">
                <a:solidFill>
                  <a:srgbClr val="231F20"/>
                </a:solidFill>
                <a:latin typeface="Constantia"/>
                <a:cs typeface="Constantia"/>
              </a:rPr>
              <a:t>K</a:t>
            </a:r>
            <a:r>
              <a:rPr sz="2358" spc="-5" dirty="0">
                <a:solidFill>
                  <a:srgbClr val="231F20"/>
                </a:solidFill>
                <a:latin typeface="Constantia"/>
                <a:cs typeface="Constantia"/>
              </a:rPr>
              <a:t>endi</a:t>
            </a:r>
            <a:endParaRPr sz="2358">
              <a:solidFill>
                <a:prstClr val="black"/>
              </a:solidFill>
              <a:latin typeface="Constantia"/>
              <a:cs typeface="Constantia"/>
            </a:endParaRPr>
          </a:p>
        </p:txBody>
      </p:sp>
      <p:sp>
        <p:nvSpPr>
          <p:cNvPr id="40" name="object 40"/>
          <p:cNvSpPr txBox="1"/>
          <p:nvPr/>
        </p:nvSpPr>
        <p:spPr>
          <a:xfrm>
            <a:off x="3715505" y="5411209"/>
            <a:ext cx="6042065" cy="362856"/>
          </a:xfrm>
          <a:prstGeom prst="rect">
            <a:avLst/>
          </a:prstGeom>
        </p:spPr>
        <p:txBody>
          <a:bodyPr vert="horz" wrap="square" lIns="0" tIns="0" rIns="0" bIns="0" rtlCol="0">
            <a:spAutoFit/>
          </a:bodyPr>
          <a:lstStyle/>
          <a:p>
            <a:pPr marL="11516">
              <a:tabLst>
                <a:tab pos="2105191" algn="l"/>
                <a:tab pos="3367383" algn="l"/>
                <a:tab pos="3909228" algn="l"/>
                <a:tab pos="4998100" algn="l"/>
              </a:tabLst>
            </a:pPr>
            <a:r>
              <a:rPr sz="2358" spc="-5" dirty="0">
                <a:solidFill>
                  <a:srgbClr val="231F20"/>
                </a:solidFill>
                <a:latin typeface="Constantia"/>
                <a:cs typeface="Constantia"/>
              </a:rPr>
              <a:t>disiplinlerinin	mesleki	</a:t>
            </a:r>
            <a:r>
              <a:rPr sz="2358" spc="-27" dirty="0">
                <a:solidFill>
                  <a:srgbClr val="231F20"/>
                </a:solidFill>
                <a:latin typeface="Constantia"/>
                <a:cs typeface="Constantia"/>
              </a:rPr>
              <a:t>ve	</a:t>
            </a:r>
            <a:r>
              <a:rPr sz="2358" spc="-9" dirty="0">
                <a:solidFill>
                  <a:srgbClr val="231F20"/>
                </a:solidFill>
                <a:latin typeface="Constantia"/>
                <a:cs typeface="Constantia"/>
              </a:rPr>
              <a:t>teknik	</a:t>
            </a:r>
            <a:r>
              <a:rPr sz="2358" spc="-5" dirty="0">
                <a:solidFill>
                  <a:srgbClr val="231F20"/>
                </a:solidFill>
                <a:latin typeface="Constantia"/>
                <a:cs typeface="Constantia"/>
              </a:rPr>
              <a:t>birliğini</a:t>
            </a:r>
            <a:endParaRPr sz="2358">
              <a:solidFill>
                <a:prstClr val="black"/>
              </a:solidFill>
              <a:latin typeface="Constantia"/>
              <a:cs typeface="Constantia"/>
            </a:endParaRPr>
          </a:p>
        </p:txBody>
      </p:sp>
      <p:sp>
        <p:nvSpPr>
          <p:cNvPr id="41" name="object 41"/>
          <p:cNvSpPr txBox="1"/>
          <p:nvPr/>
        </p:nvSpPr>
        <p:spPr>
          <a:xfrm>
            <a:off x="2715226" y="5842600"/>
            <a:ext cx="4778143" cy="362856"/>
          </a:xfrm>
          <a:prstGeom prst="rect">
            <a:avLst/>
          </a:prstGeom>
        </p:spPr>
        <p:txBody>
          <a:bodyPr vert="horz" wrap="square" lIns="0" tIns="0" rIns="0" bIns="0" rtlCol="0">
            <a:spAutoFit/>
          </a:bodyPr>
          <a:lstStyle/>
          <a:p>
            <a:pPr marL="11516"/>
            <a:r>
              <a:rPr sz="2358" spc="-9" dirty="0">
                <a:solidFill>
                  <a:srgbClr val="231F20"/>
                </a:solidFill>
                <a:latin typeface="Constantia"/>
                <a:cs typeface="Constantia"/>
              </a:rPr>
              <a:t>destekleyerek, yüceltir </a:t>
            </a:r>
            <a:r>
              <a:rPr sz="2358" spc="-27" dirty="0">
                <a:solidFill>
                  <a:srgbClr val="231F20"/>
                </a:solidFill>
                <a:latin typeface="Constantia"/>
                <a:cs typeface="Constantia"/>
              </a:rPr>
              <a:t>ve</a:t>
            </a:r>
            <a:r>
              <a:rPr sz="2358" spc="-404" dirty="0">
                <a:solidFill>
                  <a:srgbClr val="231F20"/>
                </a:solidFill>
                <a:latin typeface="Constantia"/>
                <a:cs typeface="Constantia"/>
              </a:rPr>
              <a:t> </a:t>
            </a:r>
            <a:r>
              <a:rPr sz="2358" spc="-23" dirty="0">
                <a:solidFill>
                  <a:srgbClr val="231F20"/>
                </a:solidFill>
                <a:latin typeface="Constantia"/>
                <a:cs typeface="Constantia"/>
              </a:rPr>
              <a:t>geliştirirler.</a:t>
            </a:r>
            <a:endParaRPr sz="2358">
              <a:solidFill>
                <a:prstClr val="black"/>
              </a:solidFill>
              <a:latin typeface="Constantia"/>
              <a:cs typeface="Constantia"/>
            </a:endParaRPr>
          </a:p>
        </p:txBody>
      </p:sp>
    </p:spTree>
    <p:extLst>
      <p:ext uri="{BB962C8B-B14F-4D97-AF65-F5344CB8AC3E}">
        <p14:creationId xmlns:p14="http://schemas.microsoft.com/office/powerpoint/2010/main" val="40429357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50900" y="317932"/>
            <a:ext cx="8291799" cy="914400"/>
          </a:xfrm>
          <a:prstGeom prst="rect">
            <a:avLst/>
          </a:prstGeom>
          <a:blipFill>
            <a:blip r:embed="rId2" cstate="print"/>
            <a:stretch>
              <a:fillRect/>
            </a:stretch>
          </a:blipFill>
        </p:spPr>
        <p:txBody>
          <a:bodyPr wrap="square" lIns="0" tIns="0" rIns="0" bIns="0" rtlCol="0"/>
          <a:lstStyle/>
          <a:p>
            <a:endParaRPr sz="1632"/>
          </a:p>
        </p:txBody>
      </p:sp>
      <p:sp>
        <p:nvSpPr>
          <p:cNvPr id="3" name="object 3"/>
          <p:cNvSpPr/>
          <p:nvPr/>
        </p:nvSpPr>
        <p:spPr>
          <a:xfrm>
            <a:off x="5942936" y="316816"/>
            <a:ext cx="4299764" cy="521116"/>
          </a:xfrm>
          <a:prstGeom prst="rect">
            <a:avLst/>
          </a:prstGeom>
          <a:blipFill>
            <a:blip r:embed="rId3" cstate="print"/>
            <a:stretch>
              <a:fillRect/>
            </a:stretch>
          </a:blipFill>
        </p:spPr>
        <p:txBody>
          <a:bodyPr wrap="square" lIns="0" tIns="0" rIns="0" bIns="0" rtlCol="0"/>
          <a:lstStyle/>
          <a:p>
            <a:endParaRPr sz="1632"/>
          </a:p>
        </p:txBody>
      </p:sp>
      <p:sp>
        <p:nvSpPr>
          <p:cNvPr id="4" name="object 4"/>
          <p:cNvSpPr/>
          <p:nvPr/>
        </p:nvSpPr>
        <p:spPr>
          <a:xfrm>
            <a:off x="8028044" y="388792"/>
            <a:ext cx="2214656" cy="471479"/>
          </a:xfrm>
          <a:prstGeom prst="rect">
            <a:avLst/>
          </a:prstGeom>
          <a:blipFill>
            <a:blip r:embed="rId4" cstate="print"/>
            <a:stretch>
              <a:fillRect/>
            </a:stretch>
          </a:blipFill>
        </p:spPr>
        <p:txBody>
          <a:bodyPr wrap="square" lIns="0" tIns="0" rIns="0" bIns="0" rtlCol="0"/>
          <a:lstStyle/>
          <a:p>
            <a:endParaRPr sz="1632"/>
          </a:p>
        </p:txBody>
      </p:sp>
      <p:sp>
        <p:nvSpPr>
          <p:cNvPr id="5" name="object 5"/>
          <p:cNvSpPr/>
          <p:nvPr/>
        </p:nvSpPr>
        <p:spPr>
          <a:xfrm>
            <a:off x="1974325" y="1064378"/>
            <a:ext cx="513273" cy="169095"/>
          </a:xfrm>
          <a:prstGeom prst="rect">
            <a:avLst/>
          </a:prstGeom>
          <a:blipFill>
            <a:blip r:embed="rId5" cstate="print"/>
            <a:stretch>
              <a:fillRect/>
            </a:stretch>
          </a:blipFill>
        </p:spPr>
        <p:txBody>
          <a:bodyPr wrap="square" lIns="0" tIns="0" rIns="0" bIns="0" rtlCol="0"/>
          <a:lstStyle/>
          <a:p>
            <a:endParaRPr sz="1632"/>
          </a:p>
        </p:txBody>
      </p:sp>
      <p:sp>
        <p:nvSpPr>
          <p:cNvPr id="6" name="object 6"/>
          <p:cNvSpPr/>
          <p:nvPr/>
        </p:nvSpPr>
        <p:spPr>
          <a:xfrm>
            <a:off x="2468170" y="737860"/>
            <a:ext cx="3411403" cy="321991"/>
          </a:xfrm>
          <a:prstGeom prst="rect">
            <a:avLst/>
          </a:prstGeom>
          <a:blipFill>
            <a:blip r:embed="rId6" cstate="print"/>
            <a:stretch>
              <a:fillRect/>
            </a:stretch>
          </a:blipFill>
        </p:spPr>
        <p:txBody>
          <a:bodyPr wrap="square" lIns="0" tIns="0" rIns="0" bIns="0" rtlCol="0"/>
          <a:lstStyle/>
          <a:p>
            <a:endParaRPr sz="1632"/>
          </a:p>
        </p:txBody>
      </p:sp>
      <p:sp>
        <p:nvSpPr>
          <p:cNvPr id="7" name="object 7"/>
          <p:cNvSpPr/>
          <p:nvPr/>
        </p:nvSpPr>
        <p:spPr>
          <a:xfrm>
            <a:off x="5835971" y="854952"/>
            <a:ext cx="2372764" cy="137989"/>
          </a:xfrm>
          <a:prstGeom prst="rect">
            <a:avLst/>
          </a:prstGeom>
          <a:blipFill>
            <a:blip r:embed="rId7" cstate="print"/>
            <a:stretch>
              <a:fillRect/>
            </a:stretch>
          </a:blipFill>
        </p:spPr>
        <p:txBody>
          <a:bodyPr wrap="square" lIns="0" tIns="0" rIns="0" bIns="0" rtlCol="0"/>
          <a:lstStyle/>
          <a:p>
            <a:endParaRPr sz="1632"/>
          </a:p>
        </p:txBody>
      </p:sp>
      <p:sp>
        <p:nvSpPr>
          <p:cNvPr id="8" name="object 8"/>
          <p:cNvSpPr/>
          <p:nvPr/>
        </p:nvSpPr>
        <p:spPr>
          <a:xfrm>
            <a:off x="8143829" y="852695"/>
            <a:ext cx="488904" cy="88906"/>
          </a:xfrm>
          <a:prstGeom prst="rect">
            <a:avLst/>
          </a:prstGeom>
          <a:blipFill>
            <a:blip r:embed="rId8" cstate="print"/>
            <a:stretch>
              <a:fillRect/>
            </a:stretch>
          </a:blipFill>
        </p:spPr>
        <p:txBody>
          <a:bodyPr wrap="square" lIns="0" tIns="0" rIns="0" bIns="0" rtlCol="0"/>
          <a:lstStyle/>
          <a:p>
            <a:endParaRPr sz="1632"/>
          </a:p>
        </p:txBody>
      </p:sp>
      <p:sp>
        <p:nvSpPr>
          <p:cNvPr id="9" name="object 9"/>
          <p:cNvSpPr/>
          <p:nvPr/>
        </p:nvSpPr>
        <p:spPr>
          <a:xfrm>
            <a:off x="8892014" y="762914"/>
            <a:ext cx="60472" cy="15121"/>
          </a:xfrm>
          <a:prstGeom prst="rect">
            <a:avLst/>
          </a:prstGeom>
          <a:blipFill>
            <a:blip r:embed="rId9" cstate="print"/>
            <a:stretch>
              <a:fillRect/>
            </a:stretch>
          </a:blipFill>
        </p:spPr>
        <p:txBody>
          <a:bodyPr wrap="square" lIns="0" tIns="0" rIns="0" bIns="0" rtlCol="0"/>
          <a:lstStyle/>
          <a:p>
            <a:endParaRPr sz="1632"/>
          </a:p>
        </p:txBody>
      </p:sp>
      <p:sp>
        <p:nvSpPr>
          <p:cNvPr id="10" name="object 10"/>
          <p:cNvSpPr/>
          <p:nvPr/>
        </p:nvSpPr>
        <p:spPr>
          <a:xfrm>
            <a:off x="8928487" y="316816"/>
            <a:ext cx="1266329" cy="443380"/>
          </a:xfrm>
          <a:prstGeom prst="rect">
            <a:avLst/>
          </a:prstGeom>
          <a:blipFill>
            <a:blip r:embed="rId10" cstate="print"/>
            <a:stretch>
              <a:fillRect/>
            </a:stretch>
          </a:blipFill>
        </p:spPr>
        <p:txBody>
          <a:bodyPr wrap="square" lIns="0" tIns="0" rIns="0" bIns="0" rtlCol="0"/>
          <a:lstStyle/>
          <a:p>
            <a:endParaRPr sz="1632"/>
          </a:p>
        </p:txBody>
      </p:sp>
      <p:sp>
        <p:nvSpPr>
          <p:cNvPr id="11" name="object 11"/>
          <p:cNvSpPr/>
          <p:nvPr/>
        </p:nvSpPr>
        <p:spPr>
          <a:xfrm>
            <a:off x="2487597" y="773442"/>
            <a:ext cx="3348374" cy="290936"/>
          </a:xfrm>
          <a:prstGeom prst="rect">
            <a:avLst/>
          </a:prstGeom>
          <a:blipFill>
            <a:blip r:embed="rId11" cstate="print"/>
            <a:stretch>
              <a:fillRect/>
            </a:stretch>
          </a:blipFill>
        </p:spPr>
        <p:txBody>
          <a:bodyPr wrap="square" lIns="0" tIns="0" rIns="0" bIns="0" rtlCol="0"/>
          <a:lstStyle/>
          <a:p>
            <a:endParaRPr sz="1632"/>
          </a:p>
        </p:txBody>
      </p:sp>
      <p:sp>
        <p:nvSpPr>
          <p:cNvPr id="12" name="object 12"/>
          <p:cNvSpPr/>
          <p:nvPr/>
        </p:nvSpPr>
        <p:spPr>
          <a:xfrm>
            <a:off x="5879572" y="849909"/>
            <a:ext cx="2094897" cy="106066"/>
          </a:xfrm>
          <a:prstGeom prst="rect">
            <a:avLst/>
          </a:prstGeom>
          <a:blipFill>
            <a:blip r:embed="rId12" cstate="print"/>
            <a:stretch>
              <a:fillRect/>
            </a:stretch>
          </a:blipFill>
        </p:spPr>
        <p:txBody>
          <a:bodyPr wrap="square" lIns="0" tIns="0" rIns="0" bIns="0" rtlCol="0"/>
          <a:lstStyle/>
          <a:p>
            <a:endParaRPr sz="1632"/>
          </a:p>
        </p:txBody>
      </p:sp>
      <p:sp>
        <p:nvSpPr>
          <p:cNvPr id="13" name="object 13"/>
          <p:cNvSpPr/>
          <p:nvPr/>
        </p:nvSpPr>
        <p:spPr>
          <a:xfrm>
            <a:off x="1950901" y="1059851"/>
            <a:ext cx="517269" cy="181844"/>
          </a:xfrm>
          <a:prstGeom prst="rect">
            <a:avLst/>
          </a:prstGeom>
          <a:blipFill>
            <a:blip r:embed="rId13" cstate="print"/>
            <a:stretch>
              <a:fillRect/>
            </a:stretch>
          </a:blipFill>
        </p:spPr>
        <p:txBody>
          <a:bodyPr wrap="square" lIns="0" tIns="0" rIns="0" bIns="0" rtlCol="0"/>
          <a:lstStyle/>
          <a:p>
            <a:endParaRPr sz="1632"/>
          </a:p>
        </p:txBody>
      </p:sp>
      <p:sp>
        <p:nvSpPr>
          <p:cNvPr id="14" name="object 14"/>
          <p:cNvSpPr/>
          <p:nvPr/>
        </p:nvSpPr>
        <p:spPr>
          <a:xfrm>
            <a:off x="7902550" y="858165"/>
            <a:ext cx="630763" cy="80188"/>
          </a:xfrm>
          <a:prstGeom prst="rect">
            <a:avLst/>
          </a:prstGeom>
          <a:blipFill>
            <a:blip r:embed="rId14" cstate="print"/>
            <a:stretch>
              <a:fillRect/>
            </a:stretch>
          </a:blipFill>
        </p:spPr>
        <p:txBody>
          <a:bodyPr wrap="square" lIns="0" tIns="0" rIns="0" bIns="0" rtlCol="0"/>
          <a:lstStyle/>
          <a:p>
            <a:endParaRPr sz="1632"/>
          </a:p>
        </p:txBody>
      </p:sp>
      <p:sp>
        <p:nvSpPr>
          <p:cNvPr id="15" name="object 15"/>
          <p:cNvSpPr/>
          <p:nvPr/>
        </p:nvSpPr>
        <p:spPr>
          <a:xfrm>
            <a:off x="8581763" y="760196"/>
            <a:ext cx="346723" cy="95700"/>
          </a:xfrm>
          <a:prstGeom prst="rect">
            <a:avLst/>
          </a:prstGeom>
          <a:blipFill>
            <a:blip r:embed="rId15" cstate="print"/>
            <a:stretch>
              <a:fillRect/>
            </a:stretch>
          </a:blipFill>
        </p:spPr>
        <p:txBody>
          <a:bodyPr wrap="square" lIns="0" tIns="0" rIns="0" bIns="0" rtlCol="0"/>
          <a:lstStyle/>
          <a:p>
            <a:endParaRPr sz="1632"/>
          </a:p>
        </p:txBody>
      </p:sp>
      <p:sp>
        <p:nvSpPr>
          <p:cNvPr id="16" name="object 16"/>
          <p:cNvSpPr/>
          <p:nvPr/>
        </p:nvSpPr>
        <p:spPr>
          <a:xfrm>
            <a:off x="8952486" y="364839"/>
            <a:ext cx="1290214" cy="398075"/>
          </a:xfrm>
          <a:prstGeom prst="rect">
            <a:avLst/>
          </a:prstGeom>
          <a:blipFill>
            <a:blip r:embed="rId16" cstate="print"/>
            <a:stretch>
              <a:fillRect/>
            </a:stretch>
          </a:blipFill>
        </p:spPr>
        <p:txBody>
          <a:bodyPr wrap="square" lIns="0" tIns="0" rIns="0" bIns="0" rtlCol="0"/>
          <a:lstStyle/>
          <a:p>
            <a:endParaRPr sz="1632"/>
          </a:p>
        </p:txBody>
      </p:sp>
      <p:sp>
        <p:nvSpPr>
          <p:cNvPr id="17" name="object 17"/>
          <p:cNvSpPr/>
          <p:nvPr/>
        </p:nvSpPr>
        <p:spPr>
          <a:xfrm>
            <a:off x="8479266" y="787132"/>
            <a:ext cx="357272" cy="72622"/>
          </a:xfrm>
          <a:prstGeom prst="rect">
            <a:avLst/>
          </a:prstGeom>
          <a:blipFill>
            <a:blip r:embed="rId17" cstate="print"/>
            <a:stretch>
              <a:fillRect/>
            </a:stretch>
          </a:blipFill>
        </p:spPr>
        <p:txBody>
          <a:bodyPr wrap="square" lIns="0" tIns="0" rIns="0" bIns="0" rtlCol="0"/>
          <a:lstStyle/>
          <a:p>
            <a:endParaRPr sz="1632"/>
          </a:p>
        </p:txBody>
      </p:sp>
      <p:sp>
        <p:nvSpPr>
          <p:cNvPr id="18" name="object 18"/>
          <p:cNvSpPr/>
          <p:nvPr/>
        </p:nvSpPr>
        <p:spPr>
          <a:xfrm>
            <a:off x="2351682" y="1022688"/>
            <a:ext cx="280584" cy="72887"/>
          </a:xfrm>
          <a:prstGeom prst="rect">
            <a:avLst/>
          </a:prstGeom>
          <a:blipFill>
            <a:blip r:embed="rId18" cstate="print"/>
            <a:stretch>
              <a:fillRect/>
            </a:stretch>
          </a:blipFill>
        </p:spPr>
        <p:txBody>
          <a:bodyPr wrap="square" lIns="0" tIns="0" rIns="0" bIns="0" rtlCol="0"/>
          <a:lstStyle/>
          <a:p>
            <a:endParaRPr sz="1632"/>
          </a:p>
        </p:txBody>
      </p:sp>
      <p:sp>
        <p:nvSpPr>
          <p:cNvPr id="19" name="object 19"/>
          <p:cNvSpPr/>
          <p:nvPr/>
        </p:nvSpPr>
        <p:spPr>
          <a:xfrm>
            <a:off x="5543997" y="823351"/>
            <a:ext cx="636118" cy="59666"/>
          </a:xfrm>
          <a:prstGeom prst="rect">
            <a:avLst/>
          </a:prstGeom>
          <a:blipFill>
            <a:blip r:embed="rId19" cstate="print"/>
            <a:stretch>
              <a:fillRect/>
            </a:stretch>
          </a:blipFill>
        </p:spPr>
        <p:txBody>
          <a:bodyPr wrap="square" lIns="0" tIns="0" rIns="0" bIns="0" rtlCol="0"/>
          <a:lstStyle/>
          <a:p>
            <a:endParaRPr sz="1632"/>
          </a:p>
        </p:txBody>
      </p:sp>
      <p:sp>
        <p:nvSpPr>
          <p:cNvPr id="20" name="object 20"/>
          <p:cNvSpPr/>
          <p:nvPr/>
        </p:nvSpPr>
        <p:spPr>
          <a:xfrm>
            <a:off x="8745445" y="707243"/>
            <a:ext cx="379211" cy="106157"/>
          </a:xfrm>
          <a:prstGeom prst="rect">
            <a:avLst/>
          </a:prstGeom>
          <a:blipFill>
            <a:blip r:embed="rId20" cstate="print"/>
            <a:stretch>
              <a:fillRect/>
            </a:stretch>
          </a:blipFill>
        </p:spPr>
        <p:txBody>
          <a:bodyPr wrap="square" lIns="0" tIns="0" rIns="0" bIns="0" rtlCol="0"/>
          <a:lstStyle/>
          <a:p>
            <a:endParaRPr sz="1632"/>
          </a:p>
        </p:txBody>
      </p:sp>
      <p:sp>
        <p:nvSpPr>
          <p:cNvPr id="21" name="object 21"/>
          <p:cNvSpPr txBox="1"/>
          <p:nvPr/>
        </p:nvSpPr>
        <p:spPr>
          <a:xfrm>
            <a:off x="2436891" y="1102464"/>
            <a:ext cx="2600973" cy="609654"/>
          </a:xfrm>
          <a:prstGeom prst="rect">
            <a:avLst/>
          </a:prstGeom>
        </p:spPr>
        <p:txBody>
          <a:bodyPr vert="horz" wrap="square" lIns="0" tIns="0" rIns="0" bIns="0" rtlCol="0">
            <a:spAutoFit/>
          </a:bodyPr>
          <a:lstStyle/>
          <a:p>
            <a:pPr marL="11516"/>
            <a:r>
              <a:rPr sz="1814" spc="-5" dirty="0">
                <a:solidFill>
                  <a:srgbClr val="231F20"/>
                </a:solidFill>
                <a:latin typeface="Constantia"/>
                <a:cs typeface="Constantia"/>
              </a:rPr>
              <a:t>Mühendislik Etiği</a:t>
            </a:r>
            <a:r>
              <a:rPr sz="1814" spc="-86" dirty="0">
                <a:solidFill>
                  <a:srgbClr val="231F20"/>
                </a:solidFill>
                <a:latin typeface="Constantia"/>
                <a:cs typeface="Constantia"/>
              </a:rPr>
              <a:t> </a:t>
            </a:r>
            <a:r>
              <a:rPr sz="1814" spc="-9" dirty="0">
                <a:solidFill>
                  <a:srgbClr val="231F20"/>
                </a:solidFill>
                <a:latin typeface="Constantia"/>
                <a:cs typeface="Constantia"/>
              </a:rPr>
              <a:t>ilkeleri:</a:t>
            </a:r>
            <a:endParaRPr sz="1814" dirty="0">
              <a:latin typeface="Constantia"/>
              <a:cs typeface="Constantia"/>
            </a:endParaRPr>
          </a:p>
          <a:p>
            <a:pPr marL="258542" indent="-247026">
              <a:spcBef>
                <a:spcPts val="435"/>
              </a:spcBef>
              <a:buClr>
                <a:srgbClr val="33C0CD"/>
              </a:buClr>
              <a:buSzPct val="95000"/>
              <a:buFont typeface="Arial"/>
              <a:buChar char="•"/>
              <a:tabLst>
                <a:tab pos="258542" algn="l"/>
                <a:tab pos="259118" algn="l"/>
                <a:tab pos="1821312" algn="l"/>
              </a:tabLst>
            </a:pPr>
            <a:r>
              <a:rPr sz="1814" spc="-18" dirty="0">
                <a:solidFill>
                  <a:srgbClr val="231F20"/>
                </a:solidFill>
                <a:latin typeface="Constantia"/>
                <a:cs typeface="Constantia"/>
              </a:rPr>
              <a:t>Mühendisler,	</a:t>
            </a:r>
            <a:r>
              <a:rPr sz="1814" spc="-5" dirty="0">
                <a:solidFill>
                  <a:srgbClr val="231F20"/>
                </a:solidFill>
                <a:latin typeface="Constantia"/>
                <a:cs typeface="Constantia"/>
              </a:rPr>
              <a:t>mesleki</a:t>
            </a:r>
            <a:endParaRPr sz="1814" dirty="0">
              <a:latin typeface="Constantia"/>
              <a:cs typeface="Constantia"/>
            </a:endParaRPr>
          </a:p>
        </p:txBody>
      </p:sp>
      <p:sp>
        <p:nvSpPr>
          <p:cNvPr id="22" name="object 22"/>
          <p:cNvSpPr txBox="1"/>
          <p:nvPr/>
        </p:nvSpPr>
        <p:spPr>
          <a:xfrm>
            <a:off x="5272089" y="1434137"/>
            <a:ext cx="1091176" cy="279179"/>
          </a:xfrm>
          <a:prstGeom prst="rect">
            <a:avLst/>
          </a:prstGeom>
        </p:spPr>
        <p:txBody>
          <a:bodyPr vert="horz" wrap="square" lIns="0" tIns="0" rIns="0" bIns="0" rtlCol="0">
            <a:spAutoFit/>
          </a:bodyPr>
          <a:lstStyle/>
          <a:p>
            <a:pPr marL="11516"/>
            <a:r>
              <a:rPr sz="1814" spc="-14" dirty="0">
                <a:solidFill>
                  <a:srgbClr val="231F20"/>
                </a:solidFill>
                <a:latin typeface="Constantia"/>
                <a:cs typeface="Constantia"/>
              </a:rPr>
              <a:t>görevlerini</a:t>
            </a:r>
            <a:endParaRPr sz="1814">
              <a:latin typeface="Constantia"/>
              <a:cs typeface="Constantia"/>
            </a:endParaRPr>
          </a:p>
        </p:txBody>
      </p:sp>
      <p:sp>
        <p:nvSpPr>
          <p:cNvPr id="23" name="object 23"/>
          <p:cNvSpPr txBox="1"/>
          <p:nvPr/>
        </p:nvSpPr>
        <p:spPr>
          <a:xfrm>
            <a:off x="6594898" y="1434137"/>
            <a:ext cx="1913445" cy="279179"/>
          </a:xfrm>
          <a:prstGeom prst="rect">
            <a:avLst/>
          </a:prstGeom>
        </p:spPr>
        <p:txBody>
          <a:bodyPr vert="horz" wrap="square" lIns="0" tIns="0" rIns="0" bIns="0" rtlCol="0">
            <a:spAutoFit/>
          </a:bodyPr>
          <a:lstStyle/>
          <a:p>
            <a:pPr marL="11516">
              <a:tabLst>
                <a:tab pos="876394" algn="l"/>
              </a:tabLst>
            </a:pPr>
            <a:r>
              <a:rPr sz="1814" spc="-9" dirty="0">
                <a:solidFill>
                  <a:srgbClr val="231F20"/>
                </a:solidFill>
                <a:latin typeface="Constantia"/>
                <a:cs typeface="Constantia"/>
              </a:rPr>
              <a:t>yerine	</a:t>
            </a:r>
            <a:r>
              <a:rPr sz="1814" spc="-18" dirty="0">
                <a:solidFill>
                  <a:srgbClr val="231F20"/>
                </a:solidFill>
                <a:latin typeface="Constantia"/>
                <a:cs typeface="Constantia"/>
              </a:rPr>
              <a:t>getirirken,</a:t>
            </a:r>
            <a:endParaRPr sz="1814">
              <a:latin typeface="Constantia"/>
              <a:cs typeface="Constantia"/>
            </a:endParaRPr>
          </a:p>
        </p:txBody>
      </p:sp>
      <p:sp>
        <p:nvSpPr>
          <p:cNvPr id="24" name="object 24"/>
          <p:cNvSpPr txBox="1"/>
          <p:nvPr/>
        </p:nvSpPr>
        <p:spPr>
          <a:xfrm>
            <a:off x="8741919" y="1434137"/>
            <a:ext cx="1018623" cy="279179"/>
          </a:xfrm>
          <a:prstGeom prst="rect">
            <a:avLst/>
          </a:prstGeom>
        </p:spPr>
        <p:txBody>
          <a:bodyPr vert="horz" wrap="square" lIns="0" tIns="0" rIns="0" bIns="0" rtlCol="0">
            <a:spAutoFit/>
          </a:bodyPr>
          <a:lstStyle/>
          <a:p>
            <a:pPr marL="11516"/>
            <a:r>
              <a:rPr sz="1814" spc="-5" dirty="0">
                <a:solidFill>
                  <a:srgbClr val="231F20"/>
                </a:solidFill>
                <a:latin typeface="Constantia"/>
                <a:cs typeface="Constantia"/>
              </a:rPr>
              <a:t>toplumun</a:t>
            </a:r>
            <a:endParaRPr sz="1814">
              <a:latin typeface="Constantia"/>
              <a:cs typeface="Constantia"/>
            </a:endParaRPr>
          </a:p>
        </p:txBody>
      </p:sp>
      <p:sp>
        <p:nvSpPr>
          <p:cNvPr id="25" name="object 25"/>
          <p:cNvSpPr txBox="1"/>
          <p:nvPr/>
        </p:nvSpPr>
        <p:spPr>
          <a:xfrm>
            <a:off x="2684262" y="1710529"/>
            <a:ext cx="5364326" cy="279179"/>
          </a:xfrm>
          <a:prstGeom prst="rect">
            <a:avLst/>
          </a:prstGeom>
        </p:spPr>
        <p:txBody>
          <a:bodyPr vert="horz" wrap="square" lIns="0" tIns="0" rIns="0" bIns="0" rtlCol="0">
            <a:spAutoFit/>
          </a:bodyPr>
          <a:lstStyle/>
          <a:p>
            <a:pPr marL="11516"/>
            <a:r>
              <a:rPr sz="1814" spc="-9" dirty="0">
                <a:solidFill>
                  <a:srgbClr val="231F20"/>
                </a:solidFill>
                <a:latin typeface="Constantia"/>
                <a:cs typeface="Constantia"/>
              </a:rPr>
              <a:t>güvenliğini, </a:t>
            </a:r>
            <a:r>
              <a:rPr sz="1814" spc="-5" dirty="0">
                <a:solidFill>
                  <a:srgbClr val="231F20"/>
                </a:solidFill>
                <a:latin typeface="Constantia"/>
                <a:cs typeface="Constantia"/>
              </a:rPr>
              <a:t>sağlığını </a:t>
            </a:r>
            <a:r>
              <a:rPr sz="1814" spc="-23" dirty="0">
                <a:solidFill>
                  <a:srgbClr val="231F20"/>
                </a:solidFill>
                <a:latin typeface="Constantia"/>
                <a:cs typeface="Constantia"/>
              </a:rPr>
              <a:t>ve </a:t>
            </a:r>
            <a:r>
              <a:rPr sz="1814" spc="-5" dirty="0">
                <a:solidFill>
                  <a:srgbClr val="231F20"/>
                </a:solidFill>
                <a:latin typeface="Constantia"/>
                <a:cs typeface="Constantia"/>
              </a:rPr>
              <a:t>refahını en </a:t>
            </a:r>
            <a:r>
              <a:rPr sz="1814" dirty="0">
                <a:solidFill>
                  <a:srgbClr val="231F20"/>
                </a:solidFill>
                <a:latin typeface="Constantia"/>
                <a:cs typeface="Constantia"/>
              </a:rPr>
              <a:t>önde</a:t>
            </a:r>
            <a:r>
              <a:rPr sz="1814" spc="-313" dirty="0">
                <a:solidFill>
                  <a:srgbClr val="231F20"/>
                </a:solidFill>
                <a:latin typeface="Constantia"/>
                <a:cs typeface="Constantia"/>
              </a:rPr>
              <a:t> </a:t>
            </a:r>
            <a:r>
              <a:rPr sz="1814" spc="-32" dirty="0">
                <a:solidFill>
                  <a:srgbClr val="231F20"/>
                </a:solidFill>
                <a:latin typeface="Constantia"/>
                <a:cs typeface="Constantia"/>
              </a:rPr>
              <a:t>tutacaklardır.</a:t>
            </a:r>
            <a:endParaRPr sz="1814">
              <a:latin typeface="Constantia"/>
              <a:cs typeface="Constantia"/>
            </a:endParaRPr>
          </a:p>
        </p:txBody>
      </p:sp>
      <p:sp>
        <p:nvSpPr>
          <p:cNvPr id="26" name="object 26"/>
          <p:cNvSpPr txBox="1"/>
          <p:nvPr/>
        </p:nvSpPr>
        <p:spPr>
          <a:xfrm>
            <a:off x="4240180" y="2042549"/>
            <a:ext cx="1485612" cy="279179"/>
          </a:xfrm>
          <a:prstGeom prst="rect">
            <a:avLst/>
          </a:prstGeom>
        </p:spPr>
        <p:txBody>
          <a:bodyPr vert="horz" wrap="square" lIns="0" tIns="0" rIns="0" bIns="0" rtlCol="0">
            <a:spAutoFit/>
          </a:bodyPr>
          <a:lstStyle/>
          <a:p>
            <a:pPr marL="11516">
              <a:tabLst>
                <a:tab pos="914975" algn="l"/>
              </a:tabLst>
            </a:pPr>
            <a:r>
              <a:rPr sz="1814" spc="-5" dirty="0">
                <a:solidFill>
                  <a:srgbClr val="231F20"/>
                </a:solidFill>
                <a:latin typeface="Constantia"/>
                <a:cs typeface="Constantia"/>
              </a:rPr>
              <a:t>sade</a:t>
            </a:r>
            <a:r>
              <a:rPr sz="1814" spc="-36" dirty="0">
                <a:solidFill>
                  <a:srgbClr val="231F20"/>
                </a:solidFill>
                <a:latin typeface="Constantia"/>
                <a:cs typeface="Constantia"/>
              </a:rPr>
              <a:t>c</a:t>
            </a:r>
            <a:r>
              <a:rPr sz="1814" dirty="0">
                <a:solidFill>
                  <a:srgbClr val="231F20"/>
                </a:solidFill>
                <a:latin typeface="Constantia"/>
                <a:cs typeface="Constantia"/>
              </a:rPr>
              <a:t>e	</a:t>
            </a:r>
            <a:r>
              <a:rPr sz="1814" spc="-50" dirty="0">
                <a:solidFill>
                  <a:srgbClr val="231F20"/>
                </a:solidFill>
                <a:latin typeface="Constantia"/>
                <a:cs typeface="Constantia"/>
              </a:rPr>
              <a:t>k</a:t>
            </a:r>
            <a:r>
              <a:rPr sz="1814" spc="-5" dirty="0">
                <a:solidFill>
                  <a:srgbClr val="231F20"/>
                </a:solidFill>
                <a:latin typeface="Constantia"/>
                <a:cs typeface="Constantia"/>
              </a:rPr>
              <a:t>endi</a:t>
            </a:r>
            <a:endParaRPr sz="1814">
              <a:latin typeface="Constantia"/>
              <a:cs typeface="Constantia"/>
            </a:endParaRPr>
          </a:p>
        </p:txBody>
      </p:sp>
      <p:sp>
        <p:nvSpPr>
          <p:cNvPr id="27" name="object 27"/>
          <p:cNvSpPr txBox="1"/>
          <p:nvPr/>
        </p:nvSpPr>
        <p:spPr>
          <a:xfrm>
            <a:off x="5952485" y="2042549"/>
            <a:ext cx="2523813" cy="279179"/>
          </a:xfrm>
          <a:prstGeom prst="rect">
            <a:avLst/>
          </a:prstGeom>
        </p:spPr>
        <p:txBody>
          <a:bodyPr vert="horz" wrap="square" lIns="0" tIns="0" rIns="0" bIns="0" rtlCol="0">
            <a:spAutoFit/>
          </a:bodyPr>
          <a:lstStyle/>
          <a:p>
            <a:pPr marL="11516">
              <a:tabLst>
                <a:tab pos="1197701" algn="l"/>
              </a:tabLst>
            </a:pPr>
            <a:r>
              <a:rPr sz="1814" spc="-5" dirty="0">
                <a:solidFill>
                  <a:srgbClr val="231F20"/>
                </a:solidFill>
                <a:latin typeface="Constantia"/>
                <a:cs typeface="Constantia"/>
              </a:rPr>
              <a:t>uzmanlık	alanlarındaki</a:t>
            </a:r>
            <a:endParaRPr sz="1814">
              <a:latin typeface="Constantia"/>
              <a:cs typeface="Constantia"/>
            </a:endParaRPr>
          </a:p>
        </p:txBody>
      </p:sp>
      <p:sp>
        <p:nvSpPr>
          <p:cNvPr id="28" name="object 28"/>
          <p:cNvSpPr txBox="1"/>
          <p:nvPr/>
        </p:nvSpPr>
        <p:spPr>
          <a:xfrm>
            <a:off x="8702892" y="2042549"/>
            <a:ext cx="1056051" cy="279179"/>
          </a:xfrm>
          <a:prstGeom prst="rect">
            <a:avLst/>
          </a:prstGeom>
        </p:spPr>
        <p:txBody>
          <a:bodyPr vert="horz" wrap="square" lIns="0" tIns="0" rIns="0" bIns="0" rtlCol="0">
            <a:spAutoFit/>
          </a:bodyPr>
          <a:lstStyle/>
          <a:p>
            <a:pPr marL="11516"/>
            <a:r>
              <a:rPr sz="1814" dirty="0">
                <a:solidFill>
                  <a:srgbClr val="231F20"/>
                </a:solidFill>
                <a:latin typeface="Constantia"/>
                <a:cs typeface="Constantia"/>
              </a:rPr>
              <a:t>hizmetleri</a:t>
            </a:r>
            <a:endParaRPr sz="1814">
              <a:latin typeface="Constantia"/>
              <a:cs typeface="Constantia"/>
            </a:endParaRPr>
          </a:p>
        </p:txBody>
      </p:sp>
      <p:sp>
        <p:nvSpPr>
          <p:cNvPr id="29" name="object 29"/>
          <p:cNvSpPr txBox="1"/>
          <p:nvPr/>
        </p:nvSpPr>
        <p:spPr>
          <a:xfrm>
            <a:off x="2436890" y="2042549"/>
            <a:ext cx="1600776" cy="888833"/>
          </a:xfrm>
          <a:prstGeom prst="rect">
            <a:avLst/>
          </a:prstGeom>
        </p:spPr>
        <p:txBody>
          <a:bodyPr vert="horz" wrap="square" lIns="0" tIns="0" rIns="0" bIns="0" rtlCol="0">
            <a:spAutoFit/>
          </a:bodyPr>
          <a:lstStyle/>
          <a:p>
            <a:pPr marL="258542" indent="-247026">
              <a:buClr>
                <a:srgbClr val="33C0CD"/>
              </a:buClr>
              <a:buSzPct val="95000"/>
              <a:buFont typeface="Arial"/>
              <a:buChar char="•"/>
              <a:tabLst>
                <a:tab pos="258542" algn="l"/>
                <a:tab pos="259118" algn="l"/>
              </a:tabLst>
            </a:pPr>
            <a:r>
              <a:rPr sz="1814" spc="-18" dirty="0">
                <a:solidFill>
                  <a:srgbClr val="231F20"/>
                </a:solidFill>
                <a:latin typeface="Constantia"/>
                <a:cs typeface="Constantia"/>
              </a:rPr>
              <a:t>Mühendisler,</a:t>
            </a:r>
            <a:endParaRPr sz="1814">
              <a:latin typeface="Constantia"/>
              <a:cs typeface="Constantia"/>
            </a:endParaRPr>
          </a:p>
          <a:p>
            <a:pPr marL="258542"/>
            <a:r>
              <a:rPr sz="1814" spc="-18" dirty="0">
                <a:solidFill>
                  <a:srgbClr val="231F20"/>
                </a:solidFill>
                <a:latin typeface="Constantia"/>
                <a:cs typeface="Constantia"/>
              </a:rPr>
              <a:t>vermelidirler.</a:t>
            </a:r>
            <a:endParaRPr sz="1814">
              <a:latin typeface="Constantia"/>
              <a:cs typeface="Constantia"/>
            </a:endParaRPr>
          </a:p>
          <a:p>
            <a:pPr marL="258542" indent="-247026">
              <a:spcBef>
                <a:spcPts val="435"/>
              </a:spcBef>
              <a:buClr>
                <a:srgbClr val="33C0CD"/>
              </a:buClr>
              <a:buSzPct val="95000"/>
              <a:buFont typeface="Arial"/>
              <a:buChar char="•"/>
              <a:tabLst>
                <a:tab pos="258542" algn="l"/>
                <a:tab pos="259118" algn="l"/>
              </a:tabLst>
            </a:pPr>
            <a:r>
              <a:rPr sz="1814" spc="-18" dirty="0">
                <a:solidFill>
                  <a:srgbClr val="231F20"/>
                </a:solidFill>
                <a:latin typeface="Constantia"/>
                <a:cs typeface="Constantia"/>
              </a:rPr>
              <a:t>Mühendisler,</a:t>
            </a:r>
            <a:endParaRPr sz="1814">
              <a:latin typeface="Constantia"/>
              <a:cs typeface="Constantia"/>
            </a:endParaRPr>
          </a:p>
        </p:txBody>
      </p:sp>
      <p:sp>
        <p:nvSpPr>
          <p:cNvPr id="30" name="object 30"/>
          <p:cNvSpPr txBox="1"/>
          <p:nvPr/>
        </p:nvSpPr>
        <p:spPr>
          <a:xfrm>
            <a:off x="4319373" y="2650614"/>
            <a:ext cx="4319216" cy="279179"/>
          </a:xfrm>
          <a:prstGeom prst="rect">
            <a:avLst/>
          </a:prstGeom>
        </p:spPr>
        <p:txBody>
          <a:bodyPr vert="horz" wrap="square" lIns="0" tIns="0" rIns="0" bIns="0" rtlCol="0">
            <a:spAutoFit/>
          </a:bodyPr>
          <a:lstStyle/>
          <a:p>
            <a:pPr marL="11516">
              <a:tabLst>
                <a:tab pos="1144726" algn="l"/>
                <a:tab pos="2244539" algn="l"/>
                <a:tab pos="2783504" algn="l"/>
                <a:tab pos="3752606" algn="l"/>
              </a:tabLst>
            </a:pPr>
            <a:r>
              <a:rPr sz="1814" spc="-27" dirty="0">
                <a:solidFill>
                  <a:srgbClr val="231F20"/>
                </a:solidFill>
                <a:latin typeface="Constantia"/>
                <a:cs typeface="Constantia"/>
              </a:rPr>
              <a:t>y</a:t>
            </a:r>
            <a:r>
              <a:rPr sz="1814" dirty="0">
                <a:solidFill>
                  <a:srgbClr val="231F20"/>
                </a:solidFill>
                <a:latin typeface="Constantia"/>
                <a:cs typeface="Constantia"/>
              </a:rPr>
              <a:t>aln</a:t>
            </a:r>
            <a:r>
              <a:rPr sz="1814" spc="-9" dirty="0">
                <a:solidFill>
                  <a:srgbClr val="231F20"/>
                </a:solidFill>
                <a:latin typeface="Constantia"/>
                <a:cs typeface="Constantia"/>
              </a:rPr>
              <a:t>ı</a:t>
            </a:r>
            <a:r>
              <a:rPr sz="1814" spc="-14" dirty="0">
                <a:solidFill>
                  <a:srgbClr val="231F20"/>
                </a:solidFill>
                <a:latin typeface="Constantia"/>
                <a:cs typeface="Constantia"/>
              </a:rPr>
              <a:t>z</a:t>
            </a:r>
            <a:r>
              <a:rPr sz="1814" spc="-5" dirty="0">
                <a:solidFill>
                  <a:srgbClr val="231F20"/>
                </a:solidFill>
                <a:latin typeface="Constantia"/>
                <a:cs typeface="Constantia"/>
              </a:rPr>
              <a:t>c</a:t>
            </a:r>
            <a:r>
              <a:rPr sz="1814" dirty="0">
                <a:solidFill>
                  <a:srgbClr val="231F20"/>
                </a:solidFill>
                <a:latin typeface="Constantia"/>
                <a:cs typeface="Constantia"/>
              </a:rPr>
              <a:t>a	</a:t>
            </a:r>
            <a:r>
              <a:rPr sz="1814" spc="-5" dirty="0">
                <a:solidFill>
                  <a:srgbClr val="231F20"/>
                </a:solidFill>
                <a:latin typeface="Constantia"/>
                <a:cs typeface="Constantia"/>
              </a:rPr>
              <a:t>objekti</a:t>
            </a:r>
            <a:r>
              <a:rPr sz="1814" dirty="0">
                <a:solidFill>
                  <a:srgbClr val="231F20"/>
                </a:solidFill>
                <a:latin typeface="Constantia"/>
                <a:cs typeface="Constantia"/>
              </a:rPr>
              <a:t>f	</a:t>
            </a:r>
            <a:r>
              <a:rPr sz="1814" spc="-41" dirty="0">
                <a:solidFill>
                  <a:srgbClr val="231F20"/>
                </a:solidFill>
                <a:latin typeface="Constantia"/>
                <a:cs typeface="Constantia"/>
              </a:rPr>
              <a:t>v</a:t>
            </a:r>
            <a:r>
              <a:rPr sz="1814" dirty="0">
                <a:solidFill>
                  <a:srgbClr val="231F20"/>
                </a:solidFill>
                <a:latin typeface="Constantia"/>
                <a:cs typeface="Constantia"/>
              </a:rPr>
              <a:t>e	</a:t>
            </a:r>
            <a:r>
              <a:rPr sz="1814" spc="-45" dirty="0">
                <a:solidFill>
                  <a:srgbClr val="231F20"/>
                </a:solidFill>
                <a:latin typeface="Constantia"/>
                <a:cs typeface="Constantia"/>
              </a:rPr>
              <a:t>g</a:t>
            </a:r>
            <a:r>
              <a:rPr sz="1814" dirty="0">
                <a:solidFill>
                  <a:srgbClr val="231F20"/>
                </a:solidFill>
                <a:latin typeface="Constantia"/>
                <a:cs typeface="Constantia"/>
              </a:rPr>
              <a:t>e</a:t>
            </a:r>
            <a:r>
              <a:rPr sz="1814" spc="-27" dirty="0">
                <a:solidFill>
                  <a:srgbClr val="231F20"/>
                </a:solidFill>
                <a:latin typeface="Constantia"/>
                <a:cs typeface="Constantia"/>
              </a:rPr>
              <a:t>r</a:t>
            </a:r>
            <a:r>
              <a:rPr sz="1814" spc="-36" dirty="0">
                <a:solidFill>
                  <a:srgbClr val="231F20"/>
                </a:solidFill>
                <a:latin typeface="Constantia"/>
                <a:cs typeface="Constantia"/>
              </a:rPr>
              <a:t>ç</a:t>
            </a:r>
            <a:r>
              <a:rPr sz="1814" spc="-14" dirty="0">
                <a:solidFill>
                  <a:srgbClr val="231F20"/>
                </a:solidFill>
                <a:latin typeface="Constantia"/>
                <a:cs typeface="Constantia"/>
              </a:rPr>
              <a:t>e</a:t>
            </a:r>
            <a:r>
              <a:rPr sz="1814" dirty="0">
                <a:solidFill>
                  <a:srgbClr val="231F20"/>
                </a:solidFill>
                <a:latin typeface="Constantia"/>
                <a:cs typeface="Constantia"/>
              </a:rPr>
              <a:t>k	</a:t>
            </a:r>
            <a:r>
              <a:rPr sz="1814" spc="-27" dirty="0">
                <a:solidFill>
                  <a:srgbClr val="231F20"/>
                </a:solidFill>
                <a:latin typeface="Constantia"/>
                <a:cs typeface="Constantia"/>
              </a:rPr>
              <a:t>r</a:t>
            </a:r>
            <a:r>
              <a:rPr sz="1814" dirty="0">
                <a:solidFill>
                  <a:srgbClr val="231F20"/>
                </a:solidFill>
                <a:latin typeface="Constantia"/>
                <a:cs typeface="Constantia"/>
              </a:rPr>
              <a:t>e</a:t>
            </a:r>
            <a:r>
              <a:rPr sz="1814" spc="-5" dirty="0">
                <a:solidFill>
                  <a:srgbClr val="231F20"/>
                </a:solidFill>
                <a:latin typeface="Constantia"/>
                <a:cs typeface="Constantia"/>
              </a:rPr>
              <a:t>smi</a:t>
            </a:r>
            <a:endParaRPr sz="1814">
              <a:latin typeface="Constantia"/>
              <a:cs typeface="Constantia"/>
            </a:endParaRPr>
          </a:p>
        </p:txBody>
      </p:sp>
      <p:sp>
        <p:nvSpPr>
          <p:cNvPr id="31" name="object 31"/>
          <p:cNvSpPr txBox="1"/>
          <p:nvPr/>
        </p:nvSpPr>
        <p:spPr>
          <a:xfrm>
            <a:off x="8943812" y="2650614"/>
            <a:ext cx="821117" cy="279179"/>
          </a:xfrm>
          <a:prstGeom prst="rect">
            <a:avLst/>
          </a:prstGeom>
        </p:spPr>
        <p:txBody>
          <a:bodyPr vert="horz" wrap="square" lIns="0" tIns="0" rIns="0" bIns="0" rtlCol="0">
            <a:spAutoFit/>
          </a:bodyPr>
          <a:lstStyle/>
          <a:p>
            <a:pPr marL="11516"/>
            <a:r>
              <a:rPr sz="1814" spc="-36" dirty="0">
                <a:solidFill>
                  <a:srgbClr val="231F20"/>
                </a:solidFill>
                <a:latin typeface="Constantia"/>
                <a:cs typeface="Constantia"/>
              </a:rPr>
              <a:t>r</a:t>
            </a:r>
            <a:r>
              <a:rPr sz="1814" dirty="0">
                <a:solidFill>
                  <a:srgbClr val="231F20"/>
                </a:solidFill>
                <a:latin typeface="Constantia"/>
                <a:cs typeface="Constantia"/>
              </a:rPr>
              <a:t>a</a:t>
            </a:r>
            <a:r>
              <a:rPr sz="1814" spc="-5" dirty="0">
                <a:solidFill>
                  <a:srgbClr val="231F20"/>
                </a:solidFill>
                <a:latin typeface="Constantia"/>
                <a:cs typeface="Constantia"/>
              </a:rPr>
              <a:t>po</a:t>
            </a:r>
            <a:r>
              <a:rPr sz="1814" spc="-27" dirty="0">
                <a:solidFill>
                  <a:srgbClr val="231F20"/>
                </a:solidFill>
                <a:latin typeface="Constantia"/>
                <a:cs typeface="Constantia"/>
              </a:rPr>
              <a:t>r</a:t>
            </a:r>
            <a:r>
              <a:rPr sz="1814" dirty="0">
                <a:solidFill>
                  <a:srgbClr val="231F20"/>
                </a:solidFill>
                <a:latin typeface="Constantia"/>
                <a:cs typeface="Constantia"/>
              </a:rPr>
              <a:t>l</a:t>
            </a:r>
            <a:r>
              <a:rPr sz="1814" spc="-5" dirty="0">
                <a:solidFill>
                  <a:srgbClr val="231F20"/>
                </a:solidFill>
                <a:latin typeface="Constantia"/>
                <a:cs typeface="Constantia"/>
              </a:rPr>
              <a:t>ar</a:t>
            </a:r>
            <a:endParaRPr sz="1814">
              <a:latin typeface="Constantia"/>
              <a:cs typeface="Constantia"/>
            </a:endParaRPr>
          </a:p>
        </p:txBody>
      </p:sp>
      <p:sp>
        <p:nvSpPr>
          <p:cNvPr id="32" name="object 32"/>
          <p:cNvSpPr txBox="1"/>
          <p:nvPr/>
        </p:nvSpPr>
        <p:spPr>
          <a:xfrm>
            <a:off x="2436890" y="2927006"/>
            <a:ext cx="2699438" cy="888833"/>
          </a:xfrm>
          <a:prstGeom prst="rect">
            <a:avLst/>
          </a:prstGeom>
        </p:spPr>
        <p:txBody>
          <a:bodyPr vert="horz" wrap="square" lIns="0" tIns="0" rIns="0" bIns="0" rtlCol="0">
            <a:spAutoFit/>
          </a:bodyPr>
          <a:lstStyle/>
          <a:p>
            <a:pPr marL="258542"/>
            <a:r>
              <a:rPr sz="1814" spc="-27" dirty="0">
                <a:solidFill>
                  <a:srgbClr val="231F20"/>
                </a:solidFill>
                <a:latin typeface="Constantia"/>
                <a:cs typeface="Constantia"/>
              </a:rPr>
              <a:t>yayınlayacaklardır.</a:t>
            </a:r>
            <a:endParaRPr sz="1814">
              <a:latin typeface="Constantia"/>
              <a:cs typeface="Constantia"/>
            </a:endParaRPr>
          </a:p>
          <a:p>
            <a:pPr marL="258542" indent="-247026">
              <a:spcBef>
                <a:spcPts val="435"/>
              </a:spcBef>
              <a:buClr>
                <a:srgbClr val="33C0CD"/>
              </a:buClr>
              <a:buSzPct val="95000"/>
              <a:buFont typeface="Arial"/>
              <a:buChar char="•"/>
              <a:tabLst>
                <a:tab pos="258542" algn="l"/>
                <a:tab pos="259118" algn="l"/>
                <a:tab pos="1753942" algn="l"/>
              </a:tabLst>
            </a:pPr>
            <a:r>
              <a:rPr sz="1814" spc="-18" dirty="0">
                <a:solidFill>
                  <a:srgbClr val="231F20"/>
                </a:solidFill>
                <a:latin typeface="Constantia"/>
                <a:cs typeface="Constantia"/>
              </a:rPr>
              <a:t>Mühendisler,	</a:t>
            </a:r>
            <a:r>
              <a:rPr sz="1814" spc="-5" dirty="0">
                <a:solidFill>
                  <a:srgbClr val="231F20"/>
                </a:solidFill>
                <a:latin typeface="Constantia"/>
                <a:cs typeface="Constantia"/>
              </a:rPr>
              <a:t>mesleki</a:t>
            </a:r>
            <a:endParaRPr sz="1814">
              <a:latin typeface="Constantia"/>
              <a:cs typeface="Constantia"/>
            </a:endParaRPr>
          </a:p>
          <a:p>
            <a:pPr marL="258542">
              <a:tabLst>
                <a:tab pos="1364113" algn="l"/>
                <a:tab pos="2069490" algn="l"/>
              </a:tabLst>
            </a:pPr>
            <a:r>
              <a:rPr sz="1814" spc="-5" dirty="0">
                <a:solidFill>
                  <a:srgbClr val="231F20"/>
                </a:solidFill>
                <a:latin typeface="Constantia"/>
                <a:cs typeface="Constantia"/>
              </a:rPr>
              <a:t>g</a:t>
            </a:r>
            <a:r>
              <a:rPr sz="1814" spc="-23" dirty="0">
                <a:solidFill>
                  <a:srgbClr val="231F20"/>
                </a:solidFill>
                <a:latin typeface="Constantia"/>
                <a:cs typeface="Constantia"/>
              </a:rPr>
              <a:t>ü</a:t>
            </a:r>
            <a:r>
              <a:rPr sz="1814" spc="-41" dirty="0">
                <a:solidFill>
                  <a:srgbClr val="231F20"/>
                </a:solidFill>
                <a:latin typeface="Constantia"/>
                <a:cs typeface="Constantia"/>
              </a:rPr>
              <a:t>v</a:t>
            </a:r>
            <a:r>
              <a:rPr sz="1814" spc="-5" dirty="0">
                <a:solidFill>
                  <a:srgbClr val="231F20"/>
                </a:solidFill>
                <a:latin typeface="Constantia"/>
                <a:cs typeface="Constantia"/>
              </a:rPr>
              <a:t>en</a:t>
            </a:r>
            <a:r>
              <a:rPr sz="1814" spc="-18" dirty="0">
                <a:solidFill>
                  <a:srgbClr val="231F20"/>
                </a:solidFill>
                <a:latin typeface="Constantia"/>
                <a:cs typeface="Constantia"/>
              </a:rPr>
              <a:t>i</a:t>
            </a:r>
            <a:r>
              <a:rPr sz="1814" spc="-5" dirty="0">
                <a:solidFill>
                  <a:srgbClr val="231F20"/>
                </a:solidFill>
                <a:latin typeface="Constantia"/>
                <a:cs typeface="Constantia"/>
              </a:rPr>
              <a:t>li</a:t>
            </a:r>
            <a:r>
              <a:rPr sz="1814" dirty="0">
                <a:solidFill>
                  <a:srgbClr val="231F20"/>
                </a:solidFill>
                <a:latin typeface="Constantia"/>
                <a:cs typeface="Constantia"/>
              </a:rPr>
              <a:t>r	</a:t>
            </a:r>
            <a:r>
              <a:rPr sz="1814" spc="-41" dirty="0">
                <a:solidFill>
                  <a:srgbClr val="231F20"/>
                </a:solidFill>
                <a:latin typeface="Constantia"/>
                <a:cs typeface="Constantia"/>
              </a:rPr>
              <a:t>v</a:t>
            </a:r>
            <a:r>
              <a:rPr sz="1814" spc="-14" dirty="0">
                <a:solidFill>
                  <a:srgbClr val="231F20"/>
                </a:solidFill>
                <a:latin typeface="Constantia"/>
                <a:cs typeface="Constantia"/>
              </a:rPr>
              <a:t>e</a:t>
            </a:r>
            <a:r>
              <a:rPr sz="1814" dirty="0">
                <a:solidFill>
                  <a:srgbClr val="231F20"/>
                </a:solidFill>
                <a:latin typeface="Constantia"/>
                <a:cs typeface="Constantia"/>
              </a:rPr>
              <a:t>kil	ola</a:t>
            </a:r>
            <a:r>
              <a:rPr sz="1814" spc="-41" dirty="0">
                <a:solidFill>
                  <a:srgbClr val="231F20"/>
                </a:solidFill>
                <a:latin typeface="Constantia"/>
                <a:cs typeface="Constantia"/>
              </a:rPr>
              <a:t>r</a:t>
            </a:r>
            <a:r>
              <a:rPr sz="1814" spc="-5" dirty="0">
                <a:solidFill>
                  <a:srgbClr val="231F20"/>
                </a:solidFill>
                <a:latin typeface="Constantia"/>
                <a:cs typeface="Constantia"/>
              </a:rPr>
              <a:t>ak</a:t>
            </a:r>
            <a:endParaRPr sz="1814">
              <a:latin typeface="Constantia"/>
              <a:cs typeface="Constantia"/>
            </a:endParaRPr>
          </a:p>
        </p:txBody>
      </p:sp>
      <p:sp>
        <p:nvSpPr>
          <p:cNvPr id="33" name="object 33"/>
          <p:cNvSpPr txBox="1"/>
          <p:nvPr/>
        </p:nvSpPr>
        <p:spPr>
          <a:xfrm>
            <a:off x="5136872" y="3258909"/>
            <a:ext cx="4624975" cy="558358"/>
          </a:xfrm>
          <a:prstGeom prst="rect">
            <a:avLst/>
          </a:prstGeom>
        </p:spPr>
        <p:txBody>
          <a:bodyPr vert="horz" wrap="square" lIns="0" tIns="0" rIns="0" bIns="0" rtlCol="0">
            <a:spAutoFit/>
          </a:bodyPr>
          <a:lstStyle/>
          <a:p>
            <a:pPr marL="11516">
              <a:tabLst>
                <a:tab pos="1270255" algn="l"/>
                <a:tab pos="1781005" algn="l"/>
                <a:tab pos="2669492" algn="l"/>
                <a:tab pos="3287921" algn="l"/>
                <a:tab pos="4243203" algn="l"/>
              </a:tabLst>
            </a:pPr>
            <a:r>
              <a:rPr sz="1814" spc="-41" dirty="0">
                <a:solidFill>
                  <a:srgbClr val="231F20"/>
                </a:solidFill>
                <a:latin typeface="Constantia"/>
                <a:cs typeface="Constantia"/>
              </a:rPr>
              <a:t>k</a:t>
            </a:r>
            <a:r>
              <a:rPr sz="1814" spc="-18" dirty="0">
                <a:solidFill>
                  <a:srgbClr val="231F20"/>
                </a:solidFill>
                <a:latin typeface="Constantia"/>
                <a:cs typeface="Constantia"/>
              </a:rPr>
              <a:t>o</a:t>
            </a:r>
            <a:r>
              <a:rPr sz="1814" spc="-5" dirty="0">
                <a:solidFill>
                  <a:srgbClr val="231F20"/>
                </a:solidFill>
                <a:latin typeface="Constantia"/>
                <a:cs typeface="Constantia"/>
              </a:rPr>
              <a:t>nula</a:t>
            </a:r>
            <a:r>
              <a:rPr sz="1814" spc="-27" dirty="0">
                <a:solidFill>
                  <a:srgbClr val="231F20"/>
                </a:solidFill>
                <a:latin typeface="Constantia"/>
                <a:cs typeface="Constantia"/>
              </a:rPr>
              <a:t>r</a:t>
            </a:r>
            <a:r>
              <a:rPr sz="1814" spc="-5" dirty="0">
                <a:solidFill>
                  <a:srgbClr val="231F20"/>
                </a:solidFill>
                <a:latin typeface="Constantia"/>
                <a:cs typeface="Constantia"/>
              </a:rPr>
              <a:t>da</a:t>
            </a:r>
            <a:r>
              <a:rPr sz="1814" dirty="0">
                <a:solidFill>
                  <a:srgbClr val="231F20"/>
                </a:solidFill>
                <a:latin typeface="Constantia"/>
                <a:cs typeface="Constantia"/>
              </a:rPr>
              <a:t>,	</a:t>
            </a:r>
            <a:r>
              <a:rPr sz="1814" spc="-5" dirty="0">
                <a:solidFill>
                  <a:srgbClr val="231F20"/>
                </a:solidFill>
                <a:latin typeface="Constantia"/>
                <a:cs typeface="Constantia"/>
              </a:rPr>
              <a:t>he</a:t>
            </a:r>
            <a:r>
              <a:rPr sz="1814" dirty="0">
                <a:solidFill>
                  <a:srgbClr val="231F20"/>
                </a:solidFill>
                <a:latin typeface="Constantia"/>
                <a:cs typeface="Constantia"/>
              </a:rPr>
              <a:t>r	iş</a:t>
            </a:r>
            <a:r>
              <a:rPr sz="1814" spc="-45" dirty="0">
                <a:solidFill>
                  <a:srgbClr val="231F20"/>
                </a:solidFill>
                <a:latin typeface="Constantia"/>
                <a:cs typeface="Constantia"/>
              </a:rPr>
              <a:t>v</a:t>
            </a:r>
            <a:r>
              <a:rPr sz="1814" spc="-14" dirty="0">
                <a:solidFill>
                  <a:srgbClr val="231F20"/>
                </a:solidFill>
                <a:latin typeface="Constantia"/>
                <a:cs typeface="Constantia"/>
              </a:rPr>
              <a:t>e</a:t>
            </a:r>
            <a:r>
              <a:rPr sz="1814" spc="-27" dirty="0">
                <a:solidFill>
                  <a:srgbClr val="231F20"/>
                </a:solidFill>
                <a:latin typeface="Constantia"/>
                <a:cs typeface="Constantia"/>
              </a:rPr>
              <a:t>r</a:t>
            </a:r>
            <a:r>
              <a:rPr sz="1814" dirty="0">
                <a:solidFill>
                  <a:srgbClr val="231F20"/>
                </a:solidFill>
                <a:latin typeface="Constantia"/>
                <a:cs typeface="Constantia"/>
              </a:rPr>
              <a:t>en	</a:t>
            </a:r>
            <a:r>
              <a:rPr sz="1814" spc="-41" dirty="0">
                <a:solidFill>
                  <a:srgbClr val="231F20"/>
                </a:solidFill>
                <a:latin typeface="Constantia"/>
                <a:cs typeface="Constantia"/>
              </a:rPr>
              <a:t>v</a:t>
            </a:r>
            <a:r>
              <a:rPr sz="1814" dirty="0">
                <a:solidFill>
                  <a:srgbClr val="231F20"/>
                </a:solidFill>
                <a:latin typeface="Constantia"/>
                <a:cs typeface="Constantia"/>
              </a:rPr>
              <a:t>e</a:t>
            </a:r>
            <a:r>
              <a:rPr sz="1814" spc="-27" dirty="0">
                <a:solidFill>
                  <a:srgbClr val="231F20"/>
                </a:solidFill>
                <a:latin typeface="Constantia"/>
                <a:cs typeface="Constantia"/>
              </a:rPr>
              <a:t>y</a:t>
            </a:r>
            <a:r>
              <a:rPr sz="1814" dirty="0">
                <a:solidFill>
                  <a:srgbClr val="231F20"/>
                </a:solidFill>
                <a:latin typeface="Constantia"/>
                <a:cs typeface="Constantia"/>
              </a:rPr>
              <a:t>a	mü</a:t>
            </a:r>
            <a:r>
              <a:rPr sz="1814" spc="-9" dirty="0">
                <a:solidFill>
                  <a:srgbClr val="231F20"/>
                </a:solidFill>
                <a:latin typeface="Constantia"/>
                <a:cs typeface="Constantia"/>
              </a:rPr>
              <a:t>ş</a:t>
            </a:r>
            <a:r>
              <a:rPr sz="1814" spc="-23" dirty="0">
                <a:solidFill>
                  <a:srgbClr val="231F20"/>
                </a:solidFill>
                <a:latin typeface="Constantia"/>
                <a:cs typeface="Constantia"/>
              </a:rPr>
              <a:t>t</a:t>
            </a:r>
            <a:r>
              <a:rPr sz="1814" dirty="0">
                <a:solidFill>
                  <a:srgbClr val="231F20"/>
                </a:solidFill>
                <a:latin typeface="Constantia"/>
                <a:cs typeface="Constantia"/>
              </a:rPr>
              <a:t>e</a:t>
            </a:r>
            <a:r>
              <a:rPr sz="1814" spc="-5" dirty="0">
                <a:solidFill>
                  <a:srgbClr val="231F20"/>
                </a:solidFill>
                <a:latin typeface="Constantia"/>
                <a:cs typeface="Constantia"/>
              </a:rPr>
              <a:t>r</a:t>
            </a:r>
            <a:r>
              <a:rPr sz="1814" dirty="0">
                <a:solidFill>
                  <a:srgbClr val="231F20"/>
                </a:solidFill>
                <a:latin typeface="Constantia"/>
                <a:cs typeface="Constantia"/>
              </a:rPr>
              <a:t>i	</a:t>
            </a:r>
            <a:r>
              <a:rPr sz="1814" spc="-23" dirty="0">
                <a:solidFill>
                  <a:srgbClr val="231F20"/>
                </a:solidFill>
                <a:latin typeface="Constantia"/>
                <a:cs typeface="Constantia"/>
              </a:rPr>
              <a:t>i</a:t>
            </a:r>
            <a:r>
              <a:rPr sz="1814" spc="-5" dirty="0">
                <a:solidFill>
                  <a:srgbClr val="231F20"/>
                </a:solidFill>
                <a:latin typeface="Constantia"/>
                <a:cs typeface="Constantia"/>
              </a:rPr>
              <a:t>çi</a:t>
            </a:r>
            <a:r>
              <a:rPr sz="1814" dirty="0">
                <a:solidFill>
                  <a:srgbClr val="231F20"/>
                </a:solidFill>
                <a:latin typeface="Constantia"/>
                <a:cs typeface="Constantia"/>
              </a:rPr>
              <a:t>n</a:t>
            </a:r>
            <a:endParaRPr sz="1814">
              <a:latin typeface="Constantia"/>
              <a:cs typeface="Constantia"/>
            </a:endParaRPr>
          </a:p>
          <a:p>
            <a:pPr marL="219387">
              <a:tabLst>
                <a:tab pos="1838011" algn="l"/>
                <a:tab pos="2285997" algn="l"/>
                <a:tab pos="3006346" algn="l"/>
              </a:tabLst>
            </a:pPr>
            <a:r>
              <a:rPr sz="1814" spc="-9" dirty="0">
                <a:solidFill>
                  <a:srgbClr val="231F20"/>
                </a:solidFill>
                <a:latin typeface="Constantia"/>
                <a:cs typeface="Constantia"/>
              </a:rPr>
              <a:t>davranacaklar	</a:t>
            </a:r>
            <a:r>
              <a:rPr sz="1814" spc="-23" dirty="0">
                <a:solidFill>
                  <a:srgbClr val="231F20"/>
                </a:solidFill>
                <a:latin typeface="Constantia"/>
                <a:cs typeface="Constantia"/>
              </a:rPr>
              <a:t>ve	</a:t>
            </a:r>
            <a:r>
              <a:rPr sz="1814" spc="-5" dirty="0">
                <a:solidFill>
                  <a:srgbClr val="231F20"/>
                </a:solidFill>
                <a:latin typeface="Constantia"/>
                <a:cs typeface="Constantia"/>
              </a:rPr>
              <a:t>çıkar	çatışmalarından</a:t>
            </a:r>
            <a:endParaRPr sz="1814">
              <a:latin typeface="Constantia"/>
              <a:cs typeface="Constantia"/>
            </a:endParaRPr>
          </a:p>
        </p:txBody>
      </p:sp>
      <p:sp>
        <p:nvSpPr>
          <p:cNvPr id="34" name="object 34"/>
          <p:cNvSpPr txBox="1"/>
          <p:nvPr/>
        </p:nvSpPr>
        <p:spPr>
          <a:xfrm>
            <a:off x="2436890" y="3811696"/>
            <a:ext cx="7326141" cy="2387320"/>
          </a:xfrm>
          <a:prstGeom prst="rect">
            <a:avLst/>
          </a:prstGeom>
        </p:spPr>
        <p:txBody>
          <a:bodyPr vert="horz" wrap="square" lIns="0" tIns="0" rIns="0" bIns="0" rtlCol="0">
            <a:spAutoFit/>
          </a:bodyPr>
          <a:lstStyle/>
          <a:p>
            <a:pPr marL="258542"/>
            <a:r>
              <a:rPr sz="1814" spc="-27" dirty="0">
                <a:solidFill>
                  <a:srgbClr val="231F20"/>
                </a:solidFill>
                <a:latin typeface="Constantia"/>
                <a:cs typeface="Constantia"/>
              </a:rPr>
              <a:t>kaçınacaklardır.</a:t>
            </a:r>
            <a:endParaRPr sz="1814" dirty="0">
              <a:latin typeface="Constantia"/>
              <a:cs typeface="Constantia"/>
            </a:endParaRPr>
          </a:p>
          <a:p>
            <a:pPr marL="258542" indent="-247026">
              <a:spcBef>
                <a:spcPts val="435"/>
              </a:spcBef>
              <a:buClr>
                <a:srgbClr val="33C0CD"/>
              </a:buClr>
              <a:buSzPct val="95000"/>
              <a:buFont typeface="Arial"/>
              <a:buChar char="•"/>
              <a:tabLst>
                <a:tab pos="258542" algn="l"/>
                <a:tab pos="259118" algn="l"/>
              </a:tabLst>
            </a:pPr>
            <a:r>
              <a:rPr sz="1814" spc="-18" dirty="0">
                <a:solidFill>
                  <a:srgbClr val="231F20"/>
                </a:solidFill>
                <a:latin typeface="Constantia"/>
                <a:cs typeface="Constantia"/>
              </a:rPr>
              <a:t>Mühendisler,  </a:t>
            </a:r>
            <a:r>
              <a:rPr sz="1814" spc="-5" dirty="0">
                <a:solidFill>
                  <a:srgbClr val="231F20"/>
                </a:solidFill>
                <a:latin typeface="Constantia"/>
                <a:cs typeface="Constantia"/>
              </a:rPr>
              <a:t>hizmetlerinin  </a:t>
            </a:r>
            <a:r>
              <a:rPr sz="1814" spc="-14" dirty="0">
                <a:solidFill>
                  <a:srgbClr val="231F20"/>
                </a:solidFill>
                <a:latin typeface="Constantia"/>
                <a:cs typeface="Constantia"/>
              </a:rPr>
              <a:t>geçerliliği  </a:t>
            </a:r>
            <a:r>
              <a:rPr sz="1814" spc="-9" dirty="0">
                <a:solidFill>
                  <a:srgbClr val="231F20"/>
                </a:solidFill>
                <a:latin typeface="Constantia"/>
                <a:cs typeface="Constantia"/>
              </a:rPr>
              <a:t>konusunda  </a:t>
            </a:r>
            <a:r>
              <a:rPr sz="1814" spc="-5" dirty="0">
                <a:solidFill>
                  <a:srgbClr val="231F20"/>
                </a:solidFill>
                <a:latin typeface="Constantia"/>
                <a:cs typeface="Constantia"/>
              </a:rPr>
              <a:t>mesleki</a:t>
            </a:r>
            <a:r>
              <a:rPr sz="1814" spc="-168" dirty="0">
                <a:solidFill>
                  <a:srgbClr val="231F20"/>
                </a:solidFill>
                <a:latin typeface="Constantia"/>
                <a:cs typeface="Constantia"/>
              </a:rPr>
              <a:t> </a:t>
            </a:r>
            <a:r>
              <a:rPr sz="1814" spc="-5" dirty="0">
                <a:solidFill>
                  <a:srgbClr val="231F20"/>
                </a:solidFill>
                <a:latin typeface="Constantia"/>
                <a:cs typeface="Constantia"/>
              </a:rPr>
              <a:t>itibarlarını</a:t>
            </a:r>
            <a:endParaRPr sz="1814" dirty="0">
              <a:latin typeface="Constantia"/>
              <a:cs typeface="Constantia"/>
            </a:endParaRPr>
          </a:p>
          <a:p>
            <a:pPr marL="258542"/>
            <a:r>
              <a:rPr sz="1814" spc="-14" dirty="0">
                <a:solidFill>
                  <a:srgbClr val="231F20"/>
                </a:solidFill>
                <a:latin typeface="Constantia"/>
                <a:cs typeface="Constantia"/>
              </a:rPr>
              <a:t>koruyacak </a:t>
            </a:r>
            <a:r>
              <a:rPr sz="1814" spc="-18" dirty="0">
                <a:solidFill>
                  <a:srgbClr val="231F20"/>
                </a:solidFill>
                <a:latin typeface="Constantia"/>
                <a:cs typeface="Constantia"/>
              </a:rPr>
              <a:t>ve </a:t>
            </a:r>
            <a:r>
              <a:rPr sz="1814" spc="-14" dirty="0">
                <a:solidFill>
                  <a:srgbClr val="231F20"/>
                </a:solidFill>
                <a:latin typeface="Constantia"/>
                <a:cs typeface="Constantia"/>
              </a:rPr>
              <a:t>diğerleriyle </a:t>
            </a:r>
            <a:r>
              <a:rPr sz="1814" spc="-5" dirty="0">
                <a:solidFill>
                  <a:srgbClr val="231F20"/>
                </a:solidFill>
                <a:latin typeface="Constantia"/>
                <a:cs typeface="Constantia"/>
              </a:rPr>
              <a:t>haksız </a:t>
            </a:r>
            <a:r>
              <a:rPr sz="1814" spc="-9" dirty="0">
                <a:solidFill>
                  <a:srgbClr val="231F20"/>
                </a:solidFill>
                <a:latin typeface="Constantia"/>
                <a:cs typeface="Constantia"/>
              </a:rPr>
              <a:t>rekabete</a:t>
            </a:r>
            <a:r>
              <a:rPr sz="1814" spc="-249" dirty="0">
                <a:solidFill>
                  <a:srgbClr val="231F20"/>
                </a:solidFill>
                <a:latin typeface="Constantia"/>
                <a:cs typeface="Constantia"/>
              </a:rPr>
              <a:t> </a:t>
            </a:r>
            <a:r>
              <a:rPr sz="1814" spc="-18" dirty="0">
                <a:solidFill>
                  <a:srgbClr val="231F20"/>
                </a:solidFill>
                <a:latin typeface="Constantia"/>
                <a:cs typeface="Constantia"/>
              </a:rPr>
              <a:t>girmeyeceklerdir.</a:t>
            </a:r>
            <a:endParaRPr sz="1814" dirty="0">
              <a:latin typeface="Constantia"/>
              <a:cs typeface="Constantia"/>
            </a:endParaRPr>
          </a:p>
          <a:p>
            <a:pPr marL="258542" marR="4607" indent="-247026" algn="just">
              <a:spcBef>
                <a:spcPts val="431"/>
              </a:spcBef>
              <a:buClr>
                <a:srgbClr val="33C0CD"/>
              </a:buClr>
              <a:buSzPct val="95000"/>
              <a:buFont typeface="Arial"/>
              <a:buChar char="•"/>
              <a:tabLst>
                <a:tab pos="259118" algn="l"/>
              </a:tabLst>
            </a:pPr>
            <a:r>
              <a:rPr sz="1814" spc="-18" dirty="0">
                <a:solidFill>
                  <a:srgbClr val="231F20"/>
                </a:solidFill>
                <a:latin typeface="Constantia"/>
                <a:cs typeface="Constantia"/>
              </a:rPr>
              <a:t>Mühendisler, </a:t>
            </a:r>
            <a:r>
              <a:rPr sz="1814" spc="-5" dirty="0">
                <a:solidFill>
                  <a:srgbClr val="231F20"/>
                </a:solidFill>
                <a:latin typeface="Constantia"/>
                <a:cs typeface="Constantia"/>
              </a:rPr>
              <a:t>mesleki doğruluğunu, onurunu </a:t>
            </a:r>
            <a:r>
              <a:rPr sz="1814" spc="-23" dirty="0">
                <a:solidFill>
                  <a:srgbClr val="231F20"/>
                </a:solidFill>
                <a:latin typeface="Constantia"/>
                <a:cs typeface="Constantia"/>
              </a:rPr>
              <a:t>ve </a:t>
            </a:r>
            <a:r>
              <a:rPr sz="1814" spc="-9" dirty="0">
                <a:solidFill>
                  <a:srgbClr val="231F20"/>
                </a:solidFill>
                <a:latin typeface="Constantia"/>
                <a:cs typeface="Constantia"/>
              </a:rPr>
              <a:t>değerini yüceltmek </a:t>
            </a:r>
            <a:r>
              <a:rPr sz="1814" spc="-23" dirty="0">
                <a:solidFill>
                  <a:srgbClr val="231F20"/>
                </a:solidFill>
                <a:latin typeface="Constantia"/>
                <a:cs typeface="Constantia"/>
              </a:rPr>
              <a:t>ve  </a:t>
            </a:r>
            <a:r>
              <a:rPr sz="1814" spc="-9" dirty="0">
                <a:solidFill>
                  <a:srgbClr val="231F20"/>
                </a:solidFill>
                <a:latin typeface="Constantia"/>
                <a:cs typeface="Constantia"/>
              </a:rPr>
              <a:t>geliştirmek </a:t>
            </a:r>
            <a:r>
              <a:rPr sz="1814" spc="-5" dirty="0">
                <a:solidFill>
                  <a:srgbClr val="231F20"/>
                </a:solidFill>
                <a:latin typeface="Constantia"/>
                <a:cs typeface="Constantia"/>
              </a:rPr>
              <a:t>için</a:t>
            </a:r>
            <a:r>
              <a:rPr sz="1814" spc="-77" dirty="0">
                <a:solidFill>
                  <a:srgbClr val="231F20"/>
                </a:solidFill>
                <a:latin typeface="Constantia"/>
                <a:cs typeface="Constantia"/>
              </a:rPr>
              <a:t> </a:t>
            </a:r>
            <a:r>
              <a:rPr sz="1814" spc="-27" dirty="0">
                <a:solidFill>
                  <a:srgbClr val="231F20"/>
                </a:solidFill>
                <a:latin typeface="Constantia"/>
                <a:cs typeface="Constantia"/>
              </a:rPr>
              <a:t>çalışacaklardır.</a:t>
            </a:r>
            <a:endParaRPr sz="1814" dirty="0">
              <a:latin typeface="Constantia"/>
              <a:cs typeface="Constantia"/>
            </a:endParaRPr>
          </a:p>
          <a:p>
            <a:pPr marL="258542" marR="7486" indent="-247026" algn="just">
              <a:spcBef>
                <a:spcPts val="431"/>
              </a:spcBef>
              <a:buClr>
                <a:srgbClr val="33C0CD"/>
              </a:buClr>
              <a:buSzPct val="95000"/>
              <a:buFont typeface="Arial"/>
              <a:buChar char="•"/>
              <a:tabLst>
                <a:tab pos="259118" algn="l"/>
              </a:tabLst>
            </a:pPr>
            <a:r>
              <a:rPr sz="1814" spc="-18" dirty="0">
                <a:solidFill>
                  <a:srgbClr val="231F20"/>
                </a:solidFill>
                <a:latin typeface="Constantia"/>
                <a:cs typeface="Constantia"/>
              </a:rPr>
              <a:t>Mühendisler, </a:t>
            </a:r>
            <a:r>
              <a:rPr sz="1814" spc="-5" dirty="0">
                <a:solidFill>
                  <a:srgbClr val="231F20"/>
                </a:solidFill>
                <a:latin typeface="Constantia"/>
                <a:cs typeface="Constantia"/>
              </a:rPr>
              <a:t>mesleki </a:t>
            </a:r>
            <a:r>
              <a:rPr sz="1814" spc="-9" dirty="0">
                <a:solidFill>
                  <a:srgbClr val="231F20"/>
                </a:solidFill>
                <a:latin typeface="Constantia"/>
                <a:cs typeface="Constantia"/>
              </a:rPr>
              <a:t>gelişmelerini </a:t>
            </a:r>
            <a:r>
              <a:rPr sz="1814" spc="-14" dirty="0">
                <a:solidFill>
                  <a:srgbClr val="231F20"/>
                </a:solidFill>
                <a:latin typeface="Constantia"/>
                <a:cs typeface="Constantia"/>
              </a:rPr>
              <a:t>kendi kariyerleriyle </a:t>
            </a:r>
            <a:r>
              <a:rPr sz="1814" spc="-5" dirty="0">
                <a:solidFill>
                  <a:srgbClr val="231F20"/>
                </a:solidFill>
                <a:latin typeface="Constantia"/>
                <a:cs typeface="Constantia"/>
              </a:rPr>
              <a:t>devam  </a:t>
            </a:r>
            <a:r>
              <a:rPr sz="1814" spc="-9" dirty="0">
                <a:solidFill>
                  <a:srgbClr val="231F20"/>
                </a:solidFill>
                <a:latin typeface="Constantia"/>
                <a:cs typeface="Constantia"/>
              </a:rPr>
              <a:t>ettirecekler </a:t>
            </a:r>
            <a:r>
              <a:rPr sz="1814" spc="-27" dirty="0">
                <a:solidFill>
                  <a:srgbClr val="231F20"/>
                </a:solidFill>
                <a:latin typeface="Constantia"/>
                <a:cs typeface="Constantia"/>
              </a:rPr>
              <a:t>ve </a:t>
            </a:r>
            <a:r>
              <a:rPr sz="1814" spc="-9" dirty="0">
                <a:solidFill>
                  <a:srgbClr val="231F20"/>
                </a:solidFill>
                <a:latin typeface="Constantia"/>
                <a:cs typeface="Constantia"/>
              </a:rPr>
              <a:t>kendi kontrolleri </a:t>
            </a:r>
            <a:r>
              <a:rPr sz="1814" spc="-5" dirty="0">
                <a:solidFill>
                  <a:srgbClr val="231F20"/>
                </a:solidFill>
                <a:latin typeface="Constantia"/>
                <a:cs typeface="Constantia"/>
              </a:rPr>
              <a:t>altındaki mühendislerin mesleki  </a:t>
            </a:r>
            <a:r>
              <a:rPr sz="1814" spc="-9" dirty="0">
                <a:solidFill>
                  <a:srgbClr val="231F20"/>
                </a:solidFill>
                <a:latin typeface="Constantia"/>
                <a:cs typeface="Constantia"/>
              </a:rPr>
              <a:t>gelişmeleri </a:t>
            </a:r>
            <a:r>
              <a:rPr sz="1814" spc="-5" dirty="0">
                <a:solidFill>
                  <a:srgbClr val="231F20"/>
                </a:solidFill>
                <a:latin typeface="Constantia"/>
                <a:cs typeface="Constantia"/>
              </a:rPr>
              <a:t>için </a:t>
            </a:r>
            <a:r>
              <a:rPr sz="1814" dirty="0">
                <a:solidFill>
                  <a:srgbClr val="231F20"/>
                </a:solidFill>
                <a:latin typeface="Constantia"/>
                <a:cs typeface="Constantia"/>
              </a:rPr>
              <a:t>olanak</a:t>
            </a:r>
            <a:r>
              <a:rPr sz="1814" spc="-150" dirty="0">
                <a:solidFill>
                  <a:srgbClr val="231F20"/>
                </a:solidFill>
                <a:latin typeface="Constantia"/>
                <a:cs typeface="Constantia"/>
              </a:rPr>
              <a:t> </a:t>
            </a:r>
            <a:r>
              <a:rPr sz="1814" spc="-27" dirty="0">
                <a:solidFill>
                  <a:srgbClr val="231F20"/>
                </a:solidFill>
                <a:latin typeface="Constantia"/>
                <a:cs typeface="Constantia"/>
              </a:rPr>
              <a:t>sağlayacaklardır.</a:t>
            </a:r>
            <a:endParaRPr sz="1814" dirty="0">
              <a:latin typeface="Constantia"/>
              <a:cs typeface="Constantia"/>
            </a:endParaRPr>
          </a:p>
        </p:txBody>
      </p:sp>
    </p:spTree>
    <p:extLst>
      <p:ext uri="{BB962C8B-B14F-4D97-AF65-F5344CB8AC3E}">
        <p14:creationId xmlns:p14="http://schemas.microsoft.com/office/powerpoint/2010/main" val="32108342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311664" y="1322228"/>
            <a:ext cx="3027495" cy="369332"/>
          </a:xfrm>
          <a:prstGeom prst="rect">
            <a:avLst/>
          </a:prstGeom>
        </p:spPr>
        <p:txBody>
          <a:bodyPr wrap="none">
            <a:spAutoFit/>
          </a:bodyPr>
          <a:lstStyle/>
          <a:p>
            <a:pPr algn="ctr">
              <a:spcAft>
                <a:spcPts val="0"/>
              </a:spcAft>
            </a:pPr>
            <a:r>
              <a:rPr lang="tr-TR" b="1" dirty="0">
                <a:solidFill>
                  <a:srgbClr val="FF0000"/>
                </a:solidFill>
                <a:latin typeface="Times New Roman" panose="02020603050405020304" pitchFamily="18" charset="0"/>
                <a:ea typeface="Times New Roman" panose="02020603050405020304" pitchFamily="18" charset="0"/>
              </a:rPr>
              <a:t>ETİK DIŞI DAVRANIŞLAR</a:t>
            </a:r>
            <a:endParaRPr lang="tr-TR" sz="1200" dirty="0">
              <a:solidFill>
                <a:srgbClr val="FF0000"/>
              </a:solidFill>
              <a:effectLst/>
              <a:latin typeface="Times New Roman" panose="02020603050405020304" pitchFamily="18" charset="0"/>
              <a:ea typeface="Times New Roman" panose="02020603050405020304" pitchFamily="18" charset="0"/>
            </a:endParaRPr>
          </a:p>
        </p:txBody>
      </p:sp>
      <p:sp>
        <p:nvSpPr>
          <p:cNvPr id="3" name="Dikdörtgen 2"/>
          <p:cNvSpPr/>
          <p:nvPr/>
        </p:nvSpPr>
        <p:spPr>
          <a:xfrm>
            <a:off x="1455576" y="1882952"/>
            <a:ext cx="7875036" cy="1569660"/>
          </a:xfrm>
          <a:prstGeom prst="rect">
            <a:avLst/>
          </a:prstGeom>
        </p:spPr>
        <p:txBody>
          <a:bodyPr wrap="square">
            <a:spAutoFit/>
          </a:bodyPr>
          <a:lstStyle/>
          <a:p>
            <a:pPr algn="just">
              <a:spcAft>
                <a:spcPts val="0"/>
              </a:spcAft>
            </a:pPr>
            <a:r>
              <a:rPr lang="tr-TR" b="1" dirty="0">
                <a:latin typeface="Times New Roman" panose="02020603050405020304" pitchFamily="18" charset="0"/>
                <a:ea typeface="Times New Roman" panose="02020603050405020304" pitchFamily="18" charset="0"/>
              </a:rPr>
              <a:t>1.Ayrımcılık:</a:t>
            </a:r>
            <a:r>
              <a:rPr lang="tr-TR" dirty="0">
                <a:latin typeface="Times New Roman" panose="02020603050405020304" pitchFamily="18" charset="0"/>
                <a:ea typeface="Times New Roman" panose="02020603050405020304" pitchFamily="18" charset="0"/>
              </a:rPr>
              <a:t> Ayrımcılık, önyargılı tutumlarla davranmaktır. Önyargı bir duygu, ayrımcılık ise eylemdir </a:t>
            </a:r>
          </a:p>
          <a:p>
            <a:pPr algn="just">
              <a:spcAft>
                <a:spcPts val="0"/>
              </a:spcAft>
            </a:pPr>
            <a:r>
              <a:rPr lang="tr-TR" dirty="0">
                <a:latin typeface="Times New Roman" panose="02020603050405020304" pitchFamily="18" charset="0"/>
                <a:ea typeface="Times New Roman" panose="02020603050405020304" pitchFamily="18" charset="0"/>
              </a:rPr>
              <a:t>Bir grup insana karşı, adaletsiz ve zarar verecek biçimdeki her türlü davranış, ayrımcılık olarak tanımlanır. </a:t>
            </a:r>
          </a:p>
          <a:p>
            <a:pPr algn="just">
              <a:spcAft>
                <a:spcPts val="0"/>
              </a:spcAft>
            </a:pPr>
            <a:endParaRPr lang="tr-TR" sz="1200" dirty="0">
              <a:effectLst/>
              <a:latin typeface="Times New Roman" panose="02020603050405020304" pitchFamily="18" charset="0"/>
              <a:ea typeface="Times New Roman" panose="02020603050405020304" pitchFamily="18" charset="0"/>
            </a:endParaRPr>
          </a:p>
          <a:p>
            <a:pPr algn="just">
              <a:spcAft>
                <a:spcPts val="0"/>
              </a:spcAft>
            </a:pPr>
            <a:endParaRPr lang="tr-TR" sz="1200" dirty="0">
              <a:effectLst/>
              <a:latin typeface="Times New Roman" panose="02020603050405020304" pitchFamily="18" charset="0"/>
              <a:ea typeface="Times New Roman" panose="02020603050405020304" pitchFamily="18" charset="0"/>
            </a:endParaRPr>
          </a:p>
        </p:txBody>
      </p:sp>
      <p:sp>
        <p:nvSpPr>
          <p:cNvPr id="4" name="Dikdörtgen 3"/>
          <p:cNvSpPr/>
          <p:nvPr/>
        </p:nvSpPr>
        <p:spPr>
          <a:xfrm>
            <a:off x="1455575" y="3172037"/>
            <a:ext cx="8276253" cy="2031325"/>
          </a:xfrm>
          <a:prstGeom prst="rect">
            <a:avLst/>
          </a:prstGeom>
        </p:spPr>
        <p:txBody>
          <a:bodyPr wrap="square">
            <a:spAutoFit/>
          </a:bodyPr>
          <a:lstStyle/>
          <a:p>
            <a:pPr algn="just">
              <a:spcAft>
                <a:spcPts val="0"/>
              </a:spcAft>
            </a:pPr>
            <a:r>
              <a:rPr lang="tr-TR" b="1" dirty="0">
                <a:latin typeface="Times New Roman" panose="02020603050405020304" pitchFamily="18" charset="0"/>
                <a:ea typeface="Times New Roman" panose="02020603050405020304" pitchFamily="18" charset="0"/>
              </a:rPr>
              <a:t>2. Kayırma: </a:t>
            </a:r>
            <a:r>
              <a:rPr lang="tr-TR" dirty="0">
                <a:latin typeface="Times New Roman" panose="02020603050405020304" pitchFamily="18" charset="0"/>
                <a:ea typeface="Times New Roman" panose="02020603050405020304" pitchFamily="18" charset="0"/>
              </a:rPr>
              <a:t>Para ya da mal gibi ekonomik güçler yerine aile-akrabalık bağları gibi maddesel olmayan etkileme araçlarının kullanılarak, kamu görevlilerinin yetkilerini bazı kişilere kamu işlemlerinde ayrıcalık sağlamak amacıyla kullanmalarına kayırma denir. </a:t>
            </a:r>
          </a:p>
          <a:p>
            <a:pPr algn="just">
              <a:spcAft>
                <a:spcPts val="0"/>
              </a:spcAft>
            </a:pPr>
            <a:r>
              <a:rPr lang="tr-TR" dirty="0">
                <a:latin typeface="Times New Roman" panose="02020603050405020304" pitchFamily="18" charset="0"/>
                <a:ea typeface="Times New Roman" panose="02020603050405020304" pitchFamily="18" charset="0"/>
              </a:rPr>
              <a:t>Burada kamu görevlisi, ruhsal-duygusal nitelikteki   geleneksel bağlılıkları ve yükümlülüklerle yakın çevresine ya da yakın çevresi veya üzerinde nüfuzu olan başkalarının etkisi ile birtakım kişilere ayrıcalıklı davranmaktadır.</a:t>
            </a:r>
            <a:endParaRPr lang="tr-TR"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3309848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828800" y="1662509"/>
            <a:ext cx="7791061" cy="923330"/>
          </a:xfrm>
          <a:prstGeom prst="rect">
            <a:avLst/>
          </a:prstGeom>
        </p:spPr>
        <p:txBody>
          <a:bodyPr wrap="square">
            <a:spAutoFit/>
          </a:bodyPr>
          <a:lstStyle/>
          <a:p>
            <a:r>
              <a:rPr lang="tr-TR" b="1" dirty="0">
                <a:latin typeface="Times New Roman" panose="02020603050405020304" pitchFamily="18" charset="0"/>
                <a:ea typeface="Times New Roman" panose="02020603050405020304" pitchFamily="18" charset="0"/>
              </a:rPr>
              <a:t>3. Rüşvet:</a:t>
            </a:r>
            <a:r>
              <a:rPr lang="tr-TR" dirty="0">
                <a:latin typeface="Times New Roman" panose="02020603050405020304" pitchFamily="18" charset="0"/>
                <a:ea typeface="Times New Roman" panose="02020603050405020304" pitchFamily="18" charset="0"/>
              </a:rPr>
              <a:t> Kamu görevlilerinin para, mal , hediye gibi birtakım maddesel çıkarlar karşılığında bunu sağlayan kişi ya da kümelere ayrıcalıklı bir kamu işlemi ile çıkar sağlaması rüşvet olarak tanımlanır. </a:t>
            </a:r>
            <a:endParaRPr lang="tr-TR" dirty="0"/>
          </a:p>
        </p:txBody>
      </p:sp>
      <p:sp>
        <p:nvSpPr>
          <p:cNvPr id="3" name="Dikdörtgen 2"/>
          <p:cNvSpPr/>
          <p:nvPr/>
        </p:nvSpPr>
        <p:spPr>
          <a:xfrm>
            <a:off x="1828799" y="2800271"/>
            <a:ext cx="8005665" cy="2308324"/>
          </a:xfrm>
          <a:prstGeom prst="rect">
            <a:avLst/>
          </a:prstGeom>
        </p:spPr>
        <p:txBody>
          <a:bodyPr wrap="square">
            <a:spAutoFit/>
          </a:bodyPr>
          <a:lstStyle/>
          <a:p>
            <a:pPr algn="just">
              <a:spcAft>
                <a:spcPts val="0"/>
              </a:spcAft>
            </a:pPr>
            <a:r>
              <a:rPr lang="tr-TR" b="1" dirty="0">
                <a:latin typeface="Times New Roman" panose="02020603050405020304" pitchFamily="18" charset="0"/>
                <a:ea typeface="Times New Roman" panose="02020603050405020304" pitchFamily="18" charset="0"/>
              </a:rPr>
              <a:t>4.</a:t>
            </a:r>
            <a:r>
              <a:rPr lang="tr-TR" dirty="0">
                <a:latin typeface="Times New Roman" panose="02020603050405020304" pitchFamily="18" charset="0"/>
                <a:ea typeface="Times New Roman" panose="02020603050405020304" pitchFamily="18" charset="0"/>
              </a:rPr>
              <a:t> </a:t>
            </a:r>
            <a:r>
              <a:rPr lang="tr-TR" b="1" dirty="0">
                <a:latin typeface="Times New Roman" panose="02020603050405020304" pitchFamily="18" charset="0"/>
                <a:ea typeface="Times New Roman" panose="02020603050405020304" pitchFamily="18" charset="0"/>
              </a:rPr>
              <a:t>Psikolojik yıldırma</a:t>
            </a:r>
            <a:r>
              <a:rPr lang="tr-TR" dirty="0">
                <a:latin typeface="Times New Roman" panose="02020603050405020304" pitchFamily="18" charset="0"/>
                <a:ea typeface="Times New Roman" panose="02020603050405020304" pitchFamily="18" charset="0"/>
              </a:rPr>
              <a:t> (</a:t>
            </a:r>
            <a:r>
              <a:rPr lang="tr-TR" b="1" dirty="0" err="1">
                <a:latin typeface="Times New Roman" panose="02020603050405020304" pitchFamily="18" charset="0"/>
                <a:ea typeface="Times New Roman" panose="02020603050405020304" pitchFamily="18" charset="0"/>
              </a:rPr>
              <a:t>Mobbing</a:t>
            </a:r>
            <a:r>
              <a:rPr lang="tr-TR" b="1" dirty="0">
                <a:latin typeface="Times New Roman" panose="02020603050405020304" pitchFamily="18" charset="0"/>
                <a:ea typeface="Times New Roman" panose="02020603050405020304" pitchFamily="18" charset="0"/>
              </a:rPr>
              <a:t>): G</a:t>
            </a:r>
            <a:r>
              <a:rPr lang="tr-TR" dirty="0">
                <a:latin typeface="Times New Roman" panose="02020603050405020304" pitchFamily="18" charset="0"/>
                <a:ea typeface="Times New Roman" panose="02020603050405020304" pitchFamily="18" charset="0"/>
              </a:rPr>
              <a:t>ücü elinde bulunduran kişinin ya da grubun, diğerlerine psikolojik yollardan, uzun süreli sistematik baskı uygulamasıdır.</a:t>
            </a:r>
            <a:r>
              <a:rPr lang="tr-TR" sz="1200" dirty="0">
                <a:latin typeface="Times New Roman" panose="02020603050405020304" pitchFamily="18" charset="0"/>
                <a:ea typeface="Times New Roman" panose="02020603050405020304" pitchFamily="18" charset="0"/>
              </a:rPr>
              <a:t> </a:t>
            </a:r>
          </a:p>
          <a:p>
            <a:pPr algn="just">
              <a:spcAft>
                <a:spcPts val="0"/>
              </a:spcAft>
            </a:pPr>
            <a:r>
              <a:rPr lang="tr-TR" dirty="0">
                <a:latin typeface="Times New Roman" panose="02020603050405020304" pitchFamily="18" charset="0"/>
                <a:ea typeface="Times New Roman" panose="02020603050405020304" pitchFamily="18" charset="0"/>
              </a:rPr>
              <a:t>Kişiyi iş yaşamından dışlamak amacıyla kasıtlı olarak yapılır. </a:t>
            </a:r>
          </a:p>
          <a:p>
            <a:pPr algn="just">
              <a:spcAft>
                <a:spcPts val="0"/>
              </a:spcAft>
            </a:pPr>
            <a:r>
              <a:rPr lang="tr-TR" dirty="0">
                <a:latin typeface="Times New Roman" panose="02020603050405020304" pitchFamily="18" charset="0"/>
                <a:ea typeface="Times New Roman" panose="02020603050405020304" pitchFamily="18" charset="0"/>
              </a:rPr>
              <a:t>Kişinin saygısız ve zararlı bir davranışın hedefi olmasıyla başlar. İma ve alayla, karşısındakinin toplumsal itibarını düşürmeye yönelik saldırgan bir ortam yaratarak kişiyi işten ayrılmaya zorlar.</a:t>
            </a:r>
          </a:p>
          <a:p>
            <a:pPr algn="just">
              <a:spcAft>
                <a:spcPts val="0"/>
              </a:spcAft>
            </a:pPr>
            <a:r>
              <a:rPr lang="tr-TR" dirty="0">
                <a:latin typeface="Times New Roman" panose="02020603050405020304" pitchFamily="18" charset="0"/>
                <a:ea typeface="Times New Roman" panose="02020603050405020304" pitchFamily="18" charset="0"/>
              </a:rPr>
              <a:t>Bu tür duygusal saldırılar, aynı düzeyde çalışanlar arasında yaşanabileceği gibi ast ve üst arasında da görülebilir.</a:t>
            </a:r>
            <a:endParaRPr lang="tr-TR"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3899148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950096" y="1839791"/>
            <a:ext cx="8136295" cy="923330"/>
          </a:xfrm>
          <a:prstGeom prst="rect">
            <a:avLst/>
          </a:prstGeom>
        </p:spPr>
        <p:txBody>
          <a:bodyPr wrap="square">
            <a:spAutoFit/>
          </a:bodyPr>
          <a:lstStyle/>
          <a:p>
            <a:r>
              <a:rPr lang="tr-TR" b="1" dirty="0">
                <a:latin typeface="Times New Roman" panose="02020603050405020304" pitchFamily="18" charset="0"/>
                <a:ea typeface="Times New Roman" panose="02020603050405020304" pitchFamily="18" charset="0"/>
              </a:rPr>
              <a:t>5. İhmal: </a:t>
            </a:r>
            <a:r>
              <a:rPr lang="tr-TR" dirty="0">
                <a:latin typeface="Times New Roman" panose="02020603050405020304" pitchFamily="18" charset="0"/>
                <a:ea typeface="Times New Roman" panose="02020603050405020304" pitchFamily="18" charset="0"/>
              </a:rPr>
              <a:t>Türk Ceza Yasası’nın 230. maddesine göre İhmal, hangi nedenle olursa olsun görevin savsaklanması ve geciktirilmesi veya üst tarafından verilen buyrukların geçerli bir neden olmadan yapılmaması olarak tanımlanabilir.</a:t>
            </a:r>
            <a:endParaRPr lang="tr-TR" dirty="0"/>
          </a:p>
        </p:txBody>
      </p:sp>
      <p:sp>
        <p:nvSpPr>
          <p:cNvPr id="3" name="Dikdörtgen 2"/>
          <p:cNvSpPr/>
          <p:nvPr/>
        </p:nvSpPr>
        <p:spPr>
          <a:xfrm>
            <a:off x="1950096" y="3355158"/>
            <a:ext cx="8475306" cy="923330"/>
          </a:xfrm>
          <a:prstGeom prst="rect">
            <a:avLst/>
          </a:prstGeom>
        </p:spPr>
        <p:txBody>
          <a:bodyPr wrap="square">
            <a:spAutoFit/>
          </a:bodyPr>
          <a:lstStyle/>
          <a:p>
            <a:pPr algn="just">
              <a:spcAft>
                <a:spcPts val="0"/>
              </a:spcAft>
            </a:pPr>
            <a:r>
              <a:rPr lang="tr-TR" b="1" dirty="0">
                <a:latin typeface="Times New Roman" panose="02020603050405020304" pitchFamily="18" charset="0"/>
                <a:ea typeface="Times New Roman" panose="02020603050405020304" pitchFamily="18" charset="0"/>
              </a:rPr>
              <a:t>6.Sömürü (istismar):</a:t>
            </a:r>
            <a:r>
              <a:rPr lang="tr-TR" dirty="0">
                <a:latin typeface="Times New Roman" panose="02020603050405020304" pitchFamily="18" charset="0"/>
                <a:ea typeface="Times New Roman" panose="02020603050405020304" pitchFamily="18" charset="0"/>
              </a:rPr>
              <a:t> Sömürü, insan ya da nesnelerin adaletsiz kullanımıdır ve çıkar sağlama amacına yöneliktir. Sömürü, insanın başka insanları kendi amaçları için bir araç olarak kullanması ve kaynakların adaletsiz kullanımını niteler. </a:t>
            </a:r>
            <a:endParaRPr lang="tr-TR" sz="1200" dirty="0">
              <a:effectLst/>
              <a:latin typeface="Times New Roman" panose="02020603050405020304" pitchFamily="18" charset="0"/>
              <a:ea typeface="Times New Roman" panose="02020603050405020304" pitchFamily="18" charset="0"/>
            </a:endParaRPr>
          </a:p>
        </p:txBody>
      </p:sp>
      <p:sp>
        <p:nvSpPr>
          <p:cNvPr id="4" name="Dikdörtgen 3"/>
          <p:cNvSpPr/>
          <p:nvPr/>
        </p:nvSpPr>
        <p:spPr>
          <a:xfrm>
            <a:off x="1950096" y="4659096"/>
            <a:ext cx="7672873" cy="923330"/>
          </a:xfrm>
          <a:prstGeom prst="rect">
            <a:avLst/>
          </a:prstGeom>
        </p:spPr>
        <p:txBody>
          <a:bodyPr wrap="square">
            <a:spAutoFit/>
          </a:bodyPr>
          <a:lstStyle/>
          <a:p>
            <a:pPr algn="just">
              <a:spcAft>
                <a:spcPts val="0"/>
              </a:spcAft>
            </a:pPr>
            <a:r>
              <a:rPr lang="tr-TR" b="1" dirty="0">
                <a:latin typeface="Times New Roman" panose="02020603050405020304" pitchFamily="18" charset="0"/>
                <a:ea typeface="Times New Roman" panose="02020603050405020304" pitchFamily="18" charset="0"/>
              </a:rPr>
              <a:t>7.Bencillik: </a:t>
            </a:r>
            <a:r>
              <a:rPr lang="tr-TR" dirty="0">
                <a:latin typeface="Times New Roman" panose="02020603050405020304" pitchFamily="18" charset="0"/>
                <a:ea typeface="Times New Roman" panose="02020603050405020304" pitchFamily="18" charset="0"/>
              </a:rPr>
              <a:t>Bencillik, insanların başkalarının yararını düşünmeden; kimi kez onlara zarar vererek ; davranışlarını yalnız kendi gereksinimlerini giderecek, kendine çıkar sağlayacak biçimde yönlendirmesidir.</a:t>
            </a:r>
            <a:endParaRPr lang="tr-TR"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309448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p:cNvSpPr/>
          <p:nvPr/>
        </p:nvSpPr>
        <p:spPr>
          <a:xfrm>
            <a:off x="1567542" y="1093085"/>
            <a:ext cx="7725747" cy="5078313"/>
          </a:xfrm>
          <a:prstGeom prst="rect">
            <a:avLst/>
          </a:prstGeom>
        </p:spPr>
        <p:txBody>
          <a:bodyPr wrap="square">
            <a:spAutoFit/>
          </a:bodyPr>
          <a:lstStyle/>
          <a:p>
            <a:pPr algn="just">
              <a:spcAft>
                <a:spcPts val="0"/>
              </a:spcAft>
            </a:pPr>
            <a:r>
              <a:rPr lang="tr-TR" b="1" dirty="0">
                <a:latin typeface="Times New Roman" panose="02020603050405020304" pitchFamily="18" charset="0"/>
                <a:ea typeface="Times New Roman" panose="02020603050405020304" pitchFamily="18" charset="0"/>
              </a:rPr>
              <a:t>8. </a:t>
            </a:r>
            <a:r>
              <a:rPr lang="tr-TR" b="1" dirty="0" err="1">
                <a:latin typeface="Times New Roman" panose="02020603050405020304" pitchFamily="18" charset="0"/>
                <a:ea typeface="Times New Roman" panose="02020603050405020304" pitchFamily="18" charset="0"/>
              </a:rPr>
              <a:t>Yolsuzluk:</a:t>
            </a:r>
            <a:r>
              <a:rPr lang="tr-TR" dirty="0" err="1">
                <a:latin typeface="Times New Roman" panose="02020603050405020304" pitchFamily="18" charset="0"/>
                <a:ea typeface="Times New Roman" panose="02020603050405020304" pitchFamily="18" charset="0"/>
              </a:rPr>
              <a:t>En</a:t>
            </a:r>
            <a:r>
              <a:rPr lang="tr-TR" dirty="0">
                <a:latin typeface="Times New Roman" panose="02020603050405020304" pitchFamily="18" charset="0"/>
                <a:ea typeface="Times New Roman" panose="02020603050405020304" pitchFamily="18" charset="0"/>
              </a:rPr>
              <a:t> genel anlamıyla yolsuzluk, bir çıkar karşılığında , kamu yetkilerinin yasa dışı kullanımı olarak tanımlanabilir. Burada sağlanması amaçlanan kazançlar maddi ya da parasal olmayan özel amaçlara yönelik olabilir. Ayrıntılı olarak bakıldığında yolsuzluk aşağıdaki biçimlerde tanımlanabilir.</a:t>
            </a:r>
          </a:p>
          <a:p>
            <a:pPr algn="just">
              <a:spcAft>
                <a:spcPts val="0"/>
              </a:spcAft>
            </a:pPr>
            <a:endParaRPr lang="tr-TR" dirty="0">
              <a:latin typeface="Times New Roman" panose="02020603050405020304" pitchFamily="18" charset="0"/>
              <a:ea typeface="Times New Roman" panose="02020603050405020304" pitchFamily="18" charset="0"/>
            </a:endParaRPr>
          </a:p>
          <a:p>
            <a:pPr algn="just">
              <a:spcAft>
                <a:spcPts val="0"/>
              </a:spcAft>
            </a:pPr>
            <a:r>
              <a:rPr lang="tr-TR" dirty="0">
                <a:latin typeface="Times New Roman" panose="02020603050405020304" pitchFamily="18" charset="0"/>
                <a:ea typeface="Times New Roman" panose="02020603050405020304" pitchFamily="18" charset="0"/>
              </a:rPr>
              <a:t>1. Para ya da mal karşılığında, kamu görevlisinin ayrıcalıklı işlem yapmasıdır.</a:t>
            </a:r>
            <a:endParaRPr lang="tr-TR" sz="1200" dirty="0">
              <a:latin typeface="Times New Roman" panose="02020603050405020304" pitchFamily="18" charset="0"/>
              <a:ea typeface="Times New Roman" panose="02020603050405020304" pitchFamily="18" charset="0"/>
            </a:endParaRPr>
          </a:p>
          <a:p>
            <a:pPr algn="just">
              <a:spcAft>
                <a:spcPts val="0"/>
              </a:spcAft>
            </a:pPr>
            <a:r>
              <a:rPr lang="tr-TR" dirty="0">
                <a:latin typeface="Times New Roman" panose="02020603050405020304" pitchFamily="18" charset="0"/>
                <a:ea typeface="Times New Roman" panose="02020603050405020304" pitchFamily="18" charset="0"/>
              </a:rPr>
              <a:t>2. Kamu görevlisinin parasal ya da diğer ödüller karşılığında, bu çıkarı  sağlayanlar yararına işlem yapmasıdır. </a:t>
            </a:r>
            <a:endParaRPr lang="tr-TR" sz="1200" dirty="0">
              <a:latin typeface="Times New Roman" panose="02020603050405020304" pitchFamily="18" charset="0"/>
              <a:ea typeface="Times New Roman" panose="02020603050405020304" pitchFamily="18" charset="0"/>
            </a:endParaRPr>
          </a:p>
          <a:p>
            <a:pPr algn="just">
              <a:spcAft>
                <a:spcPts val="0"/>
              </a:spcAft>
            </a:pPr>
            <a:r>
              <a:rPr lang="tr-TR" dirty="0">
                <a:latin typeface="Times New Roman" panose="02020603050405020304" pitchFamily="18" charset="0"/>
                <a:ea typeface="Times New Roman" panose="02020603050405020304" pitchFamily="18" charset="0"/>
              </a:rPr>
              <a:t>3. Kamu görevlilerinin yapılmaması gereken işlemleri yapmaları ya da yapmamaları gereken işlemleri yaptırmaları karşılığı çıkar sağlamalarıdır. </a:t>
            </a:r>
            <a:endParaRPr lang="tr-TR" sz="1200" dirty="0">
              <a:latin typeface="Times New Roman" panose="02020603050405020304" pitchFamily="18" charset="0"/>
              <a:ea typeface="Times New Roman" panose="02020603050405020304" pitchFamily="18" charset="0"/>
            </a:endParaRPr>
          </a:p>
          <a:p>
            <a:pPr algn="just">
              <a:spcAft>
                <a:spcPts val="0"/>
              </a:spcAft>
            </a:pPr>
            <a:r>
              <a:rPr lang="tr-TR" b="1" dirty="0">
                <a:latin typeface="Times New Roman" panose="02020603050405020304" pitchFamily="18" charset="0"/>
                <a:ea typeface="Times New Roman" panose="02020603050405020304" pitchFamily="18" charset="0"/>
              </a:rPr>
              <a:t> </a:t>
            </a:r>
            <a:r>
              <a:rPr lang="tr-TR" dirty="0">
                <a:latin typeface="Times New Roman" panose="02020603050405020304" pitchFamily="18" charset="0"/>
                <a:ea typeface="Times New Roman" panose="02020603050405020304" pitchFamily="18" charset="0"/>
              </a:rPr>
              <a:t>4. Parasal olan ya da olmayan kişisel kazançlar için yetkinin kötüye   kullanımıdır.</a:t>
            </a:r>
            <a:endParaRPr lang="tr-TR" sz="1200" dirty="0">
              <a:latin typeface="Times New Roman" panose="02020603050405020304" pitchFamily="18" charset="0"/>
              <a:ea typeface="Times New Roman" panose="02020603050405020304" pitchFamily="18" charset="0"/>
            </a:endParaRPr>
          </a:p>
          <a:p>
            <a:pPr algn="just">
              <a:spcAft>
                <a:spcPts val="0"/>
              </a:spcAft>
            </a:pPr>
            <a:r>
              <a:rPr lang="tr-TR" dirty="0">
                <a:latin typeface="Times New Roman" panose="02020603050405020304" pitchFamily="18" charset="0"/>
                <a:ea typeface="Times New Roman" panose="02020603050405020304" pitchFamily="18" charset="0"/>
              </a:rPr>
              <a:t>5. Kişisel yada  politik kazanç amacıyla devlet yetkisinin yasa dışı   kullanımıdır.</a:t>
            </a:r>
            <a:endParaRPr lang="tr-TR" sz="1200" dirty="0">
              <a:latin typeface="Times New Roman" panose="02020603050405020304" pitchFamily="18" charset="0"/>
              <a:ea typeface="Times New Roman" panose="02020603050405020304" pitchFamily="18" charset="0"/>
            </a:endParaRPr>
          </a:p>
          <a:p>
            <a:pPr algn="just">
              <a:spcAft>
                <a:spcPts val="0"/>
              </a:spcAft>
            </a:pPr>
            <a:r>
              <a:rPr lang="tr-TR" dirty="0">
                <a:latin typeface="Times New Roman" panose="02020603050405020304" pitchFamily="18" charset="0"/>
                <a:ea typeface="Times New Roman" panose="02020603050405020304" pitchFamily="18" charset="0"/>
              </a:rPr>
              <a:t>6. Kamu hizmeti gören  kişinin özel amaçları ya da maddesel çıkarları için normal görev davranışlarından sapmalarıdır.</a:t>
            </a:r>
            <a:endParaRPr lang="tr-TR" sz="1200" dirty="0">
              <a:latin typeface="Times New Roman" panose="02020603050405020304" pitchFamily="18" charset="0"/>
              <a:ea typeface="Times New Roman" panose="02020603050405020304" pitchFamily="18" charset="0"/>
            </a:endParaRPr>
          </a:p>
          <a:p>
            <a:pPr algn="just">
              <a:spcAft>
                <a:spcPts val="0"/>
              </a:spcAft>
            </a:pPr>
            <a:r>
              <a:rPr lang="tr-TR" dirty="0">
                <a:latin typeface="Times New Roman" panose="02020603050405020304" pitchFamily="18" charset="0"/>
                <a:ea typeface="Times New Roman" panose="02020603050405020304" pitchFamily="18" charset="0"/>
              </a:rPr>
              <a:t>7. Kişisel amaçlar için, kamu görevlilerinin kurallara aykırı biçimde   davranışlarıdır. </a:t>
            </a:r>
            <a:endParaRPr lang="tr-TR" sz="1200" dirty="0">
              <a:latin typeface="Times New Roman" panose="02020603050405020304" pitchFamily="18" charset="0"/>
              <a:ea typeface="Times New Roman" panose="02020603050405020304" pitchFamily="18" charset="0"/>
            </a:endParaRPr>
          </a:p>
          <a:p>
            <a:pPr algn="just">
              <a:spcAft>
                <a:spcPts val="0"/>
              </a:spcAft>
            </a:pPr>
            <a:r>
              <a:rPr lang="tr-TR" b="1" dirty="0">
                <a:latin typeface="Times New Roman" panose="02020603050405020304" pitchFamily="18" charset="0"/>
                <a:ea typeface="Times New Roman" panose="02020603050405020304" pitchFamily="18" charset="0"/>
              </a:rPr>
              <a:t>	</a:t>
            </a:r>
            <a:endParaRPr lang="tr-TR"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916451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034073" y="1687010"/>
            <a:ext cx="8070980" cy="2031325"/>
          </a:xfrm>
          <a:prstGeom prst="rect">
            <a:avLst/>
          </a:prstGeom>
        </p:spPr>
        <p:txBody>
          <a:bodyPr wrap="square">
            <a:spAutoFit/>
          </a:bodyPr>
          <a:lstStyle/>
          <a:p>
            <a:r>
              <a:rPr lang="tr-TR" b="1" dirty="0">
                <a:latin typeface="Times New Roman" panose="02020603050405020304" pitchFamily="18" charset="0"/>
                <a:ea typeface="Times New Roman" panose="02020603050405020304" pitchFamily="18" charset="0"/>
              </a:rPr>
              <a:t>9. Şiddet-Baskı-Saldırganlık:</a:t>
            </a:r>
            <a:r>
              <a:rPr lang="tr-TR" dirty="0">
                <a:latin typeface="Times New Roman" panose="02020603050405020304" pitchFamily="18" charset="0"/>
                <a:ea typeface="Times New Roman" panose="02020603050405020304" pitchFamily="18" charset="0"/>
              </a:rPr>
              <a:t> Şiddet sözcüğü, aşırı duygu durumunu, bir olgunun yoğunluğunu, sertliğini, kaba ve sert davranışı nitelendirir. </a:t>
            </a:r>
          </a:p>
          <a:p>
            <a:r>
              <a:rPr lang="tr-TR" dirty="0">
                <a:latin typeface="Times New Roman" panose="02020603050405020304" pitchFamily="18" charset="0"/>
                <a:ea typeface="Times New Roman" panose="02020603050405020304" pitchFamily="18" charset="0"/>
              </a:rPr>
              <a:t>Saldırgan davranışlar, kaba kuvvet, beden gücünün kötüye kullanılması, yakan, yıkan, yok eden eylemler şiddetin kapsamındadır. </a:t>
            </a:r>
          </a:p>
          <a:p>
            <a:r>
              <a:rPr lang="tr-TR" dirty="0">
                <a:latin typeface="Times New Roman" panose="02020603050405020304" pitchFamily="18" charset="0"/>
                <a:ea typeface="Times New Roman" panose="02020603050405020304" pitchFamily="18" charset="0"/>
              </a:rPr>
              <a:t>İnsanda saldırgan davranışlar kalıplaşmış olup, kızgınlık ve öfke durumunu dışa yansıtan yüz ifadelerinden ya da bir sözcükten, doğayı, canlıyı yakan, yıkan, yok eden şiddet eylemlerine kadar yayılabilir</a:t>
            </a:r>
            <a:endParaRPr lang="tr-TR" dirty="0"/>
          </a:p>
        </p:txBody>
      </p:sp>
    </p:spTree>
    <p:extLst>
      <p:ext uri="{BB962C8B-B14F-4D97-AF65-F5344CB8AC3E}">
        <p14:creationId xmlns:p14="http://schemas.microsoft.com/office/powerpoint/2010/main" val="2061113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838131" y="2413338"/>
            <a:ext cx="7305869" cy="923330"/>
          </a:xfrm>
          <a:prstGeom prst="rect">
            <a:avLst/>
          </a:prstGeom>
        </p:spPr>
        <p:txBody>
          <a:bodyPr wrap="square">
            <a:spAutoFit/>
          </a:bodyPr>
          <a:lstStyle/>
          <a:p>
            <a:r>
              <a:rPr lang="tr-TR" b="1" dirty="0">
                <a:latin typeface="Times New Roman" panose="02020603050405020304" pitchFamily="18" charset="0"/>
                <a:ea typeface="Times New Roman" panose="02020603050405020304" pitchFamily="18" charset="0"/>
              </a:rPr>
              <a:t>11. Hakaret ve Küfür: </a:t>
            </a:r>
            <a:r>
              <a:rPr lang="tr-TR" dirty="0">
                <a:latin typeface="Times New Roman" panose="02020603050405020304" pitchFamily="18" charset="0"/>
                <a:ea typeface="Times New Roman" panose="02020603050405020304" pitchFamily="18" charset="0"/>
              </a:rPr>
              <a:t>Sözlü taciz olarak değerlendirilebilecek olan hakaret ve küfür, sözel bir şiddet gösterisidir ve tüm şiddet gösterileri gibi, saldırganlık içerir. </a:t>
            </a:r>
            <a:endParaRPr lang="tr-TR" dirty="0"/>
          </a:p>
        </p:txBody>
      </p:sp>
      <p:sp>
        <p:nvSpPr>
          <p:cNvPr id="3" name="Dikdörtgen 2"/>
          <p:cNvSpPr/>
          <p:nvPr/>
        </p:nvSpPr>
        <p:spPr>
          <a:xfrm>
            <a:off x="1838130" y="3800678"/>
            <a:ext cx="7399175" cy="1200329"/>
          </a:xfrm>
          <a:prstGeom prst="rect">
            <a:avLst/>
          </a:prstGeom>
        </p:spPr>
        <p:txBody>
          <a:bodyPr wrap="square">
            <a:spAutoFit/>
          </a:bodyPr>
          <a:lstStyle/>
          <a:p>
            <a:r>
              <a:rPr lang="tr-TR" b="1" dirty="0">
                <a:latin typeface="Times New Roman" panose="02020603050405020304" pitchFamily="18" charset="0"/>
                <a:ea typeface="Times New Roman" panose="02020603050405020304" pitchFamily="18" charset="0"/>
              </a:rPr>
              <a:t>12. Bedensel ve Cinsel Taciz:</a:t>
            </a:r>
            <a:r>
              <a:rPr lang="tr-TR" dirty="0">
                <a:latin typeface="Times New Roman" panose="02020603050405020304" pitchFamily="18" charset="0"/>
                <a:ea typeface="Times New Roman" panose="02020603050405020304" pitchFamily="18" charset="0"/>
              </a:rPr>
              <a:t> Bedensel  taciz, şiddetin bir ürünüdür.</a:t>
            </a:r>
          </a:p>
          <a:p>
            <a:r>
              <a:rPr lang="tr-TR" dirty="0">
                <a:latin typeface="Times New Roman" panose="02020603050405020304" pitchFamily="18" charset="0"/>
                <a:ea typeface="Times New Roman" panose="02020603050405020304" pitchFamily="18" charset="0"/>
              </a:rPr>
              <a:t>En sık karşılaşılan bedensel taciz türü ise dayaktır. Cinsel taciz ise, çocuğa, gence, kadına söz atma, el, kol hareketi yapmakla başlayan, ırza geçmeye kadar varan geniş bir yelpaze içinde yer alır </a:t>
            </a:r>
            <a:endParaRPr lang="tr-TR" dirty="0"/>
          </a:p>
        </p:txBody>
      </p:sp>
    </p:spTree>
    <p:extLst>
      <p:ext uri="{BB962C8B-B14F-4D97-AF65-F5344CB8AC3E}">
        <p14:creationId xmlns:p14="http://schemas.microsoft.com/office/powerpoint/2010/main" val="40178109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987421" y="1239455"/>
            <a:ext cx="7473820" cy="4524315"/>
          </a:xfrm>
          <a:prstGeom prst="rect">
            <a:avLst/>
          </a:prstGeom>
        </p:spPr>
        <p:txBody>
          <a:bodyPr wrap="square">
            <a:spAutoFit/>
          </a:bodyPr>
          <a:lstStyle/>
          <a:p>
            <a:pPr algn="just">
              <a:spcAft>
                <a:spcPts val="0"/>
              </a:spcAft>
            </a:pPr>
            <a:r>
              <a:rPr lang="tr-TR" b="1" dirty="0">
                <a:latin typeface="Times New Roman" panose="02020603050405020304" pitchFamily="18" charset="0"/>
                <a:ea typeface="Times New Roman" panose="02020603050405020304" pitchFamily="18" charset="0"/>
              </a:rPr>
              <a:t>13. Görev ve Yetkinin Kötüye Kullanımı:</a:t>
            </a:r>
            <a:r>
              <a:rPr lang="tr-TR" dirty="0">
                <a:latin typeface="Times New Roman" panose="02020603050405020304" pitchFamily="18" charset="0"/>
                <a:ea typeface="Times New Roman" panose="02020603050405020304" pitchFamily="18" charset="0"/>
              </a:rPr>
              <a:t> Bir makam adına elde edilmiş olan yetkiler kamu görevlilerince kötüye kullanılamaz. Kurum açısından yetkinin kötüye kullanımı, yetkinin, veriliş amacından başka bir amaç için kullanılmasıdır. Yetkisini kötüye kullanan bir görevlinin, bu yetkiyle yapılacak işleri bir yana bırakarak, kendine ya da başkalarına çıkar sağlar, başkalarına ya da kuruma zarar verirse yetkisini kötüye kullanıyor demektir.</a:t>
            </a:r>
          </a:p>
          <a:p>
            <a:pPr algn="just">
              <a:spcAft>
                <a:spcPts val="0"/>
              </a:spcAft>
            </a:pPr>
            <a:r>
              <a:rPr lang="tr-TR" dirty="0">
                <a:latin typeface="Times New Roman" panose="02020603050405020304" pitchFamily="18" charset="0"/>
                <a:ea typeface="Times New Roman" panose="02020603050405020304" pitchFamily="18" charset="0"/>
              </a:rPr>
              <a:t> </a:t>
            </a:r>
            <a:endParaRPr lang="tr-TR" sz="1200" dirty="0">
              <a:latin typeface="Times New Roman" panose="02020603050405020304" pitchFamily="18" charset="0"/>
              <a:ea typeface="Times New Roman" panose="02020603050405020304" pitchFamily="18" charset="0"/>
            </a:endParaRPr>
          </a:p>
          <a:p>
            <a:pPr algn="just">
              <a:spcAft>
                <a:spcPts val="0"/>
              </a:spcAft>
            </a:pPr>
            <a:r>
              <a:rPr lang="tr-TR" b="1" dirty="0">
                <a:latin typeface="Times New Roman" panose="02020603050405020304" pitchFamily="18" charset="0"/>
                <a:ea typeface="Times New Roman" panose="02020603050405020304" pitchFamily="18" charset="0"/>
              </a:rPr>
              <a:t>14.Dedikodu:</a:t>
            </a:r>
            <a:r>
              <a:rPr lang="tr-TR" dirty="0">
                <a:latin typeface="Times New Roman" panose="02020603050405020304" pitchFamily="18" charset="0"/>
                <a:ea typeface="Times New Roman" panose="02020603050405020304" pitchFamily="18" charset="0"/>
              </a:rPr>
              <a:t>Genel olarak dedikodu, gerçek olup olmadığı bilinmeden insanları kötülemek, kınamak, suçlamak amacıyla yapılan konuşmalardır .</a:t>
            </a:r>
            <a:r>
              <a:rPr lang="tr-TR" b="1" dirty="0">
                <a:latin typeface="Times New Roman" panose="02020603050405020304" pitchFamily="18" charset="0"/>
                <a:ea typeface="Times New Roman" panose="02020603050405020304" pitchFamily="18" charset="0"/>
              </a:rPr>
              <a:t>	</a:t>
            </a:r>
            <a:endParaRPr lang="tr-TR" sz="1200" dirty="0">
              <a:latin typeface="Times New Roman" panose="02020603050405020304" pitchFamily="18" charset="0"/>
              <a:ea typeface="Times New Roman" panose="02020603050405020304" pitchFamily="18" charset="0"/>
            </a:endParaRPr>
          </a:p>
          <a:p>
            <a:pPr algn="just">
              <a:spcAft>
                <a:spcPts val="0"/>
              </a:spcAft>
            </a:pPr>
            <a:r>
              <a:rPr lang="tr-TR" b="1" dirty="0">
                <a:latin typeface="Times New Roman" panose="02020603050405020304" pitchFamily="18" charset="0"/>
                <a:ea typeface="Times New Roman" panose="02020603050405020304" pitchFamily="18" charset="0"/>
              </a:rPr>
              <a:t>15. Zimmet: </a:t>
            </a:r>
            <a:r>
              <a:rPr lang="tr-TR" dirty="0">
                <a:latin typeface="Times New Roman" panose="02020603050405020304" pitchFamily="18" charset="0"/>
                <a:ea typeface="Times New Roman" panose="02020603050405020304" pitchFamily="18" charset="0"/>
              </a:rPr>
              <a:t>Kamu görevlisinin para ya  da mal niteliği taşıyan kamusal bir kaynağı, yasalara aykırı olarak  kişisel kullanımı için harcaması ya da kullanması olarak tanımlanabilir .</a:t>
            </a:r>
          </a:p>
          <a:p>
            <a:pPr algn="just">
              <a:spcAft>
                <a:spcPts val="0"/>
              </a:spcAft>
            </a:pPr>
            <a:r>
              <a:rPr lang="tr-TR" dirty="0">
                <a:latin typeface="Times New Roman" panose="02020603050405020304" pitchFamily="18" charset="0"/>
                <a:ea typeface="Times New Roman" panose="02020603050405020304" pitchFamily="18" charset="0"/>
              </a:rPr>
              <a:t>Zimmetin bir yolsuzluk türü olmasına karşın rüşvetten farkı, bir takas süreci olmaması, yani alıcı ve verici olmaması, ancak personelin kamu kaynaklarını tek taraflı olarak kişisel kullanımına geçirmesidir.</a:t>
            </a:r>
            <a:r>
              <a:rPr lang="tr-TR" b="1" dirty="0">
                <a:latin typeface="Times New Roman" panose="02020603050405020304" pitchFamily="18" charset="0"/>
                <a:ea typeface="Times New Roman" panose="02020603050405020304" pitchFamily="18" charset="0"/>
              </a:rPr>
              <a:t>  </a:t>
            </a:r>
            <a:endParaRPr lang="tr-TR"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3227416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2452643" y="1260670"/>
            <a:ext cx="4927952" cy="646331"/>
          </a:xfrm>
          <a:prstGeom prst="rect">
            <a:avLst/>
          </a:prstGeom>
          <a:noFill/>
        </p:spPr>
        <p:txBody>
          <a:bodyPr wrap="none" rtlCol="0">
            <a:spAutoFit/>
          </a:bodyPr>
          <a:lstStyle/>
          <a:p>
            <a:r>
              <a:rPr lang="tr-TR" b="1" dirty="0">
                <a:solidFill>
                  <a:srgbClr val="FF0000"/>
                </a:solidFill>
              </a:rPr>
              <a:t>İŞ AHLAKINI OLUŞTURAN 3 TEMEL ALAN</a:t>
            </a:r>
          </a:p>
          <a:p>
            <a:endParaRPr lang="tr-TR" dirty="0"/>
          </a:p>
        </p:txBody>
      </p:sp>
      <p:sp>
        <p:nvSpPr>
          <p:cNvPr id="3" name="Oval 2"/>
          <p:cNvSpPr/>
          <p:nvPr/>
        </p:nvSpPr>
        <p:spPr>
          <a:xfrm>
            <a:off x="3207502" y="2411394"/>
            <a:ext cx="2324456" cy="164933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rgbClr val="FFFF00"/>
              </a:solidFill>
            </a:endParaRPr>
          </a:p>
        </p:txBody>
      </p:sp>
      <p:sp>
        <p:nvSpPr>
          <p:cNvPr id="4" name="Oval 3"/>
          <p:cNvSpPr/>
          <p:nvPr/>
        </p:nvSpPr>
        <p:spPr>
          <a:xfrm>
            <a:off x="5043846" y="2395591"/>
            <a:ext cx="2324456" cy="164933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Oval 4"/>
          <p:cNvSpPr/>
          <p:nvPr/>
        </p:nvSpPr>
        <p:spPr>
          <a:xfrm>
            <a:off x="4369730" y="3530894"/>
            <a:ext cx="2324456" cy="164933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Metin kutusu 5"/>
          <p:cNvSpPr txBox="1"/>
          <p:nvPr/>
        </p:nvSpPr>
        <p:spPr>
          <a:xfrm>
            <a:off x="3380043" y="2982595"/>
            <a:ext cx="1979373" cy="369332"/>
          </a:xfrm>
          <a:prstGeom prst="rect">
            <a:avLst/>
          </a:prstGeom>
          <a:noFill/>
        </p:spPr>
        <p:txBody>
          <a:bodyPr wrap="square" rtlCol="0">
            <a:spAutoFit/>
          </a:bodyPr>
          <a:lstStyle/>
          <a:p>
            <a:r>
              <a:rPr lang="tr-TR" b="1" dirty="0">
                <a:solidFill>
                  <a:srgbClr val="0070C0"/>
                </a:solidFill>
              </a:rPr>
              <a:t>Çalışma Ahlakı</a:t>
            </a:r>
          </a:p>
        </p:txBody>
      </p:sp>
      <p:sp>
        <p:nvSpPr>
          <p:cNvPr id="7" name="Dikdörtgen 6"/>
          <p:cNvSpPr/>
          <p:nvPr/>
        </p:nvSpPr>
        <p:spPr>
          <a:xfrm>
            <a:off x="5719966" y="2956625"/>
            <a:ext cx="1548822" cy="369332"/>
          </a:xfrm>
          <a:prstGeom prst="rect">
            <a:avLst/>
          </a:prstGeom>
        </p:spPr>
        <p:txBody>
          <a:bodyPr wrap="none">
            <a:spAutoFit/>
          </a:bodyPr>
          <a:lstStyle/>
          <a:p>
            <a:r>
              <a:rPr lang="tr-TR" b="1" dirty="0">
                <a:solidFill>
                  <a:srgbClr val="0070C0"/>
                </a:solidFill>
              </a:rPr>
              <a:t>Meslek ahlakı</a:t>
            </a:r>
          </a:p>
        </p:txBody>
      </p:sp>
      <p:sp>
        <p:nvSpPr>
          <p:cNvPr id="8" name="Dikdörtgen 7"/>
          <p:cNvSpPr/>
          <p:nvPr/>
        </p:nvSpPr>
        <p:spPr>
          <a:xfrm>
            <a:off x="4792813" y="4265832"/>
            <a:ext cx="1630575" cy="369332"/>
          </a:xfrm>
          <a:prstGeom prst="rect">
            <a:avLst/>
          </a:prstGeom>
        </p:spPr>
        <p:txBody>
          <a:bodyPr wrap="none">
            <a:spAutoFit/>
          </a:bodyPr>
          <a:lstStyle/>
          <a:p>
            <a:r>
              <a:rPr lang="tr-TR" b="1" dirty="0">
                <a:solidFill>
                  <a:srgbClr val="0070C0"/>
                </a:solidFill>
              </a:rPr>
              <a:t>İşletme ahlakı </a:t>
            </a:r>
          </a:p>
        </p:txBody>
      </p:sp>
      <p:pic>
        <p:nvPicPr>
          <p:cNvPr id="9" name="Resim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9059" y="4797808"/>
            <a:ext cx="2179320" cy="1341120"/>
          </a:xfrm>
          <a:prstGeom prst="rect">
            <a:avLst/>
          </a:prstGeom>
        </p:spPr>
      </p:pic>
    </p:spTree>
    <p:extLst>
      <p:ext uri="{BB962C8B-B14F-4D97-AF65-F5344CB8AC3E}">
        <p14:creationId xmlns:p14="http://schemas.microsoft.com/office/powerpoint/2010/main" val="35570618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1529697" y="1384419"/>
            <a:ext cx="6503350" cy="3416320"/>
          </a:xfrm>
          <a:prstGeom prst="rect">
            <a:avLst/>
          </a:prstGeom>
          <a:noFill/>
        </p:spPr>
        <p:txBody>
          <a:bodyPr wrap="square" rtlCol="0">
            <a:spAutoFit/>
          </a:bodyPr>
          <a:lstStyle/>
          <a:p>
            <a:r>
              <a:rPr lang="tr-TR" b="1" dirty="0">
                <a:solidFill>
                  <a:srgbClr val="0070C0"/>
                </a:solidFill>
              </a:rPr>
              <a:t>Çalışma, Meslek ve İşletmecilik Ahlakları</a:t>
            </a:r>
          </a:p>
          <a:p>
            <a:endParaRPr lang="tr-TR" dirty="0"/>
          </a:p>
          <a:p>
            <a:r>
              <a:rPr lang="tr-TR" dirty="0"/>
              <a:t>Birbirinden tamamen bağımsız değillerdir. </a:t>
            </a:r>
          </a:p>
          <a:p>
            <a:endParaRPr lang="tr-TR" dirty="0"/>
          </a:p>
          <a:p>
            <a:r>
              <a:rPr lang="tr-TR" dirty="0" err="1"/>
              <a:t>Örn</a:t>
            </a:r>
            <a:r>
              <a:rPr lang="tr-TR" dirty="0"/>
              <a:t>: Bir hekimin zamanında işe gelmesi onun </a:t>
            </a:r>
            <a:r>
              <a:rPr lang="tr-TR" dirty="0">
                <a:solidFill>
                  <a:srgbClr val="FF0000"/>
                </a:solidFill>
              </a:rPr>
              <a:t>çalışma ahlakını </a:t>
            </a:r>
            <a:r>
              <a:rPr lang="tr-TR" dirty="0"/>
              <a:t>göstermektedir.</a:t>
            </a:r>
          </a:p>
          <a:p>
            <a:endParaRPr lang="tr-TR" dirty="0"/>
          </a:p>
          <a:p>
            <a:r>
              <a:rPr lang="tr-TR" dirty="0"/>
              <a:t>        Aynı hekimin hastalarına ilaç firmalarının istekleri doğrultusunda gereksiz yere ilaç yazmaması </a:t>
            </a:r>
            <a:r>
              <a:rPr lang="tr-TR" dirty="0">
                <a:solidFill>
                  <a:srgbClr val="FF0000"/>
                </a:solidFill>
              </a:rPr>
              <a:t>meslek ahlakının </a:t>
            </a:r>
            <a:r>
              <a:rPr lang="tr-TR" dirty="0"/>
              <a:t>bir gereğidir. </a:t>
            </a:r>
          </a:p>
          <a:p>
            <a:endParaRPr lang="tr-TR" dirty="0"/>
          </a:p>
          <a:p>
            <a:r>
              <a:rPr lang="tr-TR" dirty="0"/>
              <a:t>        Fakat bu ikisi aynı anda çalıştığı sağlık firmasının </a:t>
            </a:r>
            <a:r>
              <a:rPr lang="tr-TR" dirty="0">
                <a:solidFill>
                  <a:srgbClr val="FF0000"/>
                </a:solidFill>
              </a:rPr>
              <a:t>işletme ahlakı </a:t>
            </a:r>
            <a:r>
              <a:rPr lang="tr-TR" dirty="0"/>
              <a:t>veya politikası olabilir. </a:t>
            </a:r>
          </a:p>
        </p:txBody>
      </p:sp>
      <p:pic>
        <p:nvPicPr>
          <p:cNvPr id="3" name="Resi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6304" y="755769"/>
            <a:ext cx="2331720" cy="1257300"/>
          </a:xfrm>
          <a:prstGeom prst="rect">
            <a:avLst/>
          </a:prstGeom>
        </p:spPr>
      </p:pic>
      <p:pic>
        <p:nvPicPr>
          <p:cNvPr id="4" name="Resim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0134" y="4637376"/>
            <a:ext cx="2004060" cy="1463040"/>
          </a:xfrm>
          <a:prstGeom prst="rect">
            <a:avLst/>
          </a:prstGeom>
        </p:spPr>
      </p:pic>
    </p:spTree>
    <p:extLst>
      <p:ext uri="{BB962C8B-B14F-4D97-AF65-F5344CB8AC3E}">
        <p14:creationId xmlns:p14="http://schemas.microsoft.com/office/powerpoint/2010/main" val="11460799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1529697" y="1384419"/>
            <a:ext cx="6503350" cy="3139321"/>
          </a:xfrm>
          <a:prstGeom prst="rect">
            <a:avLst/>
          </a:prstGeom>
          <a:noFill/>
        </p:spPr>
        <p:txBody>
          <a:bodyPr wrap="square" rtlCol="0">
            <a:spAutoFit/>
          </a:bodyPr>
          <a:lstStyle/>
          <a:p>
            <a:r>
              <a:rPr lang="tr-TR" b="1" dirty="0">
                <a:solidFill>
                  <a:srgbClr val="0070C0"/>
                </a:solidFill>
              </a:rPr>
              <a:t>İşletmecilik ahlakı </a:t>
            </a:r>
          </a:p>
          <a:p>
            <a:endParaRPr lang="tr-TR" b="1" dirty="0">
              <a:solidFill>
                <a:srgbClr val="0070C0"/>
              </a:solidFill>
            </a:endParaRPr>
          </a:p>
          <a:p>
            <a:endParaRPr lang="tr-TR" b="1" dirty="0">
              <a:solidFill>
                <a:srgbClr val="0070C0"/>
              </a:solidFill>
            </a:endParaRPr>
          </a:p>
          <a:p>
            <a:r>
              <a:rPr lang="tr-TR" b="1" dirty="0">
                <a:solidFill>
                  <a:srgbClr val="002060"/>
                </a:solidFill>
              </a:rPr>
              <a:t>Bir işletme örgütünün kurumsal ya da örgütsel ahlakını temsil eder.</a:t>
            </a:r>
          </a:p>
          <a:p>
            <a:endParaRPr lang="tr-TR" b="1" dirty="0">
              <a:solidFill>
                <a:srgbClr val="002060"/>
              </a:solidFill>
            </a:endParaRPr>
          </a:p>
          <a:p>
            <a:r>
              <a:rPr lang="tr-TR" b="1" dirty="0">
                <a:solidFill>
                  <a:srgbClr val="002060"/>
                </a:solidFill>
              </a:rPr>
              <a:t>İşletme içinde çalışan bireylerin </a:t>
            </a:r>
            <a:r>
              <a:rPr lang="tr-TR" b="1" dirty="0">
                <a:solidFill>
                  <a:srgbClr val="FF0000"/>
                </a:solidFill>
              </a:rPr>
              <a:t>tek tek kişisel </a:t>
            </a:r>
            <a:r>
              <a:rPr lang="tr-TR" b="1" dirty="0">
                <a:solidFill>
                  <a:srgbClr val="002060"/>
                </a:solidFill>
              </a:rPr>
              <a:t>ahlakı eğilim ve felsefeleri, çalışma ahlakları, meslek ahlakları olduğu gibi onlardan ayrı olarak </a:t>
            </a:r>
            <a:r>
              <a:rPr lang="tr-TR" b="1" dirty="0">
                <a:solidFill>
                  <a:srgbClr val="FF0000"/>
                </a:solidFill>
              </a:rPr>
              <a:t>işletmeninde kendine özgü </a:t>
            </a:r>
            <a:r>
              <a:rPr lang="tr-TR" b="1" dirty="0">
                <a:solidFill>
                  <a:srgbClr val="002060"/>
                </a:solidFill>
              </a:rPr>
              <a:t>bir ahlaki eğilimi ve felsefesi vardır. </a:t>
            </a:r>
          </a:p>
          <a:p>
            <a:endParaRPr lang="tr-TR" dirty="0"/>
          </a:p>
        </p:txBody>
      </p:sp>
    </p:spTree>
    <p:extLst>
      <p:ext uri="{BB962C8B-B14F-4D97-AF65-F5344CB8AC3E}">
        <p14:creationId xmlns:p14="http://schemas.microsoft.com/office/powerpoint/2010/main" val="40361396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697764" y="1698736"/>
            <a:ext cx="6096000" cy="3139321"/>
          </a:xfrm>
          <a:prstGeom prst="rect">
            <a:avLst/>
          </a:prstGeom>
        </p:spPr>
        <p:txBody>
          <a:bodyPr>
            <a:spAutoFit/>
          </a:bodyPr>
          <a:lstStyle/>
          <a:p>
            <a:r>
              <a:rPr lang="tr-TR" b="1" dirty="0">
                <a:solidFill>
                  <a:srgbClr val="FF0000"/>
                </a:solidFill>
              </a:rPr>
              <a:t>Meslek Ahlakı </a:t>
            </a:r>
          </a:p>
          <a:p>
            <a:endParaRPr lang="tr-TR" b="1" dirty="0">
              <a:solidFill>
                <a:srgbClr val="002060"/>
              </a:solidFill>
            </a:endParaRPr>
          </a:p>
          <a:p>
            <a:r>
              <a:rPr lang="tr-TR" b="1" dirty="0">
                <a:solidFill>
                  <a:srgbClr val="002060"/>
                </a:solidFill>
              </a:rPr>
              <a:t>Belli bir mesleğin mensuplarının uyması gereken ahlaki ilkelerdir. </a:t>
            </a:r>
          </a:p>
          <a:p>
            <a:endParaRPr lang="tr-TR" b="1" dirty="0">
              <a:solidFill>
                <a:srgbClr val="002060"/>
              </a:solidFill>
            </a:endParaRPr>
          </a:p>
          <a:p>
            <a:r>
              <a:rPr lang="tr-TR" b="1" dirty="0">
                <a:solidFill>
                  <a:srgbClr val="002060"/>
                </a:solidFill>
              </a:rPr>
              <a:t>Bu ilkeler </a:t>
            </a:r>
            <a:r>
              <a:rPr lang="tr-TR" b="1" dirty="0">
                <a:solidFill>
                  <a:srgbClr val="FF0000"/>
                </a:solidFill>
              </a:rPr>
              <a:t>toplumsal kültür ve değerlerden bağımsızdır</a:t>
            </a:r>
            <a:r>
              <a:rPr lang="tr-TR" b="1" dirty="0">
                <a:solidFill>
                  <a:srgbClr val="002060"/>
                </a:solidFill>
              </a:rPr>
              <a:t>.  </a:t>
            </a:r>
          </a:p>
          <a:p>
            <a:endParaRPr lang="tr-TR" b="1" dirty="0">
              <a:solidFill>
                <a:srgbClr val="0070C0"/>
              </a:solidFill>
            </a:endParaRPr>
          </a:p>
          <a:p>
            <a:r>
              <a:rPr lang="tr-TR" b="1" dirty="0">
                <a:solidFill>
                  <a:srgbClr val="FF0000"/>
                </a:solidFill>
              </a:rPr>
              <a:t>Meslek ahlakının 2 temel boyutu </a:t>
            </a:r>
          </a:p>
          <a:p>
            <a:endParaRPr lang="tr-TR" b="1" dirty="0">
              <a:solidFill>
                <a:srgbClr val="FF0000"/>
              </a:solidFill>
            </a:endParaRPr>
          </a:p>
          <a:p>
            <a:endParaRPr lang="tr-TR" b="1" dirty="0">
              <a:solidFill>
                <a:srgbClr val="FF0000"/>
              </a:solidFill>
            </a:endParaRPr>
          </a:p>
          <a:p>
            <a:endParaRPr lang="tr-TR" b="1" dirty="0">
              <a:solidFill>
                <a:srgbClr val="FF0000"/>
              </a:solidFill>
            </a:endParaRPr>
          </a:p>
        </p:txBody>
      </p:sp>
      <p:sp>
        <p:nvSpPr>
          <p:cNvPr id="3" name="Oval 2"/>
          <p:cNvSpPr/>
          <p:nvPr/>
        </p:nvSpPr>
        <p:spPr>
          <a:xfrm>
            <a:off x="2019656" y="4383419"/>
            <a:ext cx="2375731" cy="1153682"/>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 name="Oval 3"/>
          <p:cNvSpPr/>
          <p:nvPr/>
        </p:nvSpPr>
        <p:spPr>
          <a:xfrm>
            <a:off x="5638800" y="3684375"/>
            <a:ext cx="2375731" cy="115368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rgbClr val="FFFF00"/>
              </a:solidFill>
            </a:endParaRPr>
          </a:p>
        </p:txBody>
      </p:sp>
      <p:sp>
        <p:nvSpPr>
          <p:cNvPr id="5" name="Oval 4"/>
          <p:cNvSpPr/>
          <p:nvPr/>
        </p:nvSpPr>
        <p:spPr>
          <a:xfrm>
            <a:off x="5638799" y="4960260"/>
            <a:ext cx="2375731" cy="115368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7" name="Düz Ok Bağlayıcısı 6"/>
          <p:cNvCxnSpPr/>
          <p:nvPr/>
        </p:nvCxnSpPr>
        <p:spPr>
          <a:xfrm flipV="1">
            <a:off x="4505058" y="4261216"/>
            <a:ext cx="1085316" cy="481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Düz Ok Bağlayıcısı 7"/>
          <p:cNvCxnSpPr/>
          <p:nvPr/>
        </p:nvCxnSpPr>
        <p:spPr>
          <a:xfrm>
            <a:off x="4553484" y="5125202"/>
            <a:ext cx="1085316" cy="2446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Metin kutusu 9"/>
          <p:cNvSpPr txBox="1"/>
          <p:nvPr/>
        </p:nvSpPr>
        <p:spPr>
          <a:xfrm>
            <a:off x="2290274" y="4723563"/>
            <a:ext cx="1666430" cy="369332"/>
          </a:xfrm>
          <a:prstGeom prst="rect">
            <a:avLst/>
          </a:prstGeom>
          <a:noFill/>
        </p:spPr>
        <p:txBody>
          <a:bodyPr wrap="square" rtlCol="0">
            <a:spAutoFit/>
          </a:bodyPr>
          <a:lstStyle/>
          <a:p>
            <a:r>
              <a:rPr lang="tr-TR" i="1" dirty="0"/>
              <a:t>Meslek ahlakı </a:t>
            </a:r>
          </a:p>
        </p:txBody>
      </p:sp>
      <p:sp>
        <p:nvSpPr>
          <p:cNvPr id="11" name="Metin kutusu 10"/>
          <p:cNvSpPr txBox="1"/>
          <p:nvPr/>
        </p:nvSpPr>
        <p:spPr>
          <a:xfrm>
            <a:off x="5964965" y="3759931"/>
            <a:ext cx="1657884" cy="923330"/>
          </a:xfrm>
          <a:prstGeom prst="rect">
            <a:avLst/>
          </a:prstGeom>
          <a:noFill/>
        </p:spPr>
        <p:txBody>
          <a:bodyPr wrap="square" rtlCol="0">
            <a:spAutoFit/>
          </a:bodyPr>
          <a:lstStyle/>
          <a:p>
            <a:pPr algn="ctr"/>
            <a:r>
              <a:rPr lang="tr-TR" i="1" dirty="0"/>
              <a:t>Mesleki bilgi ve becerilere özen gösterilmesi</a:t>
            </a:r>
          </a:p>
        </p:txBody>
      </p:sp>
      <p:sp>
        <p:nvSpPr>
          <p:cNvPr id="12" name="Metin kutusu 11"/>
          <p:cNvSpPr txBox="1"/>
          <p:nvPr/>
        </p:nvSpPr>
        <p:spPr>
          <a:xfrm>
            <a:off x="6219913" y="5096030"/>
            <a:ext cx="1573851" cy="923330"/>
          </a:xfrm>
          <a:prstGeom prst="rect">
            <a:avLst/>
          </a:prstGeom>
          <a:noFill/>
        </p:spPr>
        <p:txBody>
          <a:bodyPr wrap="square" rtlCol="0">
            <a:spAutoFit/>
          </a:bodyPr>
          <a:lstStyle/>
          <a:p>
            <a:r>
              <a:rPr lang="tr-TR" i="1" dirty="0"/>
              <a:t>Meslek Onurunun Korunması</a:t>
            </a:r>
          </a:p>
        </p:txBody>
      </p:sp>
    </p:spTree>
    <p:extLst>
      <p:ext uri="{BB962C8B-B14F-4D97-AF65-F5344CB8AC3E}">
        <p14:creationId xmlns:p14="http://schemas.microsoft.com/office/powerpoint/2010/main" val="15096632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1615155" y="1623701"/>
            <a:ext cx="7351564" cy="2862322"/>
          </a:xfrm>
          <a:prstGeom prst="rect">
            <a:avLst/>
          </a:prstGeom>
          <a:noFill/>
        </p:spPr>
        <p:txBody>
          <a:bodyPr wrap="none" rtlCol="0">
            <a:spAutoFit/>
          </a:bodyPr>
          <a:lstStyle/>
          <a:p>
            <a:r>
              <a:rPr lang="tr-TR" dirty="0">
                <a:solidFill>
                  <a:srgbClr val="FF0000"/>
                </a:solidFill>
              </a:rPr>
              <a:t>Meslek Ahlakı İlkelerinin Özellikleri </a:t>
            </a:r>
          </a:p>
          <a:p>
            <a:endParaRPr lang="tr-TR" dirty="0"/>
          </a:p>
          <a:p>
            <a:r>
              <a:rPr lang="tr-TR" dirty="0"/>
              <a:t>-Uygulama standartlarını ortaya koyar.</a:t>
            </a:r>
          </a:p>
          <a:p>
            <a:endParaRPr lang="tr-TR" dirty="0"/>
          </a:p>
          <a:p>
            <a:r>
              <a:rPr lang="tr-TR" dirty="0"/>
              <a:t>-Yazılı olmak zorunda değildir. </a:t>
            </a:r>
          </a:p>
          <a:p>
            <a:endParaRPr lang="tr-TR" dirty="0"/>
          </a:p>
          <a:p>
            <a:r>
              <a:rPr lang="tr-TR" dirty="0"/>
              <a:t>-Tüm üyelerce bilinmek zorundadır. </a:t>
            </a:r>
          </a:p>
          <a:p>
            <a:endParaRPr lang="tr-TR" dirty="0"/>
          </a:p>
          <a:p>
            <a:r>
              <a:rPr lang="tr-TR" dirty="0"/>
              <a:t>-Hukuk kuralları gibi cezai </a:t>
            </a:r>
            <a:r>
              <a:rPr lang="tr-TR" dirty="0" err="1"/>
              <a:t>yaptıtımlara</a:t>
            </a:r>
            <a:r>
              <a:rPr lang="tr-TR" dirty="0"/>
              <a:t> sahip değildir, daha çok vicdana seslenir. </a:t>
            </a:r>
          </a:p>
          <a:p>
            <a:endParaRPr lang="tr-TR" dirty="0"/>
          </a:p>
        </p:txBody>
      </p:sp>
      <p:pic>
        <p:nvPicPr>
          <p:cNvPr id="3" name="Resi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0077" y="4682277"/>
            <a:ext cx="2278380" cy="1287780"/>
          </a:xfrm>
          <a:prstGeom prst="rect">
            <a:avLst/>
          </a:prstGeom>
        </p:spPr>
      </p:pic>
    </p:spTree>
    <p:extLst>
      <p:ext uri="{BB962C8B-B14F-4D97-AF65-F5344CB8AC3E}">
        <p14:creationId xmlns:p14="http://schemas.microsoft.com/office/powerpoint/2010/main" val="32367746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1666430" y="1905712"/>
            <a:ext cx="8183651" cy="3139321"/>
          </a:xfrm>
          <a:prstGeom prst="rect">
            <a:avLst/>
          </a:prstGeom>
          <a:noFill/>
        </p:spPr>
        <p:txBody>
          <a:bodyPr wrap="none" rtlCol="0">
            <a:spAutoFit/>
          </a:bodyPr>
          <a:lstStyle/>
          <a:p>
            <a:r>
              <a:rPr lang="tr-TR" b="1" dirty="0">
                <a:solidFill>
                  <a:srgbClr val="FF0000"/>
                </a:solidFill>
              </a:rPr>
              <a:t>Meslek Ahlakı İlkelerini Hayata Geçirebilmek İçin….</a:t>
            </a:r>
          </a:p>
          <a:p>
            <a:endParaRPr lang="tr-TR" dirty="0"/>
          </a:p>
          <a:p>
            <a:r>
              <a:rPr lang="tr-TR" dirty="0"/>
              <a:t>Etik Sorunlara yer veren örnek olaylarla zenginleştirilmiş </a:t>
            </a:r>
            <a:r>
              <a:rPr lang="tr-TR" dirty="0" err="1"/>
              <a:t>hizmetiçi</a:t>
            </a:r>
            <a:r>
              <a:rPr lang="tr-TR" dirty="0"/>
              <a:t> programlar geliştirmek</a:t>
            </a:r>
          </a:p>
          <a:p>
            <a:endParaRPr lang="tr-TR" dirty="0"/>
          </a:p>
          <a:p>
            <a:r>
              <a:rPr lang="tr-TR" dirty="0"/>
              <a:t>Etik olmayan davranışları etkin şekilde cezalandırma ve önlemeye çalışmak</a:t>
            </a:r>
          </a:p>
          <a:p>
            <a:endParaRPr lang="tr-TR" dirty="0"/>
          </a:p>
          <a:p>
            <a:r>
              <a:rPr lang="tr-TR" dirty="0"/>
              <a:t>Etik olmayan davranışlar için verilecek </a:t>
            </a:r>
            <a:r>
              <a:rPr lang="tr-TR" dirty="0" err="1"/>
              <a:t>cezların</a:t>
            </a:r>
            <a:r>
              <a:rPr lang="tr-TR" dirty="0"/>
              <a:t> çalışanlarca bilinmesini sağlamak</a:t>
            </a:r>
          </a:p>
          <a:p>
            <a:endParaRPr lang="tr-TR" dirty="0"/>
          </a:p>
          <a:p>
            <a:r>
              <a:rPr lang="tr-TR" dirty="0"/>
              <a:t>Politika ve kuralları oluşturacak bir etik kurul oluşturmak</a:t>
            </a:r>
          </a:p>
          <a:p>
            <a:endParaRPr lang="tr-TR" dirty="0"/>
          </a:p>
          <a:p>
            <a:r>
              <a:rPr lang="tr-TR" dirty="0"/>
              <a:t>Etik politika ve ilkeleri içeren bir  liste geliştirmek </a:t>
            </a:r>
          </a:p>
        </p:txBody>
      </p:sp>
      <p:pic>
        <p:nvPicPr>
          <p:cNvPr id="3" name="Resi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15044" y="712185"/>
            <a:ext cx="2164080" cy="1348740"/>
          </a:xfrm>
          <a:prstGeom prst="rect">
            <a:avLst/>
          </a:prstGeom>
        </p:spPr>
      </p:pic>
    </p:spTree>
    <p:extLst>
      <p:ext uri="{BB962C8B-B14F-4D97-AF65-F5344CB8AC3E}">
        <p14:creationId xmlns:p14="http://schemas.microsoft.com/office/powerpoint/2010/main" val="20061209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2307364" y="1871529"/>
            <a:ext cx="6340980" cy="3139321"/>
          </a:xfrm>
          <a:prstGeom prst="rect">
            <a:avLst/>
          </a:prstGeom>
          <a:noFill/>
        </p:spPr>
        <p:txBody>
          <a:bodyPr wrap="square" rtlCol="0">
            <a:spAutoFit/>
          </a:bodyPr>
          <a:lstStyle/>
          <a:p>
            <a:r>
              <a:rPr lang="tr-TR" b="1" dirty="0">
                <a:solidFill>
                  <a:srgbClr val="FF0000"/>
                </a:solidFill>
              </a:rPr>
              <a:t>Çalışma Ahlakı</a:t>
            </a:r>
          </a:p>
          <a:p>
            <a:endParaRPr lang="tr-TR" dirty="0"/>
          </a:p>
          <a:p>
            <a:r>
              <a:rPr lang="tr-TR" dirty="0"/>
              <a:t>Çalışmaya ve işe karşı geliştirilen </a:t>
            </a:r>
            <a:r>
              <a:rPr lang="tr-TR" b="1" dirty="0"/>
              <a:t>kişisel tutum ve davranışlarıdır</a:t>
            </a:r>
            <a:r>
              <a:rPr lang="tr-TR" dirty="0"/>
              <a:t>.</a:t>
            </a:r>
          </a:p>
          <a:p>
            <a:endParaRPr lang="tr-TR" dirty="0"/>
          </a:p>
          <a:p>
            <a:r>
              <a:rPr lang="tr-TR" dirty="0"/>
              <a:t>Bu tutum ve davranışlar içinde yaşanılan kültürden etkilenir.</a:t>
            </a:r>
          </a:p>
          <a:p>
            <a:endParaRPr lang="tr-TR" dirty="0"/>
          </a:p>
          <a:p>
            <a:r>
              <a:rPr lang="tr-TR" dirty="0"/>
              <a:t>Bazı toplumlar işe yönelik olumlu tutum geliştirirken, </a:t>
            </a:r>
          </a:p>
          <a:p>
            <a:endParaRPr lang="tr-TR" dirty="0"/>
          </a:p>
          <a:p>
            <a:r>
              <a:rPr lang="tr-TR" dirty="0"/>
              <a:t>bazıları işten çok dinlenme ve eğlenceyi </a:t>
            </a:r>
            <a:r>
              <a:rPr lang="tr-TR" dirty="0" err="1"/>
              <a:t>önplana</a:t>
            </a:r>
            <a:r>
              <a:rPr lang="tr-TR" dirty="0"/>
              <a:t> alır.</a:t>
            </a:r>
          </a:p>
          <a:p>
            <a:endParaRPr lang="tr-TR" dirty="0"/>
          </a:p>
          <a:p>
            <a:endParaRPr lang="tr-TR" dirty="0"/>
          </a:p>
        </p:txBody>
      </p:sp>
      <p:pic>
        <p:nvPicPr>
          <p:cNvPr id="3" name="Resi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8690" y="4137861"/>
            <a:ext cx="2019300" cy="1455420"/>
          </a:xfrm>
          <a:prstGeom prst="rect">
            <a:avLst/>
          </a:prstGeom>
        </p:spPr>
      </p:pic>
    </p:spTree>
    <p:extLst>
      <p:ext uri="{BB962C8B-B14F-4D97-AF65-F5344CB8AC3E}">
        <p14:creationId xmlns:p14="http://schemas.microsoft.com/office/powerpoint/2010/main" val="38800564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AutoShape 2"/>
          <p:cNvSpPr>
            <a:spLocks noGrp="1" noChangeArrowheads="1"/>
          </p:cNvSpPr>
          <p:nvPr>
            <p:ph type="title"/>
          </p:nvPr>
        </p:nvSpPr>
        <p:spPr>
          <a:xfrm>
            <a:off x="829516" y="765175"/>
            <a:ext cx="10681668" cy="996950"/>
          </a:xfrm>
          <a:solidFill>
            <a:srgbClr val="FF0000"/>
          </a:solidFill>
          <a:ln w="38100">
            <a:solidFill>
              <a:srgbClr val="000000"/>
            </a:solidFill>
          </a:ln>
        </p:spPr>
        <p:txBody>
          <a:bodyPr>
            <a:normAutofit/>
          </a:bodyPr>
          <a:lstStyle/>
          <a:p>
            <a:pPr eaLnBrk="1" hangingPunct="1"/>
            <a:r>
              <a:rPr lang="tr-TR" dirty="0">
                <a:solidFill>
                  <a:schemeClr val="bg1"/>
                </a:solidFill>
                <a:latin typeface="Comic Sans MS" pitchFamily="66" charset="0"/>
              </a:rPr>
              <a:t>Etik konusunda 2 önemli </a:t>
            </a:r>
            <a:r>
              <a:rPr lang="tr-TR" u="sng" dirty="0">
                <a:solidFill>
                  <a:schemeClr val="bg1"/>
                </a:solidFill>
                <a:latin typeface="Comic Sans MS" pitchFamily="66" charset="0"/>
              </a:rPr>
              <a:t>yanılgı</a:t>
            </a:r>
            <a:r>
              <a:rPr lang="tr-TR" dirty="0">
                <a:solidFill>
                  <a:schemeClr val="bg1"/>
                </a:solidFill>
                <a:latin typeface="Comic Sans MS" pitchFamily="66" charset="0"/>
              </a:rPr>
              <a:t>…</a:t>
            </a:r>
          </a:p>
        </p:txBody>
      </p:sp>
      <p:sp>
        <p:nvSpPr>
          <p:cNvPr id="20483" name="Rectangle 3"/>
          <p:cNvSpPr>
            <a:spLocks noGrp="1" noChangeArrowheads="1"/>
          </p:cNvSpPr>
          <p:nvPr>
            <p:ph sz="quarter" idx="1"/>
          </p:nvPr>
        </p:nvSpPr>
        <p:spPr>
          <a:xfrm>
            <a:off x="1117601" y="2997201"/>
            <a:ext cx="10547351" cy="3089275"/>
          </a:xfrm>
        </p:spPr>
        <p:txBody>
          <a:bodyPr/>
          <a:lstStyle/>
          <a:p>
            <a:pPr marL="533400" indent="-533400" eaLnBrk="1" hangingPunct="1">
              <a:buFont typeface="Wingdings" pitchFamily="2" charset="2"/>
              <a:buAutoNum type="arabicPeriod"/>
            </a:pPr>
            <a:r>
              <a:rPr lang="tr-TR" sz="3600" dirty="0">
                <a:solidFill>
                  <a:srgbClr val="000000"/>
                </a:solidFill>
                <a:latin typeface="Comic Sans MS" pitchFamily="66" charset="0"/>
              </a:rPr>
              <a:t>İş etiği öğretilemez </a:t>
            </a:r>
          </a:p>
          <a:p>
            <a:pPr marL="533400" indent="-533400" eaLnBrk="1" hangingPunct="1">
              <a:buFont typeface="Wingdings" pitchFamily="2" charset="2"/>
              <a:buAutoNum type="arabicPeriod"/>
            </a:pPr>
            <a:endParaRPr lang="tr-TR" sz="3600" dirty="0">
              <a:solidFill>
                <a:srgbClr val="000000"/>
              </a:solidFill>
              <a:latin typeface="Comic Sans MS" pitchFamily="66" charset="0"/>
            </a:endParaRPr>
          </a:p>
          <a:p>
            <a:pPr marL="533400" indent="-533400" eaLnBrk="1" hangingPunct="1">
              <a:buFont typeface="Wingdings" pitchFamily="2" charset="2"/>
              <a:buAutoNum type="arabicPeriod"/>
            </a:pPr>
            <a:r>
              <a:rPr lang="tr-TR" sz="3600" dirty="0">
                <a:solidFill>
                  <a:srgbClr val="000000"/>
                </a:solidFill>
                <a:latin typeface="Comic Sans MS" pitchFamily="66" charset="0"/>
              </a:rPr>
              <a:t>Yetişkinler etik forma sokulamaz</a:t>
            </a:r>
          </a:p>
        </p:txBody>
      </p:sp>
    </p:spTree>
    <p:extLst>
      <p:ext uri="{BB962C8B-B14F-4D97-AF65-F5344CB8AC3E}">
        <p14:creationId xmlns:p14="http://schemas.microsoft.com/office/powerpoint/2010/main" val="21433146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3" name="Rectangle 3" descr="%10"/>
          <p:cNvSpPr>
            <a:spLocks noGrp="1" noChangeArrowheads="1"/>
          </p:cNvSpPr>
          <p:nvPr>
            <p:ph sz="quarter" idx="1"/>
          </p:nvPr>
        </p:nvSpPr>
        <p:spPr>
          <a:xfrm>
            <a:off x="0" y="0"/>
            <a:ext cx="12192000" cy="6858000"/>
          </a:xfrm>
          <a:pattFill prst="pct10">
            <a:fgClr>
              <a:srgbClr val="FF0000"/>
            </a:fgClr>
            <a:bgClr>
              <a:schemeClr val="bg1"/>
            </a:bgClr>
          </a:pattFill>
        </p:spPr>
        <p:txBody>
          <a:bodyPr/>
          <a:lstStyle/>
          <a:p>
            <a:pPr eaLnBrk="1" hangingPunct="1">
              <a:lnSpc>
                <a:spcPct val="90000"/>
              </a:lnSpc>
              <a:buFont typeface="Wingdings" pitchFamily="2" charset="2"/>
              <a:buNone/>
              <a:defRPr/>
            </a:pPr>
            <a:endParaRPr lang="tr-TR" b="1" dirty="0">
              <a:solidFill>
                <a:srgbClr val="FF0000"/>
              </a:solidFill>
              <a:effectLst>
                <a:outerShdw blurRad="38100" dist="38100" dir="2700000" algn="tl">
                  <a:srgbClr val="C0C0C0"/>
                </a:outerShdw>
              </a:effectLst>
              <a:latin typeface="Comic Sans MS" pitchFamily="66" charset="0"/>
            </a:endParaRPr>
          </a:p>
          <a:p>
            <a:pPr eaLnBrk="1" hangingPunct="1">
              <a:lnSpc>
                <a:spcPct val="90000"/>
              </a:lnSpc>
              <a:buFont typeface="Wingdings" pitchFamily="2" charset="2"/>
              <a:buNone/>
              <a:defRPr/>
            </a:pPr>
            <a:endParaRPr lang="tr-TR" b="1" dirty="0">
              <a:solidFill>
                <a:srgbClr val="FF0000"/>
              </a:solidFill>
              <a:effectLst>
                <a:outerShdw blurRad="38100" dist="38100" dir="2700000" algn="tl">
                  <a:srgbClr val="C0C0C0"/>
                </a:outerShdw>
              </a:effectLst>
              <a:latin typeface="Comic Sans MS" pitchFamily="66" charset="0"/>
            </a:endParaRPr>
          </a:p>
          <a:p>
            <a:pPr eaLnBrk="1" hangingPunct="1">
              <a:lnSpc>
                <a:spcPct val="90000"/>
              </a:lnSpc>
              <a:buFont typeface="Wingdings" pitchFamily="2" charset="2"/>
              <a:buNone/>
              <a:defRPr/>
            </a:pPr>
            <a:endParaRPr lang="tr-TR" b="1" dirty="0">
              <a:solidFill>
                <a:srgbClr val="FF0000"/>
              </a:solidFill>
              <a:effectLst>
                <a:outerShdw blurRad="38100" dist="38100" dir="2700000" algn="tl">
                  <a:srgbClr val="C0C0C0"/>
                </a:outerShdw>
              </a:effectLst>
              <a:latin typeface="Comic Sans MS" pitchFamily="66" charset="0"/>
            </a:endParaRPr>
          </a:p>
          <a:p>
            <a:pPr eaLnBrk="1" hangingPunct="1">
              <a:lnSpc>
                <a:spcPct val="90000"/>
              </a:lnSpc>
              <a:buFont typeface="Wingdings" pitchFamily="2" charset="2"/>
              <a:buNone/>
              <a:defRPr/>
            </a:pPr>
            <a:endParaRPr lang="tr-TR" b="1" dirty="0">
              <a:solidFill>
                <a:srgbClr val="FF0000"/>
              </a:solidFill>
              <a:effectLst>
                <a:outerShdw blurRad="38100" dist="38100" dir="2700000" algn="tl">
                  <a:srgbClr val="C0C0C0"/>
                </a:outerShdw>
              </a:effectLst>
              <a:latin typeface="Comic Sans MS" pitchFamily="66" charset="0"/>
            </a:endParaRPr>
          </a:p>
          <a:p>
            <a:pPr eaLnBrk="1" hangingPunct="1">
              <a:lnSpc>
                <a:spcPct val="90000"/>
              </a:lnSpc>
              <a:buFont typeface="Wingdings" pitchFamily="2" charset="2"/>
              <a:buNone/>
              <a:defRPr/>
            </a:pPr>
            <a:endParaRPr lang="tr-TR" sz="3600" b="1" dirty="0">
              <a:solidFill>
                <a:srgbClr val="FF0000"/>
              </a:solidFill>
              <a:effectLst>
                <a:outerShdw blurRad="38100" dist="38100" dir="2700000" algn="tl">
                  <a:srgbClr val="C0C0C0"/>
                </a:outerShdw>
              </a:effectLst>
              <a:latin typeface="Comic Sans MS" pitchFamily="66" charset="0"/>
            </a:endParaRPr>
          </a:p>
          <a:p>
            <a:pPr algn="ctr" eaLnBrk="1" hangingPunct="1">
              <a:lnSpc>
                <a:spcPct val="90000"/>
              </a:lnSpc>
              <a:buFont typeface="Wingdings" pitchFamily="2" charset="2"/>
              <a:buNone/>
              <a:defRPr/>
            </a:pPr>
            <a:r>
              <a:rPr lang="tr-TR" sz="4400" b="1" dirty="0">
                <a:solidFill>
                  <a:srgbClr val="FF0000"/>
                </a:solidFill>
                <a:effectLst>
                  <a:outerShdw blurRad="38100" dist="38100" dir="2700000" algn="tl">
                    <a:srgbClr val="C0C0C0"/>
                  </a:outerShdw>
                </a:effectLst>
                <a:latin typeface="Comic Sans MS" pitchFamily="66" charset="0"/>
              </a:rPr>
              <a:t>Önyargı:</a:t>
            </a:r>
            <a:r>
              <a:rPr lang="tr-TR" dirty="0">
                <a:latin typeface="Comic Sans MS" pitchFamily="66" charset="0"/>
              </a:rPr>
              <a:t> </a:t>
            </a:r>
          </a:p>
          <a:p>
            <a:pPr eaLnBrk="1" hangingPunct="1">
              <a:lnSpc>
                <a:spcPct val="90000"/>
              </a:lnSpc>
              <a:defRPr/>
            </a:pPr>
            <a:r>
              <a:rPr lang="tr-TR" dirty="0">
                <a:solidFill>
                  <a:srgbClr val="000000"/>
                </a:solidFill>
                <a:latin typeface="Comic Sans MS" pitchFamily="66" charset="0"/>
              </a:rPr>
              <a:t>Kişi eğer ailesinden, okuldan ve öğretmenlerinden etiği öğrenmemişse, </a:t>
            </a:r>
            <a:r>
              <a:rPr lang="tr-TR" b="1" dirty="0">
                <a:solidFill>
                  <a:srgbClr val="000000"/>
                </a:solidFill>
                <a:latin typeface="Comic Sans MS" pitchFamily="66" charset="0"/>
              </a:rPr>
              <a:t>ne yazık ki, artık çok az şey yapılabilir. </a:t>
            </a:r>
          </a:p>
          <a:p>
            <a:pPr eaLnBrk="1" hangingPunct="1">
              <a:lnSpc>
                <a:spcPct val="90000"/>
              </a:lnSpc>
              <a:defRPr/>
            </a:pPr>
            <a:endParaRPr lang="tr-TR" b="1" dirty="0">
              <a:solidFill>
                <a:srgbClr val="000000"/>
              </a:solidFill>
              <a:latin typeface="Comic Sans MS" pitchFamily="66" charset="0"/>
            </a:endParaRPr>
          </a:p>
          <a:p>
            <a:pPr eaLnBrk="1" hangingPunct="1">
              <a:lnSpc>
                <a:spcPct val="90000"/>
              </a:lnSpc>
              <a:defRPr/>
            </a:pPr>
            <a:r>
              <a:rPr lang="tr-TR" dirty="0">
                <a:solidFill>
                  <a:srgbClr val="000000"/>
                </a:solidFill>
                <a:latin typeface="Comic Sans MS" pitchFamily="66" charset="0"/>
              </a:rPr>
              <a:t>Etik problemler “</a:t>
            </a:r>
            <a:r>
              <a:rPr lang="tr-TR" b="1" i="1" dirty="0">
                <a:solidFill>
                  <a:srgbClr val="000000"/>
                </a:solidFill>
                <a:latin typeface="Comic Sans MS" pitchFamily="66" charset="0"/>
              </a:rPr>
              <a:t>çürük elmalar</a:t>
            </a:r>
            <a:r>
              <a:rPr lang="tr-TR" dirty="0">
                <a:solidFill>
                  <a:srgbClr val="000000"/>
                </a:solidFill>
                <a:latin typeface="Comic Sans MS" pitchFamily="66" charset="0"/>
              </a:rPr>
              <a:t>” dan kaynaklanır. İşletmelerde etik olmayan davranışlardan kurtulmanın yolu bu “çürük elmaları” </a:t>
            </a:r>
            <a:r>
              <a:rPr lang="tr-TR" b="1" dirty="0">
                <a:solidFill>
                  <a:srgbClr val="000000"/>
                </a:solidFill>
                <a:latin typeface="Comic Sans MS" pitchFamily="66" charset="0"/>
              </a:rPr>
              <a:t>işletmeden uzaklaştırmakla</a:t>
            </a:r>
            <a:r>
              <a:rPr lang="tr-TR" dirty="0">
                <a:solidFill>
                  <a:srgbClr val="000000"/>
                </a:solidFill>
                <a:latin typeface="Comic Sans MS" pitchFamily="66" charset="0"/>
              </a:rPr>
              <a:t> mümkündür.</a:t>
            </a:r>
          </a:p>
          <a:p>
            <a:pPr eaLnBrk="1" hangingPunct="1">
              <a:lnSpc>
                <a:spcPct val="90000"/>
              </a:lnSpc>
              <a:defRPr/>
            </a:pPr>
            <a:endParaRPr lang="tr-TR" dirty="0">
              <a:latin typeface="Comic Sans MS" pitchFamily="66" charset="0"/>
            </a:endParaRPr>
          </a:p>
        </p:txBody>
      </p:sp>
      <p:pic>
        <p:nvPicPr>
          <p:cNvPr id="21507" name="Picture 6" descr="One bad apple doesn't spoil the whole bunch. A row of green apples. One has a note on it that says 'bad.'"/>
          <p:cNvPicPr>
            <a:picLocks noChangeAspect="1" noChangeArrowheads="1"/>
          </p:cNvPicPr>
          <p:nvPr/>
        </p:nvPicPr>
        <p:blipFill>
          <a:blip r:embed="rId2" cstate="print"/>
          <a:srcRect t="22884" b="32143"/>
          <a:stretch>
            <a:fillRect/>
          </a:stretch>
        </p:blipFill>
        <p:spPr bwMode="auto">
          <a:xfrm>
            <a:off x="3312584" y="692151"/>
            <a:ext cx="5520267" cy="1484313"/>
          </a:xfrm>
          <a:prstGeom prst="rect">
            <a:avLst/>
          </a:prstGeom>
          <a:noFill/>
          <a:ln w="9525">
            <a:solidFill>
              <a:srgbClr val="000000"/>
            </a:solidFill>
            <a:miter lim="800000"/>
            <a:headEnd/>
            <a:tailEnd/>
          </a:ln>
        </p:spPr>
      </p:pic>
      <p:sp>
        <p:nvSpPr>
          <p:cNvPr id="21508" name="WordArt 7"/>
          <p:cNvSpPr>
            <a:spLocks noChangeArrowheads="1" noChangeShapeType="1" noTextEdit="1"/>
          </p:cNvSpPr>
          <p:nvPr/>
        </p:nvSpPr>
        <p:spPr bwMode="auto">
          <a:xfrm>
            <a:off x="1102784" y="404813"/>
            <a:ext cx="9652000" cy="647700"/>
          </a:xfrm>
          <a:prstGeom prst="rect">
            <a:avLst/>
          </a:prstGeom>
        </p:spPr>
        <p:txBody>
          <a:bodyPr spcFirstLastPara="1" wrap="none" fromWordArt="1">
            <a:prstTxWarp prst="textArchUp">
              <a:avLst>
                <a:gd name="adj" fmla="val 10800004"/>
              </a:avLst>
            </a:prstTxWarp>
          </a:bodyPr>
          <a:lstStyle/>
          <a:p>
            <a:pPr algn="ctr"/>
            <a:r>
              <a:rPr lang="tr-TR" sz="3600" kern="10" dirty="0">
                <a:ln w="9525">
                  <a:solidFill>
                    <a:srgbClr val="000000"/>
                  </a:solidFill>
                  <a:round/>
                  <a:headEnd type="none" w="sm" len="sm"/>
                  <a:tailEnd type="none" w="sm" len="sm"/>
                </a:ln>
                <a:solidFill>
                  <a:srgbClr val="000000"/>
                </a:solidFill>
                <a:latin typeface="Arial Black"/>
              </a:rPr>
              <a:t>İŞ ETİĞİ ÖĞRETİLEBİLİR Mİ?</a:t>
            </a:r>
          </a:p>
        </p:txBody>
      </p:sp>
    </p:spTree>
    <p:extLst>
      <p:ext uri="{BB962C8B-B14F-4D97-AF65-F5344CB8AC3E}">
        <p14:creationId xmlns:p14="http://schemas.microsoft.com/office/powerpoint/2010/main" val="4125093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3"/>
          <p:cNvSpPr>
            <a:spLocks noGrp="1" noChangeArrowheads="1"/>
          </p:cNvSpPr>
          <p:nvPr>
            <p:ph sz="quarter" idx="1"/>
          </p:nvPr>
        </p:nvSpPr>
        <p:spPr>
          <a:xfrm>
            <a:off x="1117600" y="2362201"/>
            <a:ext cx="6995584" cy="3724275"/>
          </a:xfrm>
        </p:spPr>
        <p:txBody>
          <a:bodyPr>
            <a:normAutofit/>
          </a:bodyPr>
          <a:lstStyle/>
          <a:p>
            <a:pPr eaLnBrk="1" hangingPunct="1"/>
            <a:r>
              <a:rPr lang="tr-TR" b="1" dirty="0">
                <a:solidFill>
                  <a:srgbClr val="000000"/>
                </a:solidFill>
                <a:latin typeface="Comic Sans MS" pitchFamily="66" charset="0"/>
              </a:rPr>
              <a:t>Çürük elmaları işletmeden uzaklaştırmak</a:t>
            </a:r>
            <a:r>
              <a:rPr lang="tr-TR" dirty="0">
                <a:solidFill>
                  <a:srgbClr val="000000"/>
                </a:solidFill>
                <a:latin typeface="Comic Sans MS" pitchFamily="66" charset="0"/>
              </a:rPr>
              <a:t> işletmenin etik olmayan davranışlar </a:t>
            </a:r>
            <a:r>
              <a:rPr lang="tr-TR">
                <a:solidFill>
                  <a:srgbClr val="000000"/>
                </a:solidFill>
                <a:latin typeface="Comic Sans MS" pitchFamily="66" charset="0"/>
              </a:rPr>
              <a:t>sergilemesini </a:t>
            </a:r>
            <a:r>
              <a:rPr lang="tr-TR" b="1" u="sng">
                <a:solidFill>
                  <a:srgbClr val="FF0000"/>
                </a:solidFill>
                <a:latin typeface="Comic Sans MS" pitchFamily="66" charset="0"/>
              </a:rPr>
              <a:t>önlemez</a:t>
            </a:r>
            <a:r>
              <a:rPr lang="tr-TR" b="1" u="sng" dirty="0">
                <a:solidFill>
                  <a:srgbClr val="000000"/>
                </a:solidFill>
                <a:latin typeface="Comic Sans MS" pitchFamily="66" charset="0"/>
              </a:rPr>
              <a:t>. </a:t>
            </a:r>
          </a:p>
          <a:p>
            <a:pPr eaLnBrk="1" hangingPunct="1">
              <a:buFont typeface="Wingdings" pitchFamily="2" charset="2"/>
              <a:buNone/>
            </a:pPr>
            <a:endParaRPr lang="tr-TR" b="1" u="sng" dirty="0">
              <a:latin typeface="Comic Sans MS" pitchFamily="66" charset="0"/>
            </a:endParaRPr>
          </a:p>
          <a:p>
            <a:pPr eaLnBrk="1" hangingPunct="1"/>
            <a:r>
              <a:rPr lang="tr-TR" dirty="0">
                <a:solidFill>
                  <a:srgbClr val="000000"/>
                </a:solidFill>
                <a:latin typeface="Comic Sans MS" pitchFamily="66" charset="0"/>
              </a:rPr>
              <a:t>Kaldı ki, “</a:t>
            </a:r>
            <a:r>
              <a:rPr lang="tr-TR" b="1" i="1" dirty="0">
                <a:solidFill>
                  <a:srgbClr val="FF0000"/>
                </a:solidFill>
                <a:latin typeface="Comic Sans MS" pitchFamily="66" charset="0"/>
              </a:rPr>
              <a:t>iyi insanlar</a:t>
            </a:r>
            <a:r>
              <a:rPr lang="tr-TR" dirty="0">
                <a:solidFill>
                  <a:srgbClr val="000000"/>
                </a:solidFill>
                <a:latin typeface="Comic Sans MS" pitchFamily="66" charset="0"/>
              </a:rPr>
              <a:t>” da etik olmayan kararlar alabilir. </a:t>
            </a:r>
          </a:p>
        </p:txBody>
      </p:sp>
      <p:pic>
        <p:nvPicPr>
          <p:cNvPr id="22533" name="Picture 17" descr="74103778"/>
          <p:cNvPicPr>
            <a:picLocks noChangeAspect="1" noChangeArrowheads="1"/>
          </p:cNvPicPr>
          <p:nvPr/>
        </p:nvPicPr>
        <p:blipFill>
          <a:blip r:embed="rId2" cstate="print"/>
          <a:srcRect/>
          <a:stretch>
            <a:fillRect/>
          </a:stretch>
        </p:blipFill>
        <p:spPr bwMode="auto">
          <a:xfrm>
            <a:off x="7621466" y="3648936"/>
            <a:ext cx="3861046" cy="2504036"/>
          </a:xfrm>
          <a:prstGeom prst="rect">
            <a:avLst/>
          </a:prstGeom>
          <a:noFill/>
          <a:ln w="38100">
            <a:solidFill>
              <a:srgbClr val="000000"/>
            </a:solidFill>
            <a:miter lim="800000"/>
            <a:headEnd/>
            <a:tailEnd/>
          </a:ln>
        </p:spPr>
      </p:pic>
      <p:sp>
        <p:nvSpPr>
          <p:cNvPr id="22534" name="Oval 18"/>
          <p:cNvSpPr>
            <a:spLocks noChangeArrowheads="1"/>
          </p:cNvSpPr>
          <p:nvPr/>
        </p:nvSpPr>
        <p:spPr bwMode="auto">
          <a:xfrm>
            <a:off x="1488018" y="333375"/>
            <a:ext cx="4032249" cy="1512888"/>
          </a:xfrm>
          <a:prstGeom prst="ellipse">
            <a:avLst/>
          </a:prstGeom>
          <a:solidFill>
            <a:srgbClr val="FFCC00"/>
          </a:solidFill>
          <a:ln w="12700">
            <a:solidFill>
              <a:schemeClr val="tx1"/>
            </a:solidFill>
            <a:round/>
            <a:headEnd type="none" w="sm" len="sm"/>
            <a:tailEnd type="none" w="sm" len="sm"/>
          </a:ln>
        </p:spPr>
        <p:txBody>
          <a:bodyPr wrap="none" anchor="ctr"/>
          <a:lstStyle/>
          <a:p>
            <a:pPr algn="ctr"/>
            <a:r>
              <a:rPr lang="tr-TR" sz="3200" b="1">
                <a:solidFill>
                  <a:srgbClr val="FF0000"/>
                </a:solidFill>
              </a:rPr>
              <a:t>OYSA…</a:t>
            </a:r>
          </a:p>
        </p:txBody>
      </p:sp>
    </p:spTree>
    <p:extLst>
      <p:ext uri="{BB962C8B-B14F-4D97-AF65-F5344CB8AC3E}">
        <p14:creationId xmlns:p14="http://schemas.microsoft.com/office/powerpoint/2010/main" val="2900929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descr="Açık yatay"/>
          <p:cNvSpPr txBox="1">
            <a:spLocks noChangeArrowheads="1"/>
          </p:cNvSpPr>
          <p:nvPr/>
        </p:nvSpPr>
        <p:spPr>
          <a:xfrm>
            <a:off x="2153540" y="1178444"/>
            <a:ext cx="7520300" cy="4735245"/>
          </a:xfrm>
          <a:prstGeom prst="rect">
            <a:avLst/>
          </a:prstGeom>
          <a:pattFill prst="ltHorz">
            <a:fgClr>
              <a:srgbClr val="FFFF00"/>
            </a:fgClr>
            <a:bgClr>
              <a:schemeClr val="bg1"/>
            </a:bgClr>
          </a:pattFill>
          <a:ln w="57150">
            <a:solidFill>
              <a:srgbClr val="000000"/>
            </a:solidFill>
          </a:ln>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tr-TR">
                <a:solidFill>
                  <a:srgbClr val="000000"/>
                </a:solidFill>
                <a:latin typeface="Comic Sans MS" pitchFamily="66" charset="0"/>
              </a:rPr>
              <a:t>Günümüzün karmaşık iş dünyasında etik kararlar almak </a:t>
            </a:r>
            <a:r>
              <a:rPr lang="tr-TR" b="1">
                <a:solidFill>
                  <a:srgbClr val="000000"/>
                </a:solidFill>
                <a:latin typeface="Comic Sans MS" pitchFamily="66" charset="0"/>
              </a:rPr>
              <a:t>kolay bir iş değildir</a:t>
            </a:r>
            <a:r>
              <a:rPr lang="tr-TR">
                <a:solidFill>
                  <a:srgbClr val="000000"/>
                </a:solidFill>
                <a:latin typeface="Comic Sans MS" pitchFamily="66" charset="0"/>
              </a:rPr>
              <a:t>.</a:t>
            </a:r>
          </a:p>
          <a:p>
            <a:endParaRPr lang="tr-TR">
              <a:solidFill>
                <a:srgbClr val="000000"/>
              </a:solidFill>
              <a:latin typeface="Comic Sans MS" pitchFamily="66" charset="0"/>
            </a:endParaRPr>
          </a:p>
          <a:p>
            <a:r>
              <a:rPr lang="tr-TR" b="1">
                <a:solidFill>
                  <a:srgbClr val="000000"/>
                </a:solidFill>
                <a:latin typeface="Comic Sans MS" pitchFamily="66" charset="0"/>
              </a:rPr>
              <a:t>İyi niyet ve iyi terbiye</a:t>
            </a:r>
            <a:r>
              <a:rPr lang="tr-TR">
                <a:solidFill>
                  <a:srgbClr val="000000"/>
                </a:solidFill>
                <a:latin typeface="Comic Sans MS" pitchFamily="66" charset="0"/>
              </a:rPr>
              <a:t> yeterli değildir.</a:t>
            </a:r>
          </a:p>
          <a:p>
            <a:endParaRPr lang="tr-TR">
              <a:solidFill>
                <a:srgbClr val="000000"/>
              </a:solidFill>
              <a:latin typeface="Comic Sans MS" pitchFamily="66" charset="0"/>
            </a:endParaRPr>
          </a:p>
          <a:p>
            <a:r>
              <a:rPr lang="tr-TR" b="1">
                <a:solidFill>
                  <a:srgbClr val="000000"/>
                </a:solidFill>
                <a:latin typeface="Comic Sans MS" pitchFamily="66" charset="0"/>
              </a:rPr>
              <a:t>Spesifik bilgi ve beceri</a:t>
            </a:r>
            <a:r>
              <a:rPr lang="tr-TR">
                <a:solidFill>
                  <a:srgbClr val="000000"/>
                </a:solidFill>
                <a:latin typeface="Comic Sans MS" pitchFamily="66" charset="0"/>
              </a:rPr>
              <a:t> etik kararlar almayı kolaylaştırır. Bu bilgi ve beceriler </a:t>
            </a:r>
            <a:r>
              <a:rPr lang="tr-TR" b="1">
                <a:solidFill>
                  <a:srgbClr val="000000"/>
                </a:solidFill>
                <a:latin typeface="Comic Sans MS" pitchFamily="66" charset="0"/>
              </a:rPr>
              <a:t>öğretilmeli</a:t>
            </a:r>
            <a:r>
              <a:rPr lang="tr-TR">
                <a:solidFill>
                  <a:srgbClr val="000000"/>
                </a:solidFill>
                <a:latin typeface="Comic Sans MS" pitchFamily="66" charset="0"/>
              </a:rPr>
              <a:t> ve </a:t>
            </a:r>
            <a:r>
              <a:rPr lang="tr-TR" b="1">
                <a:solidFill>
                  <a:srgbClr val="000000"/>
                </a:solidFill>
                <a:latin typeface="Comic Sans MS" pitchFamily="66" charset="0"/>
              </a:rPr>
              <a:t>geliştirilmelidir</a:t>
            </a:r>
            <a:r>
              <a:rPr lang="tr-TR">
                <a:solidFill>
                  <a:srgbClr val="000000"/>
                </a:solidFill>
                <a:latin typeface="Comic Sans MS" pitchFamily="66" charset="0"/>
              </a:rPr>
              <a:t>.</a:t>
            </a:r>
            <a:endParaRPr lang="tr-TR" dirty="0">
              <a:solidFill>
                <a:srgbClr val="000000"/>
              </a:solidFill>
              <a:latin typeface="Comic Sans MS" pitchFamily="66" charset="0"/>
            </a:endParaRPr>
          </a:p>
        </p:txBody>
      </p:sp>
    </p:spTree>
    <p:extLst>
      <p:ext uri="{BB962C8B-B14F-4D97-AF65-F5344CB8AC3E}">
        <p14:creationId xmlns:p14="http://schemas.microsoft.com/office/powerpoint/2010/main" val="30914607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AutoShape 2"/>
          <p:cNvSpPr>
            <a:spLocks noGrp="1" noChangeArrowheads="1"/>
          </p:cNvSpPr>
          <p:nvPr>
            <p:ph type="title"/>
          </p:nvPr>
        </p:nvSpPr>
        <p:spPr>
          <a:xfrm>
            <a:off x="287867" y="476251"/>
            <a:ext cx="4559300" cy="1008063"/>
          </a:xfrm>
        </p:spPr>
        <p:txBody>
          <a:bodyPr>
            <a:normAutofit fontScale="90000"/>
          </a:bodyPr>
          <a:lstStyle/>
          <a:p>
            <a:pPr eaLnBrk="1" hangingPunct="1"/>
            <a:r>
              <a:rPr lang="tr-TR" sz="3200" dirty="0">
                <a:solidFill>
                  <a:srgbClr val="FF0000"/>
                </a:solidFill>
                <a:latin typeface="Comic Sans MS" pitchFamily="66" charset="0"/>
              </a:rPr>
              <a:t>Sonuç </a:t>
            </a:r>
            <a:br>
              <a:rPr lang="tr-TR" sz="3200" dirty="0">
                <a:solidFill>
                  <a:srgbClr val="FF0000"/>
                </a:solidFill>
                <a:latin typeface="Comic Sans MS" pitchFamily="66" charset="0"/>
              </a:rPr>
            </a:br>
            <a:r>
              <a:rPr lang="tr-TR" sz="3200" dirty="0">
                <a:solidFill>
                  <a:srgbClr val="FF0000"/>
                </a:solidFill>
                <a:latin typeface="Comic Sans MS" pitchFamily="66" charset="0"/>
              </a:rPr>
              <a:t>olarak…</a:t>
            </a:r>
          </a:p>
        </p:txBody>
      </p:sp>
      <p:sp>
        <p:nvSpPr>
          <p:cNvPr id="43011" name="Rectangle 3" descr="Açık yatay"/>
          <p:cNvSpPr>
            <a:spLocks noGrp="1" noChangeArrowheads="1"/>
          </p:cNvSpPr>
          <p:nvPr>
            <p:ph sz="quarter" idx="1"/>
          </p:nvPr>
        </p:nvSpPr>
        <p:spPr>
          <a:xfrm>
            <a:off x="4542208" y="1236012"/>
            <a:ext cx="6370771" cy="4464034"/>
          </a:xfrm>
          <a:pattFill prst="ltHorz">
            <a:fgClr>
              <a:srgbClr val="FFFF00"/>
            </a:fgClr>
            <a:bgClr>
              <a:schemeClr val="bg1"/>
            </a:bgClr>
          </a:pattFill>
          <a:ln w="57150" cap="flat" algn="ctr">
            <a:solidFill>
              <a:srgbClr val="000000"/>
            </a:solidFill>
          </a:ln>
        </p:spPr>
        <p:txBody>
          <a:bodyPr>
            <a:normAutofit lnSpcReduction="10000"/>
          </a:bodyPr>
          <a:lstStyle/>
          <a:p>
            <a:pPr eaLnBrk="1" hangingPunct="1">
              <a:lnSpc>
                <a:spcPct val="90000"/>
              </a:lnSpc>
            </a:pPr>
            <a:r>
              <a:rPr lang="tr-TR" sz="2400" dirty="0">
                <a:solidFill>
                  <a:srgbClr val="000000"/>
                </a:solidFill>
                <a:latin typeface="Comic Sans MS" pitchFamily="66" charset="0"/>
              </a:rPr>
              <a:t>Etik problemlere tamamen </a:t>
            </a:r>
            <a:r>
              <a:rPr lang="tr-TR" sz="3200" b="1" dirty="0">
                <a:solidFill>
                  <a:srgbClr val="000000"/>
                </a:solidFill>
                <a:latin typeface="Comic Sans MS" pitchFamily="66" charset="0"/>
              </a:rPr>
              <a:t>“çürük elmalar”</a:t>
            </a:r>
            <a:r>
              <a:rPr lang="tr-TR" sz="2400" dirty="0">
                <a:solidFill>
                  <a:srgbClr val="000000"/>
                </a:solidFill>
                <a:latin typeface="Comic Sans MS" pitchFamily="66" charset="0"/>
              </a:rPr>
              <a:t> sebep olmaz.</a:t>
            </a:r>
          </a:p>
          <a:p>
            <a:pPr eaLnBrk="1" hangingPunct="1">
              <a:lnSpc>
                <a:spcPct val="90000"/>
              </a:lnSpc>
            </a:pPr>
            <a:endParaRPr lang="tr-TR" sz="2400" dirty="0">
              <a:solidFill>
                <a:srgbClr val="000000"/>
              </a:solidFill>
              <a:latin typeface="Comic Sans MS" pitchFamily="66" charset="0"/>
            </a:endParaRPr>
          </a:p>
          <a:p>
            <a:pPr eaLnBrk="1" hangingPunct="1">
              <a:lnSpc>
                <a:spcPct val="90000"/>
              </a:lnSpc>
            </a:pPr>
            <a:r>
              <a:rPr lang="tr-TR" b="1" dirty="0">
                <a:solidFill>
                  <a:srgbClr val="000000"/>
                </a:solidFill>
                <a:latin typeface="Comic Sans MS" pitchFamily="66" charset="0"/>
              </a:rPr>
              <a:t>Çalışma ortamı, liderler</a:t>
            </a:r>
            <a:r>
              <a:rPr lang="tr-TR" sz="2400" dirty="0">
                <a:solidFill>
                  <a:srgbClr val="000000"/>
                </a:solidFill>
                <a:latin typeface="Comic Sans MS" pitchFamily="66" charset="0"/>
              </a:rPr>
              <a:t>, </a:t>
            </a:r>
            <a:r>
              <a:rPr lang="tr-TR" b="1" dirty="0">
                <a:solidFill>
                  <a:srgbClr val="000000"/>
                </a:solidFill>
                <a:latin typeface="Comic Sans MS" pitchFamily="66" charset="0"/>
              </a:rPr>
              <a:t>yöneticiler, kültürel şartlar ve çevre</a:t>
            </a:r>
            <a:r>
              <a:rPr lang="tr-TR" sz="2400" dirty="0">
                <a:solidFill>
                  <a:srgbClr val="000000"/>
                </a:solidFill>
                <a:latin typeface="Comic Sans MS" pitchFamily="66" charset="0"/>
              </a:rPr>
              <a:t> etik davranmayı etkileyen önemli kaynaklar arasındadır.</a:t>
            </a:r>
          </a:p>
          <a:p>
            <a:pPr eaLnBrk="1" hangingPunct="1">
              <a:lnSpc>
                <a:spcPct val="90000"/>
              </a:lnSpc>
            </a:pPr>
            <a:endParaRPr lang="tr-TR" sz="2400" dirty="0">
              <a:solidFill>
                <a:srgbClr val="000000"/>
              </a:solidFill>
              <a:latin typeface="Comic Sans MS" pitchFamily="66" charset="0"/>
            </a:endParaRPr>
          </a:p>
          <a:p>
            <a:pPr eaLnBrk="1" hangingPunct="1">
              <a:lnSpc>
                <a:spcPct val="90000"/>
              </a:lnSpc>
            </a:pPr>
            <a:r>
              <a:rPr lang="tr-TR" b="1" dirty="0">
                <a:solidFill>
                  <a:srgbClr val="000000"/>
                </a:solidFill>
                <a:latin typeface="Comic Sans MS" pitchFamily="66" charset="0"/>
              </a:rPr>
              <a:t>Eğitim kurumları ve organizasyonlar</a:t>
            </a:r>
            <a:r>
              <a:rPr lang="tr-TR" sz="2400" dirty="0">
                <a:solidFill>
                  <a:srgbClr val="000000"/>
                </a:solidFill>
                <a:latin typeface="Comic Sans MS" pitchFamily="66" charset="0"/>
              </a:rPr>
              <a:t> bireyleri etik konularda bilgilendirmeli, onlara rehberlik etmelidir.</a:t>
            </a:r>
          </a:p>
          <a:p>
            <a:pPr eaLnBrk="1" hangingPunct="1">
              <a:lnSpc>
                <a:spcPct val="90000"/>
              </a:lnSpc>
            </a:pPr>
            <a:endParaRPr lang="tr-TR" sz="2400" dirty="0">
              <a:latin typeface="Comic Sans MS" pitchFamily="66" charset="0"/>
            </a:endParaRPr>
          </a:p>
        </p:txBody>
      </p:sp>
      <p:pic>
        <p:nvPicPr>
          <p:cNvPr id="43012" name="Picture 5" descr="26044351_fa9bf19dc5">
            <a:hlinkClick r:id="rId2"/>
          </p:cNvPr>
          <p:cNvPicPr>
            <a:picLocks noChangeAspect="1" noChangeArrowheads="1"/>
          </p:cNvPicPr>
          <p:nvPr/>
        </p:nvPicPr>
        <p:blipFill>
          <a:blip r:embed="rId3" cstate="print"/>
          <a:srcRect/>
          <a:stretch>
            <a:fillRect/>
          </a:stretch>
        </p:blipFill>
        <p:spPr bwMode="auto">
          <a:xfrm>
            <a:off x="1333144" y="1484314"/>
            <a:ext cx="2843041" cy="22320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43013" name="Picture 8" descr="my_first_oe"/>
          <p:cNvPicPr>
            <a:picLocks noChangeAspect="1" noChangeArrowheads="1"/>
          </p:cNvPicPr>
          <p:nvPr/>
        </p:nvPicPr>
        <p:blipFill>
          <a:blip r:embed="rId4" cstate="print"/>
          <a:srcRect/>
          <a:stretch>
            <a:fillRect/>
          </a:stretch>
        </p:blipFill>
        <p:spPr bwMode="auto">
          <a:xfrm>
            <a:off x="1632247" y="4149725"/>
            <a:ext cx="2543937" cy="20208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920130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6" name="AutoShape 2"/>
          <p:cNvSpPr>
            <a:spLocks noGrp="1" noChangeArrowheads="1"/>
          </p:cNvSpPr>
          <p:nvPr>
            <p:ph type="title"/>
          </p:nvPr>
        </p:nvSpPr>
        <p:spPr>
          <a:xfrm>
            <a:off x="911424" y="668457"/>
            <a:ext cx="6807200" cy="1143000"/>
          </a:xfrm>
          <a:solidFill>
            <a:srgbClr val="FF3300"/>
          </a:solidFill>
          <a:ln w="38100">
            <a:solidFill>
              <a:srgbClr val="000000"/>
            </a:solidFill>
          </a:ln>
        </p:spPr>
        <p:txBody>
          <a:bodyPr/>
          <a:lstStyle/>
          <a:p>
            <a:pPr eaLnBrk="1" hangingPunct="1"/>
            <a:r>
              <a:rPr lang="tr-TR">
                <a:solidFill>
                  <a:schemeClr val="bg1"/>
                </a:solidFill>
                <a:latin typeface="Comic Sans MS" pitchFamily="66" charset="0"/>
              </a:rPr>
              <a:t>Yaşanmış bir olay…</a:t>
            </a:r>
          </a:p>
        </p:txBody>
      </p:sp>
      <p:sp>
        <p:nvSpPr>
          <p:cNvPr id="23554" name="Rectangle 3"/>
          <p:cNvSpPr>
            <a:spLocks noGrp="1" noChangeArrowheads="1"/>
          </p:cNvSpPr>
          <p:nvPr>
            <p:ph sz="quarter" idx="1"/>
          </p:nvPr>
        </p:nvSpPr>
        <p:spPr>
          <a:xfrm>
            <a:off x="1119498" y="1755205"/>
            <a:ext cx="9238005" cy="4297153"/>
          </a:xfrm>
          <a:solidFill>
            <a:schemeClr val="bg1"/>
          </a:solidFill>
        </p:spPr>
        <p:txBody>
          <a:bodyPr>
            <a:normAutofit lnSpcReduction="10000"/>
          </a:bodyPr>
          <a:lstStyle/>
          <a:p>
            <a:pPr eaLnBrk="1" hangingPunct="1"/>
            <a:endParaRPr lang="tr-TR" sz="2600" dirty="0">
              <a:latin typeface="Comic Sans MS" pitchFamily="66" charset="0"/>
            </a:endParaRPr>
          </a:p>
          <a:p>
            <a:pPr eaLnBrk="1" hangingPunct="1">
              <a:buFont typeface="Wingdings" pitchFamily="2" charset="2"/>
              <a:buNone/>
            </a:pPr>
            <a:r>
              <a:rPr lang="tr-TR" sz="2600" dirty="0">
                <a:latin typeface="Comic Sans MS" pitchFamily="66" charset="0"/>
              </a:rPr>
              <a:t>	</a:t>
            </a:r>
            <a:r>
              <a:rPr lang="tr-TR" sz="2600" b="1" dirty="0">
                <a:solidFill>
                  <a:srgbClr val="000000"/>
                </a:solidFill>
                <a:latin typeface="Comic Sans MS" pitchFamily="66" charset="0"/>
              </a:rPr>
              <a:t>İmalat aşamasında kimyasallar</a:t>
            </a:r>
            <a:r>
              <a:rPr lang="tr-TR" sz="2600" dirty="0">
                <a:solidFill>
                  <a:srgbClr val="000000"/>
                </a:solidFill>
                <a:latin typeface="Comic Sans MS" pitchFamily="66" charset="0"/>
              </a:rPr>
              <a:t> kullanan </a:t>
            </a:r>
            <a:r>
              <a:rPr lang="tr-TR" sz="2600" b="1" dirty="0">
                <a:solidFill>
                  <a:srgbClr val="000000"/>
                </a:solidFill>
                <a:latin typeface="Comic Sans MS" pitchFamily="66" charset="0"/>
              </a:rPr>
              <a:t>orta ölçekli</a:t>
            </a:r>
            <a:r>
              <a:rPr lang="tr-TR" sz="2600" dirty="0">
                <a:solidFill>
                  <a:srgbClr val="000000"/>
                </a:solidFill>
                <a:latin typeface="Comic Sans MS" pitchFamily="66" charset="0"/>
              </a:rPr>
              <a:t> bir firmanın </a:t>
            </a:r>
            <a:r>
              <a:rPr lang="tr-TR" sz="2600" b="1" dirty="0">
                <a:solidFill>
                  <a:srgbClr val="000000"/>
                </a:solidFill>
                <a:latin typeface="Comic Sans MS" pitchFamily="66" charset="0"/>
              </a:rPr>
              <a:t>genel müdürüsünüz</a:t>
            </a:r>
            <a:r>
              <a:rPr lang="tr-TR" sz="2600" dirty="0">
                <a:solidFill>
                  <a:srgbClr val="000000"/>
                </a:solidFill>
                <a:latin typeface="Comic Sans MS" pitchFamily="66" charset="0"/>
              </a:rPr>
              <a:t>. Firmanız, imalat aşamasında </a:t>
            </a:r>
            <a:r>
              <a:rPr lang="tr-TR" sz="2600" i="1" dirty="0">
                <a:solidFill>
                  <a:srgbClr val="000000"/>
                </a:solidFill>
                <a:latin typeface="Comic Sans MS" pitchFamily="66" charset="0"/>
              </a:rPr>
              <a:t>şu an için</a:t>
            </a:r>
            <a:r>
              <a:rPr lang="tr-TR" sz="2600" dirty="0">
                <a:solidFill>
                  <a:srgbClr val="000000"/>
                </a:solidFill>
                <a:latin typeface="Comic Sans MS" pitchFamily="66" charset="0"/>
              </a:rPr>
              <a:t> </a:t>
            </a:r>
            <a:r>
              <a:rPr lang="tr-TR" sz="2600" b="1" dirty="0">
                <a:solidFill>
                  <a:srgbClr val="000000"/>
                </a:solidFill>
                <a:latin typeface="Comic Sans MS" pitchFamily="66" charset="0"/>
              </a:rPr>
              <a:t>EPA tarafından yasaklanmış</a:t>
            </a:r>
            <a:r>
              <a:rPr lang="tr-TR" sz="2600" dirty="0">
                <a:solidFill>
                  <a:srgbClr val="000000"/>
                </a:solidFill>
                <a:latin typeface="Comic Sans MS" pitchFamily="66" charset="0"/>
              </a:rPr>
              <a:t> maddelerden biri kullanılmakta. Söz konusu maddenin </a:t>
            </a:r>
            <a:r>
              <a:rPr lang="tr-TR" sz="2600" b="1" dirty="0">
                <a:solidFill>
                  <a:srgbClr val="000000"/>
                </a:solidFill>
                <a:latin typeface="Comic Sans MS" pitchFamily="66" charset="0"/>
              </a:rPr>
              <a:t>zararlarının anlaşılabilmesi için</a:t>
            </a:r>
            <a:r>
              <a:rPr lang="tr-TR" sz="2600" dirty="0">
                <a:solidFill>
                  <a:srgbClr val="000000"/>
                </a:solidFill>
                <a:latin typeface="Comic Sans MS" pitchFamily="66" charset="0"/>
              </a:rPr>
              <a:t> EPA tarafından yeniden test edilmekte olduğunu biliyorsunuz. Bu testlerin sonuçlarının açıklanması için </a:t>
            </a:r>
            <a:r>
              <a:rPr lang="tr-TR" sz="2600" b="1" dirty="0">
                <a:solidFill>
                  <a:srgbClr val="000000"/>
                </a:solidFill>
                <a:latin typeface="Comic Sans MS" pitchFamily="66" charset="0"/>
              </a:rPr>
              <a:t>3 aylık bir süreye</a:t>
            </a:r>
            <a:r>
              <a:rPr lang="tr-TR" sz="2600" dirty="0">
                <a:solidFill>
                  <a:srgbClr val="000000"/>
                </a:solidFill>
                <a:latin typeface="Comic Sans MS" pitchFamily="66" charset="0"/>
              </a:rPr>
              <a:t> ihtiyaç var. Ancak, bu maddenin onaylanmasını beklemek, </a:t>
            </a:r>
            <a:r>
              <a:rPr lang="tr-TR" sz="2600" b="1" dirty="0">
                <a:solidFill>
                  <a:srgbClr val="000000"/>
                </a:solidFill>
                <a:latin typeface="Comic Sans MS" pitchFamily="66" charset="0"/>
              </a:rPr>
              <a:t>üretimin durması, fabrikanın kapatılması ve yüzlerce işçinin işten çıkarılması</a:t>
            </a:r>
            <a:r>
              <a:rPr lang="tr-TR" sz="2600" dirty="0">
                <a:solidFill>
                  <a:srgbClr val="000000"/>
                </a:solidFill>
                <a:latin typeface="Comic Sans MS" pitchFamily="66" charset="0"/>
              </a:rPr>
              <a:t> anlamına gelmektedir. </a:t>
            </a:r>
          </a:p>
          <a:p>
            <a:pPr eaLnBrk="1" hangingPunct="1">
              <a:buFont typeface="Wingdings" pitchFamily="2" charset="2"/>
              <a:buNone/>
            </a:pPr>
            <a:endParaRPr lang="tr-TR" sz="2600" dirty="0">
              <a:latin typeface="Comic Sans MS" pitchFamily="66" charset="0"/>
            </a:endParaRPr>
          </a:p>
        </p:txBody>
      </p:sp>
      <p:pic>
        <p:nvPicPr>
          <p:cNvPr id="23555" name="Picture 5" descr="jpg_law_justice_003">
            <a:hlinkClick r:id="rId2"/>
          </p:cNvPr>
          <p:cNvPicPr>
            <a:picLocks noChangeAspect="1" noChangeArrowheads="1"/>
          </p:cNvPicPr>
          <p:nvPr/>
        </p:nvPicPr>
        <p:blipFill>
          <a:blip r:embed="rId3" cstate="print"/>
          <a:srcRect/>
          <a:stretch>
            <a:fillRect/>
          </a:stretch>
        </p:blipFill>
        <p:spPr bwMode="auto">
          <a:xfrm>
            <a:off x="10145184" y="1"/>
            <a:ext cx="2046816" cy="1655763"/>
          </a:xfrm>
          <a:prstGeom prst="rect">
            <a:avLst/>
          </a:prstGeom>
          <a:noFill/>
          <a:ln w="9525">
            <a:noFill/>
            <a:miter lim="800000"/>
            <a:headEnd/>
            <a:tailEnd/>
          </a:ln>
        </p:spPr>
      </p:pic>
    </p:spTree>
    <p:extLst>
      <p:ext uri="{BB962C8B-B14F-4D97-AF65-F5344CB8AC3E}">
        <p14:creationId xmlns:p14="http://schemas.microsoft.com/office/powerpoint/2010/main" val="35628068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AutoShape 2"/>
          <p:cNvSpPr>
            <a:spLocks noGrp="1" noChangeArrowheads="1"/>
          </p:cNvSpPr>
          <p:nvPr>
            <p:ph type="title"/>
          </p:nvPr>
        </p:nvSpPr>
        <p:spPr>
          <a:xfrm>
            <a:off x="1162052" y="904876"/>
            <a:ext cx="10265833" cy="931863"/>
          </a:xfrm>
        </p:spPr>
        <p:txBody>
          <a:bodyPr>
            <a:normAutofit/>
          </a:bodyPr>
          <a:lstStyle/>
          <a:p>
            <a:pPr eaLnBrk="1" hangingPunct="1">
              <a:buFont typeface="Wingdings" pitchFamily="2" charset="2"/>
              <a:buNone/>
            </a:pPr>
            <a:r>
              <a:rPr lang="tr-TR" sz="3200" b="1" dirty="0">
                <a:solidFill>
                  <a:srgbClr val="FF0000"/>
                </a:solidFill>
                <a:latin typeface="Comic Sans MS" pitchFamily="66" charset="0"/>
              </a:rPr>
              <a:t>ETİK İKİLEM</a:t>
            </a:r>
          </a:p>
        </p:txBody>
      </p:sp>
      <p:sp>
        <p:nvSpPr>
          <p:cNvPr id="24579" name="Rectangle 3"/>
          <p:cNvSpPr>
            <a:spLocks noGrp="1" noChangeArrowheads="1"/>
          </p:cNvSpPr>
          <p:nvPr>
            <p:ph sz="quarter" idx="1"/>
          </p:nvPr>
        </p:nvSpPr>
        <p:spPr>
          <a:xfrm>
            <a:off x="914400" y="2565400"/>
            <a:ext cx="10363200" cy="3835400"/>
          </a:xfrm>
        </p:spPr>
        <p:txBody>
          <a:bodyPr/>
          <a:lstStyle/>
          <a:p>
            <a:pPr eaLnBrk="1" hangingPunct="1">
              <a:buFont typeface="Wingdings" pitchFamily="2" charset="2"/>
              <a:buChar char="§"/>
            </a:pPr>
            <a:r>
              <a:rPr lang="tr-TR" sz="3200" dirty="0">
                <a:solidFill>
                  <a:srgbClr val="000000"/>
                </a:solidFill>
                <a:latin typeface="Comic Sans MS" pitchFamily="66" charset="0"/>
              </a:rPr>
              <a:t>Birbiri ile </a:t>
            </a:r>
            <a:r>
              <a:rPr lang="tr-TR" sz="3200" b="1" dirty="0">
                <a:solidFill>
                  <a:srgbClr val="000000"/>
                </a:solidFill>
                <a:latin typeface="Comic Sans MS" pitchFamily="66" charset="0"/>
              </a:rPr>
              <a:t>yarışan değerler </a:t>
            </a:r>
            <a:r>
              <a:rPr lang="tr-TR" sz="3200" dirty="0">
                <a:solidFill>
                  <a:srgbClr val="000000"/>
                </a:solidFill>
                <a:latin typeface="Comic Sans MS" pitchFamily="66" charset="0"/>
              </a:rPr>
              <a:t>arasında </a:t>
            </a:r>
            <a:r>
              <a:rPr lang="tr-TR" sz="3200" b="1" dirty="0">
                <a:solidFill>
                  <a:srgbClr val="000000"/>
                </a:solidFill>
                <a:latin typeface="Comic Sans MS" pitchFamily="66" charset="0"/>
              </a:rPr>
              <a:t>hangisini tercih </a:t>
            </a:r>
            <a:r>
              <a:rPr lang="tr-TR" sz="3200" dirty="0">
                <a:solidFill>
                  <a:srgbClr val="000000"/>
                </a:solidFill>
                <a:latin typeface="Comic Sans MS" pitchFamily="66" charset="0"/>
              </a:rPr>
              <a:t>edeceğimiz sorunudur.</a:t>
            </a:r>
          </a:p>
        </p:txBody>
      </p:sp>
      <p:pic>
        <p:nvPicPr>
          <p:cNvPr id="4" name="Picture 4" descr=" "/>
          <p:cNvPicPr>
            <a:picLocks noChangeAspect="1" noChangeArrowheads="1"/>
          </p:cNvPicPr>
          <p:nvPr/>
        </p:nvPicPr>
        <p:blipFill>
          <a:blip r:embed="rId2" cstate="print"/>
          <a:srcRect/>
          <a:stretch>
            <a:fillRect/>
          </a:stretch>
        </p:blipFill>
        <p:spPr bwMode="auto">
          <a:xfrm rot="1432942">
            <a:off x="8403100" y="3361238"/>
            <a:ext cx="2942167" cy="3097212"/>
          </a:xfrm>
          <a:prstGeom prst="rect">
            <a:avLst/>
          </a:prstGeom>
          <a:noFill/>
          <a:ln w="9525">
            <a:noFill/>
            <a:miter lim="800000"/>
            <a:headEnd/>
            <a:tailEnd/>
          </a:ln>
        </p:spPr>
      </p:pic>
    </p:spTree>
    <p:extLst>
      <p:ext uri="{BB962C8B-B14F-4D97-AF65-F5344CB8AC3E}">
        <p14:creationId xmlns:p14="http://schemas.microsoft.com/office/powerpoint/2010/main" val="27471847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64" name="AutoShape 12"/>
          <p:cNvSpPr>
            <a:spLocks noGrp="1" noChangeArrowheads="1"/>
          </p:cNvSpPr>
          <p:nvPr>
            <p:ph type="title"/>
          </p:nvPr>
        </p:nvSpPr>
        <p:spPr>
          <a:xfrm>
            <a:off x="810684" y="1341438"/>
            <a:ext cx="10566400" cy="1143000"/>
          </a:xfrm>
          <a:solidFill>
            <a:srgbClr val="FFFF00"/>
          </a:solidFill>
          <a:ln>
            <a:solidFill>
              <a:srgbClr val="000000"/>
            </a:solidFill>
          </a:ln>
        </p:spPr>
        <p:txBody>
          <a:bodyPr/>
          <a:lstStyle/>
          <a:p>
            <a:pPr algn="ctr" eaLnBrk="1" hangingPunct="1"/>
            <a:r>
              <a:rPr lang="tr-TR" sz="4000">
                <a:solidFill>
                  <a:srgbClr val="000000"/>
                </a:solidFill>
                <a:latin typeface="Comic Sans MS" pitchFamily="66" charset="0"/>
              </a:rPr>
              <a:t>ETİK İKİLEM</a:t>
            </a:r>
          </a:p>
        </p:txBody>
      </p:sp>
      <p:grpSp>
        <p:nvGrpSpPr>
          <p:cNvPr id="2" name="Diagram 5"/>
          <p:cNvGrpSpPr>
            <a:grpSpLocks noChangeAspect="1"/>
          </p:cNvGrpSpPr>
          <p:nvPr/>
        </p:nvGrpSpPr>
        <p:grpSpPr bwMode="auto">
          <a:xfrm>
            <a:off x="1678518" y="2420938"/>
            <a:ext cx="9698567" cy="3600450"/>
            <a:chOff x="1247" y="1525"/>
            <a:chExt cx="3720" cy="2268"/>
          </a:xfrm>
        </p:grpSpPr>
        <p:sp>
          <p:nvSpPr>
            <p:cNvPr id="3" name="Rectangle 23"/>
            <p:cNvSpPr>
              <a:spLocks noChangeArrowheads="1"/>
            </p:cNvSpPr>
            <p:nvPr/>
          </p:nvSpPr>
          <p:spPr bwMode="auto">
            <a:xfrm>
              <a:off x="3424" y="1979"/>
              <a:ext cx="1497" cy="1451"/>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tr-TR" sz="2000" b="1" i="0" u="none" strike="noStrike" cap="none" normalizeH="0" baseline="0">
                  <a:ln>
                    <a:noFill/>
                  </a:ln>
                  <a:solidFill>
                    <a:schemeClr val="tx1"/>
                  </a:solidFill>
                  <a:effectLst/>
                  <a:latin typeface="Arial" panose="020B0604020202020204" pitchFamily="34" charset="0"/>
                  <a:cs typeface="Arial" panose="020B0604020202020204" pitchFamily="34" charset="0"/>
                </a:rPr>
                <a:t>Fabrikayı açık </a:t>
              </a:r>
            </a:p>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tr-TR" sz="2000" b="1" i="0" u="none" strike="noStrike" cap="none" normalizeH="0" baseline="0">
                  <a:ln>
                    <a:noFill/>
                  </a:ln>
                  <a:solidFill>
                    <a:schemeClr val="tx1"/>
                  </a:solidFill>
                  <a:effectLst/>
                  <a:latin typeface="Arial" panose="020B0604020202020204" pitchFamily="34" charset="0"/>
                  <a:cs typeface="Arial" panose="020B0604020202020204" pitchFamily="34" charset="0"/>
                </a:rPr>
                <a:t>Tutmak ve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tr-TR" sz="2000" b="1" i="0" u="none" strike="noStrike" cap="none" normalizeH="0" baseline="0">
                  <a:ln>
                    <a:noFill/>
                  </a:ln>
                  <a:solidFill>
                    <a:schemeClr val="tx1"/>
                  </a:solidFill>
                  <a:effectLst/>
                  <a:latin typeface="Arial" panose="020B0604020202020204" pitchFamily="34" charset="0"/>
                  <a:cs typeface="Arial" panose="020B0604020202020204" pitchFamily="34" charset="0"/>
                </a:rPr>
                <a:t>İşçilerin işten </a:t>
              </a:r>
            </a:p>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tr-TR" sz="2000" b="1" i="0" u="none" strike="noStrike" cap="none" normalizeH="0" baseline="0">
                  <a:ln>
                    <a:noFill/>
                  </a:ln>
                  <a:solidFill>
                    <a:schemeClr val="tx1"/>
                  </a:solidFill>
                  <a:effectLst/>
                  <a:latin typeface="Arial" panose="020B0604020202020204" pitchFamily="34" charset="0"/>
                  <a:cs typeface="Arial" panose="020B0604020202020204" pitchFamily="34" charset="0"/>
                </a:rPr>
                <a:t>çıkarılmasını </a:t>
              </a:r>
            </a:p>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tr-TR" sz="2000" b="1" i="0" u="none" strike="noStrike" cap="none" normalizeH="0" baseline="0">
                  <a:ln>
                    <a:noFill/>
                  </a:ln>
                  <a:solidFill>
                    <a:schemeClr val="tx1"/>
                  </a:solidFill>
                  <a:effectLst/>
                  <a:latin typeface="Arial" panose="020B0604020202020204" pitchFamily="34" charset="0"/>
                  <a:cs typeface="Arial" panose="020B0604020202020204" pitchFamily="34" charset="0"/>
                </a:rPr>
                <a:t>engellemek</a:t>
              </a:r>
              <a:endParaRPr kumimoji="0" lang="tr-TR" altLang="tr-TR" sz="24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grpSp>
      <p:sp>
        <p:nvSpPr>
          <p:cNvPr id="1030" name="Rectangle 21"/>
          <p:cNvSpPr>
            <a:spLocks noChangeArrowheads="1"/>
          </p:cNvSpPr>
          <p:nvPr/>
        </p:nvSpPr>
        <p:spPr bwMode="auto">
          <a:xfrm>
            <a:off x="1775884" y="3068638"/>
            <a:ext cx="3361267" cy="230505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tr-TR" sz="2400" b="1"/>
              <a:t>Kanuna </a:t>
            </a:r>
          </a:p>
          <a:p>
            <a:pPr algn="ctr"/>
            <a:r>
              <a:rPr lang="tr-TR" sz="2400" b="1"/>
              <a:t>harfiyen </a:t>
            </a:r>
          </a:p>
          <a:p>
            <a:pPr algn="ctr"/>
            <a:r>
              <a:rPr lang="tr-TR" sz="2400" b="1"/>
              <a:t>uymak</a:t>
            </a:r>
          </a:p>
          <a:p>
            <a:pPr algn="ctr"/>
            <a:endParaRPr lang="tr-TR" sz="2400"/>
          </a:p>
        </p:txBody>
      </p:sp>
      <p:sp>
        <p:nvSpPr>
          <p:cNvPr id="1031" name="AutoShape 24"/>
          <p:cNvSpPr>
            <a:spLocks noChangeArrowheads="1"/>
          </p:cNvSpPr>
          <p:nvPr/>
        </p:nvSpPr>
        <p:spPr bwMode="auto">
          <a:xfrm>
            <a:off x="5327651" y="3644900"/>
            <a:ext cx="1729316" cy="647700"/>
          </a:xfrm>
          <a:prstGeom prst="leftRightArrow">
            <a:avLst>
              <a:gd name="adj1" fmla="val 50000"/>
              <a:gd name="adj2" fmla="val 40049"/>
            </a:avLst>
          </a:prstGeom>
          <a:solidFill>
            <a:srgbClr val="FF0000"/>
          </a:solidFill>
          <a:ln w="12700">
            <a:solidFill>
              <a:schemeClr val="tx1"/>
            </a:solidFill>
            <a:miter lim="800000"/>
            <a:headEnd type="none" w="sm" len="sm"/>
            <a:tailEnd type="none" w="sm" len="sm"/>
          </a:ln>
        </p:spPr>
        <p:txBody>
          <a:bodyPr wrap="none" anchor="ctr"/>
          <a:lstStyle/>
          <a:p>
            <a:endParaRPr lang="tr-TR"/>
          </a:p>
        </p:txBody>
      </p:sp>
    </p:spTree>
    <p:extLst>
      <p:ext uri="{BB962C8B-B14F-4D97-AF65-F5344CB8AC3E}">
        <p14:creationId xmlns:p14="http://schemas.microsoft.com/office/powerpoint/2010/main" val="2412296983"/>
      </p:ext>
    </p:extLst>
  </p:cSld>
  <p:clrMapOvr>
    <a:masterClrMapping/>
  </p:clrMapOvr>
  <p:transition>
    <p:plu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0364"/>
                                        </p:tgtEl>
                                        <p:attrNameLst>
                                          <p:attrName>style.visibility</p:attrName>
                                        </p:attrNameLst>
                                      </p:cBhvr>
                                      <p:to>
                                        <p:strVal val="visible"/>
                                      </p:to>
                                    </p:set>
                                    <p:anim calcmode="lin" valueType="num">
                                      <p:cBhvr>
                                        <p:cTn id="7" dur="2000" fill="hold"/>
                                        <p:tgtEl>
                                          <p:spTgt spid="100364"/>
                                        </p:tgtEl>
                                        <p:attrNameLst>
                                          <p:attrName>ppt_w</p:attrName>
                                        </p:attrNameLst>
                                      </p:cBhvr>
                                      <p:tavLst>
                                        <p:tav tm="0">
                                          <p:val>
                                            <p:strVal val="#ppt_w"/>
                                          </p:val>
                                        </p:tav>
                                        <p:tav tm="100000">
                                          <p:val>
                                            <p:strVal val="#ppt_w"/>
                                          </p:val>
                                        </p:tav>
                                      </p:tavLst>
                                    </p:anim>
                                    <p:anim calcmode="lin" valueType="num">
                                      <p:cBhvr>
                                        <p:cTn id="8" dur="2000" fill="hold"/>
                                        <p:tgtEl>
                                          <p:spTgt spid="100364"/>
                                        </p:tgtEl>
                                        <p:attrNameLst>
                                          <p:attrName>ppt_h</p:attrName>
                                        </p:attrNameLst>
                                      </p:cBhvr>
                                      <p:tavLst>
                                        <p:tav tm="0">
                                          <p:val>
                                            <p:strVal val="#ppt_h"/>
                                          </p:val>
                                        </p:tav>
                                        <p:tav tm="30000">
                                          <p:val>
                                            <p:strVal val="#ppt_h/2"/>
                                          </p:val>
                                        </p:tav>
                                        <p:tav tm="40000">
                                          <p:val>
                                            <p:strVal val="#ppt_h"/>
                                          </p:val>
                                        </p:tav>
                                        <p:tav tm="50000">
                                          <p:val>
                                            <p:strVal val="#ppt_h/2"/>
                                          </p:val>
                                        </p:tav>
                                        <p:tav tm="60000">
                                          <p:val>
                                            <p:strVal val="#ppt_h"/>
                                          </p:val>
                                        </p:tav>
                                        <p:tav tm="69900">
                                          <p:val>
                                            <p:strVal val="#ppt_h/2"/>
                                          </p:val>
                                        </p:tav>
                                        <p:tav tm="80000">
                                          <p:val>
                                            <p:strVal val="#ppt_h"/>
                                          </p:val>
                                        </p:tav>
                                        <p:tav tm="100000">
                                          <p:val>
                                            <p:strVal val="#ppt_h"/>
                                          </p:val>
                                        </p:tav>
                                      </p:tavLst>
                                    </p:anim>
                                    <p:anim calcmode="lin" valueType="num">
                                      <p:cBhvr>
                                        <p:cTn id="9" dur="2000" fill="hold"/>
                                        <p:tgtEl>
                                          <p:spTgt spid="100364"/>
                                        </p:tgtEl>
                                        <p:attrNameLst>
                                          <p:attrName>ppt_x</p:attrName>
                                        </p:attrNameLst>
                                      </p:cBhvr>
                                      <p:tavLst>
                                        <p:tav tm="0">
                                          <p:val>
                                            <p:strVal val="#ppt_x-.4"/>
                                          </p:val>
                                        </p:tav>
                                        <p:tav tm="100000">
                                          <p:val>
                                            <p:strVal val="#ppt_x"/>
                                          </p:val>
                                        </p:tav>
                                      </p:tavLst>
                                    </p:anim>
                                    <p:anim calcmode="lin" valueType="num">
                                      <p:cBhvr>
                                        <p:cTn id="10" dur="2000" fill="hold"/>
                                        <p:tgtEl>
                                          <p:spTgt spid="100364"/>
                                        </p:tgtEl>
                                        <p:attrNameLst>
                                          <p:attrName>ppt_y</p:attrName>
                                        </p:attrNameLst>
                                      </p:cBhvr>
                                      <p:tavLst>
                                        <p:tav tm="0">
                                          <p:val>
                                            <p:strVal val="#ppt_y-.5"/>
                                          </p:val>
                                        </p:tav>
                                        <p:tav tm="20000">
                                          <p:val>
                                            <p:strVal val="#ppt_y-.2"/>
                                          </p:val>
                                        </p:tav>
                                        <p:tav tm="30000">
                                          <p:val>
                                            <p:strVal val="#ppt_y"/>
                                          </p:val>
                                        </p:tav>
                                        <p:tav tm="40000">
                                          <p:val>
                                            <p:strVal val="#ppt_y-.15"/>
                                          </p:val>
                                        </p:tav>
                                        <p:tav tm="50000">
                                          <p:val>
                                            <p:strVal val="#ppt_y"/>
                                          </p:val>
                                        </p:tav>
                                        <p:tav tm="60000">
                                          <p:val>
                                            <p:strVal val="#ppt_y-.1"/>
                                          </p:val>
                                        </p:tav>
                                        <p:tav tm="69900">
                                          <p:val>
                                            <p:strVal val="#ppt_y"/>
                                          </p:val>
                                        </p:tav>
                                        <p:tav tm="8000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64" grpId="0" animBg="1"/>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AutoShape 2"/>
          <p:cNvSpPr>
            <a:spLocks noGrp="1" noChangeArrowheads="1"/>
          </p:cNvSpPr>
          <p:nvPr>
            <p:ph type="title"/>
          </p:nvPr>
        </p:nvSpPr>
        <p:spPr>
          <a:xfrm>
            <a:off x="1016001" y="630238"/>
            <a:ext cx="6904567" cy="1143000"/>
          </a:xfrm>
          <a:solidFill>
            <a:srgbClr val="FF0000"/>
          </a:solidFill>
          <a:ln>
            <a:solidFill>
              <a:srgbClr val="000000"/>
            </a:solidFill>
          </a:ln>
        </p:spPr>
        <p:txBody>
          <a:bodyPr/>
          <a:lstStyle/>
          <a:p>
            <a:pPr eaLnBrk="1" hangingPunct="1"/>
            <a:r>
              <a:rPr lang="tr-TR">
                <a:solidFill>
                  <a:schemeClr val="bg1"/>
                </a:solidFill>
                <a:latin typeface="Comic Sans MS" pitchFamily="66" charset="0"/>
              </a:rPr>
              <a:t>Etik Eğitim </a:t>
            </a:r>
          </a:p>
        </p:txBody>
      </p:sp>
      <p:sp>
        <p:nvSpPr>
          <p:cNvPr id="25603" name="Rectangle 3"/>
          <p:cNvSpPr>
            <a:spLocks noGrp="1" noChangeArrowheads="1"/>
          </p:cNvSpPr>
          <p:nvPr>
            <p:ph sz="quarter" idx="1"/>
          </p:nvPr>
        </p:nvSpPr>
        <p:spPr>
          <a:xfrm>
            <a:off x="816864" y="2348880"/>
            <a:ext cx="10871200" cy="3747120"/>
          </a:xfrm>
        </p:spPr>
        <p:txBody>
          <a:bodyPr/>
          <a:lstStyle/>
          <a:p>
            <a:pPr eaLnBrk="1" hangingPunct="1"/>
            <a:r>
              <a:rPr lang="tr-TR" sz="3200" dirty="0">
                <a:solidFill>
                  <a:srgbClr val="000000"/>
                </a:solidFill>
                <a:latin typeface="Comic Sans MS" pitchFamily="66" charset="0"/>
              </a:rPr>
              <a:t>Etik problemleri tahmin etmede ve etik </a:t>
            </a:r>
            <a:r>
              <a:rPr lang="tr-TR" sz="3200" b="1" dirty="0">
                <a:solidFill>
                  <a:srgbClr val="FF3300"/>
                </a:solidFill>
                <a:latin typeface="Comic Sans MS" pitchFamily="66" charset="0"/>
              </a:rPr>
              <a:t>ikilemleri tanımada donanım</a:t>
            </a:r>
            <a:r>
              <a:rPr lang="tr-TR" sz="3200" dirty="0">
                <a:latin typeface="Comic Sans MS" pitchFamily="66" charset="0"/>
              </a:rPr>
              <a:t> </a:t>
            </a:r>
            <a:r>
              <a:rPr lang="tr-TR" sz="3200" dirty="0">
                <a:solidFill>
                  <a:srgbClr val="000000"/>
                </a:solidFill>
                <a:latin typeface="Comic Sans MS" pitchFamily="66" charset="0"/>
              </a:rPr>
              <a:t>sağlar</a:t>
            </a:r>
            <a:r>
              <a:rPr lang="tr-TR" sz="3200" dirty="0">
                <a:latin typeface="Comic Sans MS" pitchFamily="66" charset="0"/>
              </a:rPr>
              <a:t>.</a:t>
            </a:r>
          </a:p>
          <a:p>
            <a:pPr eaLnBrk="1" hangingPunct="1"/>
            <a:endParaRPr lang="tr-TR" sz="3200" dirty="0">
              <a:latin typeface="Comic Sans MS" pitchFamily="66" charset="0"/>
            </a:endParaRPr>
          </a:p>
          <a:p>
            <a:pPr eaLnBrk="1" hangingPunct="1"/>
            <a:r>
              <a:rPr lang="tr-TR" sz="3200" dirty="0">
                <a:solidFill>
                  <a:srgbClr val="000000"/>
                </a:solidFill>
                <a:latin typeface="Comic Sans MS" pitchFamily="66" charset="0"/>
              </a:rPr>
              <a:t>Her işletmenin birbirinden farklı olduğu iş dünyasında </a:t>
            </a:r>
            <a:r>
              <a:rPr lang="tr-TR" sz="3200" dirty="0">
                <a:latin typeface="Comic Sans MS" pitchFamily="66" charset="0"/>
              </a:rPr>
              <a:t>“</a:t>
            </a:r>
            <a:r>
              <a:rPr lang="tr-TR" sz="3200" b="1" dirty="0">
                <a:solidFill>
                  <a:srgbClr val="FF0000"/>
                </a:solidFill>
                <a:latin typeface="Comic Sans MS" pitchFamily="66" charset="0"/>
              </a:rPr>
              <a:t>en doğruya</a:t>
            </a:r>
            <a:r>
              <a:rPr lang="tr-TR" sz="3200" dirty="0">
                <a:latin typeface="Comic Sans MS" pitchFamily="66" charset="0"/>
              </a:rPr>
              <a:t>” </a:t>
            </a:r>
            <a:r>
              <a:rPr lang="tr-TR" sz="3200" dirty="0">
                <a:solidFill>
                  <a:srgbClr val="000000"/>
                </a:solidFill>
                <a:latin typeface="Comic Sans MS" pitchFamily="66" charset="0"/>
              </a:rPr>
              <a:t>ulaşmamız konusunda bize destek olur.</a:t>
            </a:r>
          </a:p>
        </p:txBody>
      </p:sp>
      <p:pic>
        <p:nvPicPr>
          <p:cNvPr id="25604" name="Picture 7" descr="bs01001_"/>
          <p:cNvPicPr>
            <a:picLocks noChangeAspect="1" noChangeArrowheads="1"/>
          </p:cNvPicPr>
          <p:nvPr/>
        </p:nvPicPr>
        <p:blipFill>
          <a:blip r:embed="rId2" cstate="print"/>
          <a:srcRect/>
          <a:stretch>
            <a:fillRect/>
          </a:stretch>
        </p:blipFill>
        <p:spPr bwMode="auto">
          <a:xfrm>
            <a:off x="8072949" y="0"/>
            <a:ext cx="3888316" cy="2446338"/>
          </a:xfrm>
          <a:prstGeom prst="rect">
            <a:avLst/>
          </a:prstGeom>
          <a:noFill/>
          <a:ln w="9525">
            <a:noFill/>
            <a:miter lim="800000"/>
            <a:headEnd/>
            <a:tailEnd/>
          </a:ln>
        </p:spPr>
      </p:pic>
    </p:spTree>
    <p:extLst>
      <p:ext uri="{BB962C8B-B14F-4D97-AF65-F5344CB8AC3E}">
        <p14:creationId xmlns:p14="http://schemas.microsoft.com/office/powerpoint/2010/main" val="10892806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AutoShape 2"/>
          <p:cNvSpPr>
            <a:spLocks noChangeArrowheads="1"/>
          </p:cNvSpPr>
          <p:nvPr/>
        </p:nvSpPr>
        <p:spPr bwMode="auto">
          <a:xfrm>
            <a:off x="1968501" y="3141663"/>
            <a:ext cx="3263900" cy="863600"/>
          </a:xfrm>
          <a:prstGeom prst="roundRect">
            <a:avLst>
              <a:gd name="adj" fmla="val 16667"/>
            </a:avLst>
          </a:prstGeom>
          <a:solidFill>
            <a:srgbClr val="000000"/>
          </a:solidFill>
          <a:ln w="12700">
            <a:solidFill>
              <a:schemeClr val="tx1"/>
            </a:solidFill>
            <a:round/>
            <a:headEnd type="none" w="sm" len="sm"/>
            <a:tailEnd type="none" w="sm" len="sm"/>
          </a:ln>
        </p:spPr>
        <p:txBody>
          <a:bodyPr wrap="none" anchor="ctr"/>
          <a:lstStyle/>
          <a:p>
            <a:pPr algn="ctr"/>
            <a:r>
              <a:rPr lang="tr-TR" sz="2400" b="1">
                <a:solidFill>
                  <a:schemeClr val="bg1"/>
                </a:solidFill>
              </a:rPr>
              <a:t>Kişisel </a:t>
            </a:r>
          </a:p>
          <a:p>
            <a:pPr algn="ctr"/>
            <a:r>
              <a:rPr lang="tr-TR" sz="2400" b="1">
                <a:solidFill>
                  <a:schemeClr val="bg1"/>
                </a:solidFill>
              </a:rPr>
              <a:t>Ahlak</a:t>
            </a:r>
          </a:p>
        </p:txBody>
      </p:sp>
      <p:sp>
        <p:nvSpPr>
          <p:cNvPr id="26627" name="AutoShape 3"/>
          <p:cNvSpPr>
            <a:spLocks noChangeArrowheads="1"/>
          </p:cNvSpPr>
          <p:nvPr/>
        </p:nvSpPr>
        <p:spPr bwMode="auto">
          <a:xfrm>
            <a:off x="1968501" y="4437064"/>
            <a:ext cx="3263900" cy="936625"/>
          </a:xfrm>
          <a:prstGeom prst="roundRect">
            <a:avLst>
              <a:gd name="adj" fmla="val 16667"/>
            </a:avLst>
          </a:prstGeom>
          <a:solidFill>
            <a:srgbClr val="000000"/>
          </a:solidFill>
          <a:ln w="12700">
            <a:solidFill>
              <a:schemeClr val="tx1"/>
            </a:solidFill>
            <a:round/>
            <a:headEnd type="none" w="sm" len="sm"/>
            <a:tailEnd type="none" w="sm" len="sm"/>
          </a:ln>
        </p:spPr>
        <p:txBody>
          <a:bodyPr wrap="none" anchor="ctr"/>
          <a:lstStyle/>
          <a:p>
            <a:pPr algn="ctr"/>
            <a:r>
              <a:rPr lang="tr-TR" sz="2400" b="1" dirty="0">
                <a:solidFill>
                  <a:schemeClr val="bg1"/>
                </a:solidFill>
              </a:rPr>
              <a:t>İşletme</a:t>
            </a:r>
          </a:p>
          <a:p>
            <a:pPr algn="ctr"/>
            <a:r>
              <a:rPr lang="tr-TR" sz="2400" b="1" dirty="0">
                <a:solidFill>
                  <a:schemeClr val="bg1"/>
                </a:solidFill>
              </a:rPr>
              <a:t> özellikleri</a:t>
            </a:r>
            <a:r>
              <a:rPr lang="tr-TR" b="1" dirty="0">
                <a:solidFill>
                  <a:schemeClr val="bg1"/>
                </a:solidFill>
              </a:rPr>
              <a:t> </a:t>
            </a:r>
          </a:p>
        </p:txBody>
      </p:sp>
      <p:sp>
        <p:nvSpPr>
          <p:cNvPr id="26628" name="AutoShape 4"/>
          <p:cNvSpPr>
            <a:spLocks noChangeArrowheads="1"/>
          </p:cNvSpPr>
          <p:nvPr/>
        </p:nvSpPr>
        <p:spPr bwMode="auto">
          <a:xfrm>
            <a:off x="7823200" y="3357563"/>
            <a:ext cx="3744384" cy="1079500"/>
          </a:xfrm>
          <a:prstGeom prst="roundRect">
            <a:avLst>
              <a:gd name="adj" fmla="val 16667"/>
            </a:avLst>
          </a:prstGeom>
          <a:solidFill>
            <a:srgbClr val="FF3300"/>
          </a:solidFill>
          <a:ln w="12700">
            <a:solidFill>
              <a:schemeClr val="tx1"/>
            </a:solidFill>
            <a:round/>
            <a:headEnd type="none" w="sm" len="sm"/>
            <a:tailEnd type="none" w="sm" len="sm"/>
          </a:ln>
        </p:spPr>
        <p:txBody>
          <a:bodyPr wrap="none" anchor="ctr"/>
          <a:lstStyle/>
          <a:p>
            <a:pPr algn="ctr"/>
            <a:r>
              <a:rPr lang="tr-TR" sz="2000" b="1" dirty="0">
                <a:solidFill>
                  <a:schemeClr val="bg1"/>
                </a:solidFill>
              </a:rPr>
              <a:t>İş etiğine</a:t>
            </a:r>
          </a:p>
          <a:p>
            <a:pPr algn="ctr"/>
            <a:r>
              <a:rPr lang="tr-TR" sz="2000" b="1" dirty="0">
                <a:solidFill>
                  <a:schemeClr val="bg1"/>
                </a:solidFill>
              </a:rPr>
              <a:t>uygun ya da uygun</a:t>
            </a:r>
          </a:p>
          <a:p>
            <a:pPr algn="ctr"/>
            <a:r>
              <a:rPr lang="tr-TR" sz="2000" b="1" dirty="0">
                <a:solidFill>
                  <a:schemeClr val="bg1"/>
                </a:solidFill>
              </a:rPr>
              <a:t>olmayan davranış</a:t>
            </a:r>
          </a:p>
        </p:txBody>
      </p:sp>
      <p:sp>
        <p:nvSpPr>
          <p:cNvPr id="26629" name="AutoShape 5"/>
          <p:cNvSpPr>
            <a:spLocks noChangeArrowheads="1"/>
          </p:cNvSpPr>
          <p:nvPr/>
        </p:nvSpPr>
        <p:spPr bwMode="auto">
          <a:xfrm rot="2552492">
            <a:off x="5412317" y="2565401"/>
            <a:ext cx="2199216" cy="442913"/>
          </a:xfrm>
          <a:prstGeom prst="rightArrow">
            <a:avLst>
              <a:gd name="adj1" fmla="val 50000"/>
              <a:gd name="adj2" fmla="val 93100"/>
            </a:avLst>
          </a:prstGeom>
          <a:solidFill>
            <a:srgbClr val="3399FF"/>
          </a:solidFill>
          <a:ln w="12700">
            <a:solidFill>
              <a:schemeClr val="tx1"/>
            </a:solidFill>
            <a:miter lim="800000"/>
            <a:headEnd type="none" w="sm" len="sm"/>
            <a:tailEnd type="none" w="sm" len="sm"/>
          </a:ln>
        </p:spPr>
        <p:txBody>
          <a:bodyPr wrap="none" anchor="ctr"/>
          <a:lstStyle/>
          <a:p>
            <a:endParaRPr lang="tr-TR"/>
          </a:p>
        </p:txBody>
      </p:sp>
      <p:sp>
        <p:nvSpPr>
          <p:cNvPr id="26630" name="AutoShape 6"/>
          <p:cNvSpPr>
            <a:spLocks noChangeArrowheads="1"/>
          </p:cNvSpPr>
          <p:nvPr/>
        </p:nvSpPr>
        <p:spPr bwMode="auto">
          <a:xfrm rot="-1593452">
            <a:off x="5435600" y="4416426"/>
            <a:ext cx="2269067" cy="442913"/>
          </a:xfrm>
          <a:prstGeom prst="rightArrow">
            <a:avLst>
              <a:gd name="adj1" fmla="val 50000"/>
              <a:gd name="adj2" fmla="val 96057"/>
            </a:avLst>
          </a:prstGeom>
          <a:solidFill>
            <a:srgbClr val="3399FF"/>
          </a:solidFill>
          <a:ln w="12700">
            <a:solidFill>
              <a:schemeClr val="tx1"/>
            </a:solidFill>
            <a:miter lim="800000"/>
            <a:headEnd type="none" w="sm" len="sm"/>
            <a:tailEnd type="none" w="sm" len="sm"/>
          </a:ln>
        </p:spPr>
        <p:txBody>
          <a:bodyPr wrap="none" anchor="ctr"/>
          <a:lstStyle/>
          <a:p>
            <a:endParaRPr lang="tr-TR"/>
          </a:p>
        </p:txBody>
      </p:sp>
      <p:sp>
        <p:nvSpPr>
          <p:cNvPr id="26631" name="WordArt 7"/>
          <p:cNvSpPr>
            <a:spLocks noChangeArrowheads="1" noChangeShapeType="1" noTextEdit="1"/>
          </p:cNvSpPr>
          <p:nvPr/>
        </p:nvSpPr>
        <p:spPr bwMode="auto">
          <a:xfrm>
            <a:off x="1390651" y="765175"/>
            <a:ext cx="9889067" cy="863600"/>
          </a:xfrm>
          <a:prstGeom prst="rect">
            <a:avLst/>
          </a:prstGeom>
        </p:spPr>
        <p:txBody>
          <a:bodyPr wrap="none" fromWordArt="1">
            <a:prstTxWarp prst="textPlain">
              <a:avLst>
                <a:gd name="adj" fmla="val 50000"/>
              </a:avLst>
            </a:prstTxWarp>
          </a:bodyPr>
          <a:lstStyle/>
          <a:p>
            <a:pPr algn="ctr"/>
            <a:r>
              <a:rPr lang="tr-TR" sz="3600" kern="10" dirty="0">
                <a:ln w="9525">
                  <a:noFill/>
                  <a:round/>
                  <a:headEnd type="none" w="sm" len="sm"/>
                  <a:tailEnd type="none" w="sm" len="sm"/>
                </a:ln>
                <a:solidFill>
                  <a:srgbClr val="FF0000"/>
                </a:solidFill>
                <a:effectLst>
                  <a:outerShdw dist="45791" dir="2021404" algn="ctr" rotWithShape="0">
                    <a:srgbClr val="B2B2B2">
                      <a:alpha val="79999"/>
                    </a:srgbClr>
                  </a:outerShdw>
                </a:effectLst>
                <a:latin typeface="Times New Roman"/>
                <a:cs typeface="Times New Roman"/>
              </a:rPr>
              <a:t>Etik davranış şu faktörden etkilenir</a:t>
            </a:r>
          </a:p>
        </p:txBody>
      </p:sp>
      <p:sp>
        <p:nvSpPr>
          <p:cNvPr id="26632" name="AutoShape 8"/>
          <p:cNvSpPr>
            <a:spLocks noChangeArrowheads="1"/>
          </p:cNvSpPr>
          <p:nvPr/>
        </p:nvSpPr>
        <p:spPr bwMode="auto">
          <a:xfrm>
            <a:off x="1871134" y="1773238"/>
            <a:ext cx="3263900" cy="863600"/>
          </a:xfrm>
          <a:prstGeom prst="roundRect">
            <a:avLst>
              <a:gd name="adj" fmla="val 16667"/>
            </a:avLst>
          </a:prstGeom>
          <a:solidFill>
            <a:srgbClr val="000000"/>
          </a:solidFill>
          <a:ln w="12700">
            <a:solidFill>
              <a:schemeClr val="tx1"/>
            </a:solidFill>
            <a:round/>
            <a:headEnd type="none" w="sm" len="sm"/>
            <a:tailEnd type="none" w="sm" len="sm"/>
          </a:ln>
        </p:spPr>
        <p:txBody>
          <a:bodyPr wrap="none" anchor="ctr"/>
          <a:lstStyle/>
          <a:p>
            <a:pPr algn="ctr"/>
            <a:r>
              <a:rPr lang="tr-TR" sz="2400" b="1">
                <a:solidFill>
                  <a:schemeClr val="bg1"/>
                </a:solidFill>
              </a:rPr>
              <a:t>Sosyal </a:t>
            </a:r>
          </a:p>
          <a:p>
            <a:pPr algn="ctr"/>
            <a:r>
              <a:rPr lang="tr-TR" sz="2400" b="1">
                <a:solidFill>
                  <a:schemeClr val="bg1"/>
                </a:solidFill>
              </a:rPr>
              <a:t>çevre</a:t>
            </a:r>
            <a:r>
              <a:rPr lang="tr-TR">
                <a:solidFill>
                  <a:schemeClr val="bg1"/>
                </a:solidFill>
              </a:rPr>
              <a:t> </a:t>
            </a:r>
          </a:p>
        </p:txBody>
      </p:sp>
      <p:sp>
        <p:nvSpPr>
          <p:cNvPr id="26633" name="Rectangle 9"/>
          <p:cNvSpPr>
            <a:spLocks noChangeArrowheads="1"/>
          </p:cNvSpPr>
          <p:nvPr/>
        </p:nvSpPr>
        <p:spPr bwMode="auto">
          <a:xfrm>
            <a:off x="4271434" y="5833840"/>
            <a:ext cx="1840119" cy="538609"/>
          </a:xfrm>
          <a:prstGeom prst="rect">
            <a:avLst/>
          </a:prstGeom>
          <a:noFill/>
          <a:ln w="12700">
            <a:noFill/>
            <a:miter lim="800000"/>
            <a:headEnd type="none" w="sm" len="sm"/>
            <a:tailEnd type="none" w="sm" len="sm"/>
          </a:ln>
        </p:spPr>
        <p:txBody>
          <a:bodyPr wrap="none" bIns="0" anchor="ctr">
            <a:spAutoFit/>
          </a:bodyPr>
          <a:lstStyle/>
          <a:p>
            <a:r>
              <a:rPr lang="tr-TR" sz="1600" i="1"/>
              <a:t>TÜGİYAD,1992, S.8</a:t>
            </a:r>
          </a:p>
          <a:p>
            <a:pPr eaLnBrk="0" hangingPunct="0"/>
            <a:endParaRPr lang="tr-TR" sz="1600"/>
          </a:p>
        </p:txBody>
      </p:sp>
      <p:sp>
        <p:nvSpPr>
          <p:cNvPr id="26634" name="AutoShape 11"/>
          <p:cNvSpPr>
            <a:spLocks noChangeArrowheads="1"/>
          </p:cNvSpPr>
          <p:nvPr/>
        </p:nvSpPr>
        <p:spPr bwMode="auto">
          <a:xfrm>
            <a:off x="5422901" y="3500438"/>
            <a:ext cx="2199217" cy="442912"/>
          </a:xfrm>
          <a:prstGeom prst="rightArrow">
            <a:avLst>
              <a:gd name="adj1" fmla="val 50000"/>
              <a:gd name="adj2" fmla="val 93100"/>
            </a:avLst>
          </a:prstGeom>
          <a:solidFill>
            <a:srgbClr val="3399FF"/>
          </a:solidFill>
          <a:ln w="12700">
            <a:solidFill>
              <a:schemeClr val="tx1"/>
            </a:solidFill>
            <a:miter lim="800000"/>
            <a:headEnd type="none" w="sm" len="sm"/>
            <a:tailEnd type="none" w="sm" len="sm"/>
          </a:ln>
        </p:spPr>
        <p:txBody>
          <a:bodyPr wrap="none" anchor="ctr"/>
          <a:lstStyle/>
          <a:p>
            <a:endParaRPr lang="tr-TR"/>
          </a:p>
        </p:txBody>
      </p:sp>
    </p:spTree>
    <p:extLst>
      <p:ext uri="{BB962C8B-B14F-4D97-AF65-F5344CB8AC3E}">
        <p14:creationId xmlns:p14="http://schemas.microsoft.com/office/powerpoint/2010/main" val="32310715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AutoShape 2"/>
          <p:cNvSpPr>
            <a:spLocks noGrp="1" noChangeArrowheads="1"/>
          </p:cNvSpPr>
          <p:nvPr>
            <p:ph type="title"/>
          </p:nvPr>
        </p:nvSpPr>
        <p:spPr>
          <a:xfrm>
            <a:off x="527382" y="620690"/>
            <a:ext cx="11287852" cy="792087"/>
          </a:xfrm>
        </p:spPr>
        <p:txBody>
          <a:bodyPr>
            <a:normAutofit fontScale="90000"/>
          </a:bodyPr>
          <a:lstStyle/>
          <a:p>
            <a:pPr algn="r" eaLnBrk="1" hangingPunct="1">
              <a:buFont typeface="Wingdings" pitchFamily="2" charset="2"/>
              <a:buNone/>
            </a:pPr>
            <a:r>
              <a:rPr lang="tr-TR" sz="2400" dirty="0">
                <a:solidFill>
                  <a:srgbClr val="FF3300"/>
                </a:solidFill>
                <a:latin typeface="Comic Sans MS" pitchFamily="66" charset="0"/>
              </a:rPr>
              <a:t>NEDEN ETİK DAVRANMALIYIZ? </a:t>
            </a:r>
            <a:br>
              <a:rPr lang="tr-TR" sz="2400" dirty="0">
                <a:solidFill>
                  <a:srgbClr val="FF3300"/>
                </a:solidFill>
                <a:latin typeface="Comic Sans MS" pitchFamily="66" charset="0"/>
              </a:rPr>
            </a:br>
            <a:r>
              <a:rPr lang="tr-TR" sz="2400" dirty="0">
                <a:solidFill>
                  <a:schemeClr val="hlink"/>
                </a:solidFill>
                <a:latin typeface="Comic Sans MS" pitchFamily="66" charset="0"/>
              </a:rPr>
              <a:t>(Kurum açısından)</a:t>
            </a:r>
          </a:p>
        </p:txBody>
      </p:sp>
      <p:sp>
        <p:nvSpPr>
          <p:cNvPr id="32772" name="Rectangle 3"/>
          <p:cNvSpPr>
            <a:spLocks noGrp="1" noChangeArrowheads="1"/>
          </p:cNvSpPr>
          <p:nvPr>
            <p:ph sz="quarter" idx="1"/>
          </p:nvPr>
        </p:nvSpPr>
        <p:spPr>
          <a:xfrm>
            <a:off x="814918" y="1556792"/>
            <a:ext cx="7105285" cy="5112568"/>
          </a:xfrm>
        </p:spPr>
        <p:txBody>
          <a:bodyPr/>
          <a:lstStyle/>
          <a:p>
            <a:pPr eaLnBrk="1" hangingPunct="1">
              <a:lnSpc>
                <a:spcPct val="80000"/>
              </a:lnSpc>
              <a:buClr>
                <a:srgbClr val="000000"/>
              </a:buClr>
              <a:buFont typeface="Wingdings" pitchFamily="2" charset="2"/>
              <a:buChar char="§"/>
            </a:pPr>
            <a:r>
              <a:rPr lang="tr-TR" dirty="0">
                <a:solidFill>
                  <a:srgbClr val="000000"/>
                </a:solidFill>
                <a:latin typeface="Comic Sans MS" pitchFamily="66" charset="0"/>
                <a:cs typeface="Times New Roman" pitchFamily="18" charset="0"/>
              </a:rPr>
              <a:t>Güçlü bir </a:t>
            </a:r>
            <a:r>
              <a:rPr lang="tr-TR" b="1" dirty="0">
                <a:solidFill>
                  <a:srgbClr val="0070C0"/>
                </a:solidFill>
                <a:latin typeface="Comic Sans MS" pitchFamily="66" charset="0"/>
                <a:cs typeface="Times New Roman" pitchFamily="18" charset="0"/>
              </a:rPr>
              <a:t>kamu imajı</a:t>
            </a:r>
            <a:r>
              <a:rPr lang="tr-TR" dirty="0">
                <a:solidFill>
                  <a:srgbClr val="0070C0"/>
                </a:solidFill>
                <a:latin typeface="Comic Sans MS" pitchFamily="66" charset="0"/>
                <a:cs typeface="Times New Roman" pitchFamily="18" charset="0"/>
              </a:rPr>
              <a:t>  </a:t>
            </a:r>
            <a:r>
              <a:rPr lang="tr-TR" dirty="0">
                <a:solidFill>
                  <a:srgbClr val="000000"/>
                </a:solidFill>
                <a:latin typeface="Comic Sans MS" pitchFamily="66" charset="0"/>
                <a:cs typeface="Times New Roman" pitchFamily="18" charset="0"/>
              </a:rPr>
              <a:t>ve </a:t>
            </a:r>
            <a:r>
              <a:rPr lang="tr-TR" b="1" dirty="0">
                <a:solidFill>
                  <a:srgbClr val="0070C0"/>
                </a:solidFill>
                <a:latin typeface="Comic Sans MS" pitchFamily="66" charset="0"/>
                <a:cs typeface="Times New Roman" pitchFamily="18" charset="0"/>
              </a:rPr>
              <a:t>halkla ilişkiler</a:t>
            </a:r>
            <a:r>
              <a:rPr lang="tr-TR" dirty="0">
                <a:solidFill>
                  <a:srgbClr val="0070C0"/>
                </a:solidFill>
                <a:latin typeface="Comic Sans MS" pitchFamily="66" charset="0"/>
                <a:cs typeface="Times New Roman" pitchFamily="18" charset="0"/>
              </a:rPr>
              <a:t> </a:t>
            </a:r>
            <a:r>
              <a:rPr lang="tr-TR" dirty="0">
                <a:solidFill>
                  <a:srgbClr val="000000"/>
                </a:solidFill>
                <a:latin typeface="Comic Sans MS" pitchFamily="66" charset="0"/>
                <a:cs typeface="Times New Roman" pitchFamily="18" charset="0"/>
              </a:rPr>
              <a:t>sağlar. Kurumun  kamuoyu nezdindeki </a:t>
            </a:r>
            <a:r>
              <a:rPr lang="tr-TR" b="1" dirty="0">
                <a:solidFill>
                  <a:srgbClr val="00B050"/>
                </a:solidFill>
                <a:latin typeface="Comic Sans MS" pitchFamily="66" charset="0"/>
                <a:cs typeface="Times New Roman" pitchFamily="18" charset="0"/>
              </a:rPr>
              <a:t>saygınlığını</a:t>
            </a:r>
            <a:r>
              <a:rPr lang="tr-TR" dirty="0">
                <a:solidFill>
                  <a:srgbClr val="000000"/>
                </a:solidFill>
                <a:latin typeface="Comic Sans MS" pitchFamily="66" charset="0"/>
                <a:cs typeface="Times New Roman" pitchFamily="18" charset="0"/>
              </a:rPr>
              <a:t> arttırır.</a:t>
            </a:r>
          </a:p>
          <a:p>
            <a:pPr eaLnBrk="1" hangingPunct="1">
              <a:lnSpc>
                <a:spcPct val="80000"/>
              </a:lnSpc>
              <a:buClr>
                <a:srgbClr val="000000"/>
              </a:buClr>
              <a:buFont typeface="Wingdings" pitchFamily="2" charset="2"/>
              <a:buNone/>
            </a:pPr>
            <a:endParaRPr lang="tr-TR" b="1" dirty="0">
              <a:solidFill>
                <a:srgbClr val="000000"/>
              </a:solidFill>
              <a:latin typeface="Comic Sans MS" pitchFamily="66" charset="0"/>
              <a:cs typeface="Times New Roman" pitchFamily="18" charset="0"/>
            </a:endParaRPr>
          </a:p>
          <a:p>
            <a:pPr eaLnBrk="1" hangingPunct="1">
              <a:lnSpc>
                <a:spcPct val="80000"/>
              </a:lnSpc>
              <a:buClr>
                <a:srgbClr val="000000"/>
              </a:buClr>
              <a:buFont typeface="Wingdings" pitchFamily="2" charset="2"/>
              <a:buChar char="§"/>
            </a:pPr>
            <a:r>
              <a:rPr lang="tr-TR" b="1" dirty="0">
                <a:solidFill>
                  <a:srgbClr val="7030A0"/>
                </a:solidFill>
                <a:latin typeface="Comic Sans MS" pitchFamily="66" charset="0"/>
                <a:cs typeface="Times New Roman" pitchFamily="18" charset="0"/>
              </a:rPr>
              <a:t>Müşteriler, tedarikçiler </a:t>
            </a:r>
            <a:r>
              <a:rPr lang="tr-TR" b="1" dirty="0">
                <a:solidFill>
                  <a:srgbClr val="000000"/>
                </a:solidFill>
                <a:latin typeface="Comic Sans MS" pitchFamily="66" charset="0"/>
                <a:cs typeface="Times New Roman" pitchFamily="18" charset="0"/>
              </a:rPr>
              <a:t>ve </a:t>
            </a:r>
            <a:r>
              <a:rPr lang="tr-TR" b="1" dirty="0">
                <a:solidFill>
                  <a:srgbClr val="7030A0"/>
                </a:solidFill>
                <a:latin typeface="Comic Sans MS" pitchFamily="66" charset="0"/>
                <a:cs typeface="Times New Roman" pitchFamily="18" charset="0"/>
              </a:rPr>
              <a:t>işortakları</a:t>
            </a:r>
            <a:r>
              <a:rPr lang="tr-TR" dirty="0">
                <a:solidFill>
                  <a:srgbClr val="000000"/>
                </a:solidFill>
                <a:latin typeface="Comic Sans MS" pitchFamily="66" charset="0"/>
                <a:cs typeface="Times New Roman" pitchFamily="18" charset="0"/>
              </a:rPr>
              <a:t> ile daha </a:t>
            </a:r>
            <a:r>
              <a:rPr lang="tr-TR" b="1" dirty="0">
                <a:solidFill>
                  <a:srgbClr val="7030A0"/>
                </a:solidFill>
                <a:latin typeface="Comic Sans MS" pitchFamily="66" charset="0"/>
                <a:cs typeface="Times New Roman" pitchFamily="18" charset="0"/>
              </a:rPr>
              <a:t>adil, dürüst, güvene dayalı ve uzun soluklu</a:t>
            </a:r>
            <a:r>
              <a:rPr lang="tr-TR" dirty="0">
                <a:solidFill>
                  <a:srgbClr val="7030A0"/>
                </a:solidFill>
                <a:latin typeface="Comic Sans MS" pitchFamily="66" charset="0"/>
                <a:cs typeface="Times New Roman" pitchFamily="18" charset="0"/>
              </a:rPr>
              <a:t> </a:t>
            </a:r>
            <a:r>
              <a:rPr lang="tr-TR" dirty="0">
                <a:solidFill>
                  <a:srgbClr val="000000"/>
                </a:solidFill>
                <a:latin typeface="Comic Sans MS" pitchFamily="66" charset="0"/>
                <a:cs typeface="Times New Roman" pitchFamily="18" charset="0"/>
              </a:rPr>
              <a:t>bir ilişki kurulmasını sağlar. </a:t>
            </a:r>
          </a:p>
          <a:p>
            <a:pPr eaLnBrk="1" hangingPunct="1">
              <a:lnSpc>
                <a:spcPct val="80000"/>
              </a:lnSpc>
              <a:buClr>
                <a:srgbClr val="000000"/>
              </a:buClr>
              <a:buFont typeface="Wingdings" pitchFamily="2" charset="2"/>
              <a:buChar char="§"/>
            </a:pPr>
            <a:endParaRPr lang="tr-TR" dirty="0">
              <a:solidFill>
                <a:srgbClr val="000000"/>
              </a:solidFill>
              <a:latin typeface="Comic Sans MS" pitchFamily="66" charset="0"/>
              <a:cs typeface="Times New Roman" pitchFamily="18" charset="0"/>
            </a:endParaRPr>
          </a:p>
          <a:p>
            <a:pPr eaLnBrk="1" hangingPunct="1">
              <a:lnSpc>
                <a:spcPct val="80000"/>
              </a:lnSpc>
              <a:buClr>
                <a:srgbClr val="000000"/>
              </a:buClr>
              <a:buFont typeface="Wingdings" pitchFamily="2" charset="2"/>
              <a:buChar char="§"/>
            </a:pPr>
            <a:endParaRPr lang="tr-TR" b="1" dirty="0">
              <a:solidFill>
                <a:srgbClr val="000000"/>
              </a:solidFill>
              <a:latin typeface="Comic Sans MS" pitchFamily="66" charset="0"/>
              <a:cs typeface="Times New Roman" pitchFamily="18" charset="0"/>
            </a:endParaRPr>
          </a:p>
        </p:txBody>
      </p:sp>
      <p:pic>
        <p:nvPicPr>
          <p:cNvPr id="64514" name="Picture 2" descr="http://t0.gstatic.com/images?q=tbn:ANd9GcTKaUxO6mIp1s2aYMZEQXrYTVRzy7SB5cUyX_X-_QCppGn4jvI&amp;t=1&amp;usg=__N8aMLDqheBJf9gc5tw3_s1CE0rI="/>
          <p:cNvPicPr>
            <a:picLocks noChangeAspect="1" noChangeArrowheads="1"/>
          </p:cNvPicPr>
          <p:nvPr/>
        </p:nvPicPr>
        <p:blipFill>
          <a:blip r:embed="rId3" cstate="print"/>
          <a:srcRect/>
          <a:stretch>
            <a:fillRect/>
          </a:stretch>
        </p:blipFill>
        <p:spPr bwMode="auto">
          <a:xfrm>
            <a:off x="8880309" y="1916833"/>
            <a:ext cx="2463800" cy="1514475"/>
          </a:xfrm>
          <a:prstGeom prst="rect">
            <a:avLst/>
          </a:prstGeom>
          <a:noFill/>
        </p:spPr>
      </p:pic>
      <p:pic>
        <p:nvPicPr>
          <p:cNvPr id="64516" name="Picture 4" descr="http://t0.gstatic.com/images?q=tbn:ANd9GcR5JYvK5mbaYBdCWE4ZxfY2CIT7y1CZH-W9PK1hh63NAKnjqKI&amp;t=1&amp;usg=__FQLssNcWyHp9HSYwfLAKi4MlxbU="/>
          <p:cNvPicPr>
            <a:picLocks noChangeAspect="1" noChangeArrowheads="1"/>
          </p:cNvPicPr>
          <p:nvPr/>
        </p:nvPicPr>
        <p:blipFill>
          <a:blip r:embed="rId4" cstate="print"/>
          <a:srcRect/>
          <a:stretch>
            <a:fillRect/>
          </a:stretch>
        </p:blipFill>
        <p:spPr bwMode="auto">
          <a:xfrm>
            <a:off x="8112224" y="4077072"/>
            <a:ext cx="3552395" cy="2232248"/>
          </a:xfrm>
          <a:prstGeom prst="rect">
            <a:avLst/>
          </a:prstGeom>
          <a:noFill/>
        </p:spPr>
      </p:pic>
    </p:spTree>
    <p:extLst>
      <p:ext uri="{BB962C8B-B14F-4D97-AF65-F5344CB8AC3E}">
        <p14:creationId xmlns:p14="http://schemas.microsoft.com/office/powerpoint/2010/main" val="29862696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descr="http://oguzkoroglu.files.wordpress.com/2010/09/planning-choice-among-multiple-roads_id267012_size350.jpg?w=134&amp;h=150">
            <a:hlinkClick r:id="rId3"/>
          </p:cNvPr>
          <p:cNvPicPr>
            <a:picLocks noChangeAspect="1" noChangeArrowheads="1"/>
          </p:cNvPicPr>
          <p:nvPr/>
        </p:nvPicPr>
        <p:blipFill>
          <a:blip r:embed="rId4" cstate="print"/>
          <a:srcRect/>
          <a:stretch>
            <a:fillRect/>
          </a:stretch>
        </p:blipFill>
        <p:spPr bwMode="auto">
          <a:xfrm>
            <a:off x="9552384" y="2348880"/>
            <a:ext cx="2255573" cy="1893672"/>
          </a:xfrm>
          <a:prstGeom prst="rect">
            <a:avLst/>
          </a:prstGeom>
          <a:noFill/>
        </p:spPr>
      </p:pic>
      <p:sp>
        <p:nvSpPr>
          <p:cNvPr id="32771" name="AutoShape 2"/>
          <p:cNvSpPr>
            <a:spLocks noGrp="1" noChangeArrowheads="1"/>
          </p:cNvSpPr>
          <p:nvPr>
            <p:ph type="title"/>
          </p:nvPr>
        </p:nvSpPr>
        <p:spPr>
          <a:xfrm>
            <a:off x="527382" y="620690"/>
            <a:ext cx="11287852" cy="792087"/>
          </a:xfrm>
        </p:spPr>
        <p:txBody>
          <a:bodyPr>
            <a:normAutofit fontScale="90000"/>
          </a:bodyPr>
          <a:lstStyle/>
          <a:p>
            <a:pPr algn="r" eaLnBrk="1" hangingPunct="1">
              <a:buFont typeface="Wingdings" pitchFamily="2" charset="2"/>
              <a:buNone/>
            </a:pPr>
            <a:r>
              <a:rPr lang="tr-TR" sz="2400" dirty="0">
                <a:solidFill>
                  <a:srgbClr val="FF3300"/>
                </a:solidFill>
                <a:latin typeface="Comic Sans MS" pitchFamily="66" charset="0"/>
              </a:rPr>
              <a:t>NEDEN ETİK DAVRANMALIYIZ? </a:t>
            </a:r>
            <a:br>
              <a:rPr lang="tr-TR" sz="2400" dirty="0">
                <a:solidFill>
                  <a:srgbClr val="FF3300"/>
                </a:solidFill>
                <a:latin typeface="Comic Sans MS" pitchFamily="66" charset="0"/>
              </a:rPr>
            </a:br>
            <a:r>
              <a:rPr lang="tr-TR" sz="2400" dirty="0">
                <a:solidFill>
                  <a:schemeClr val="hlink"/>
                </a:solidFill>
                <a:latin typeface="Comic Sans MS" pitchFamily="66" charset="0"/>
              </a:rPr>
              <a:t>(Kurum açısından)</a:t>
            </a:r>
          </a:p>
        </p:txBody>
      </p:sp>
      <p:sp>
        <p:nvSpPr>
          <p:cNvPr id="32772" name="Rectangle 3"/>
          <p:cNvSpPr>
            <a:spLocks noGrp="1" noChangeArrowheads="1"/>
          </p:cNvSpPr>
          <p:nvPr>
            <p:ph sz="quarter" idx="1"/>
          </p:nvPr>
        </p:nvSpPr>
        <p:spPr>
          <a:xfrm>
            <a:off x="431371" y="1340768"/>
            <a:ext cx="8256917" cy="5112568"/>
          </a:xfrm>
        </p:spPr>
        <p:txBody>
          <a:bodyPr/>
          <a:lstStyle/>
          <a:p>
            <a:pPr eaLnBrk="1" hangingPunct="1">
              <a:lnSpc>
                <a:spcPct val="80000"/>
              </a:lnSpc>
              <a:buClr>
                <a:srgbClr val="000000"/>
              </a:buClr>
              <a:buFont typeface="Wingdings" pitchFamily="2" charset="2"/>
              <a:buChar char="§"/>
            </a:pPr>
            <a:r>
              <a:rPr lang="tr-TR" dirty="0">
                <a:solidFill>
                  <a:srgbClr val="000000"/>
                </a:solidFill>
                <a:latin typeface="Comic Sans MS" pitchFamily="66" charset="0"/>
              </a:rPr>
              <a:t>Çalışanlar, </a:t>
            </a:r>
            <a:r>
              <a:rPr lang="tr-TR" b="1" dirty="0">
                <a:solidFill>
                  <a:srgbClr val="7030A0"/>
                </a:solidFill>
                <a:latin typeface="Comic Sans MS" pitchFamily="66" charset="0"/>
              </a:rPr>
              <a:t>etik açıdan çelişkili durumlarda </a:t>
            </a:r>
            <a:r>
              <a:rPr lang="tr-TR" dirty="0">
                <a:solidFill>
                  <a:srgbClr val="000000"/>
                </a:solidFill>
                <a:latin typeface="Comic Sans MS" pitchFamily="66" charset="0"/>
              </a:rPr>
              <a:t>kendilerinden beklenenlerin bilincinde olurlar. </a:t>
            </a:r>
          </a:p>
          <a:p>
            <a:pPr eaLnBrk="1" hangingPunct="1">
              <a:lnSpc>
                <a:spcPct val="80000"/>
              </a:lnSpc>
              <a:buClr>
                <a:srgbClr val="000000"/>
              </a:buClr>
              <a:buFont typeface="Wingdings" pitchFamily="2" charset="2"/>
              <a:buChar char="§"/>
            </a:pPr>
            <a:endParaRPr lang="tr-TR" dirty="0">
              <a:solidFill>
                <a:srgbClr val="000000"/>
              </a:solidFill>
              <a:latin typeface="Comic Sans MS" pitchFamily="66" charset="0"/>
            </a:endParaRPr>
          </a:p>
          <a:p>
            <a:pPr eaLnBrk="1" hangingPunct="1">
              <a:lnSpc>
                <a:spcPct val="80000"/>
              </a:lnSpc>
              <a:buClr>
                <a:srgbClr val="000000"/>
              </a:buClr>
              <a:buFont typeface="Wingdings" pitchFamily="2" charset="2"/>
              <a:buChar char="§"/>
            </a:pPr>
            <a:r>
              <a:rPr lang="tr-TR" b="1" dirty="0">
                <a:solidFill>
                  <a:schemeClr val="accent2">
                    <a:lumMod val="50000"/>
                  </a:schemeClr>
                </a:solidFill>
                <a:latin typeface="Comic Sans MS" pitchFamily="66" charset="0"/>
                <a:cs typeface="Times New Roman" pitchFamily="18" charset="0"/>
              </a:rPr>
              <a:t>Ekip çalışmasını ve verimliliği</a:t>
            </a:r>
            <a:r>
              <a:rPr lang="tr-TR" dirty="0">
                <a:solidFill>
                  <a:schemeClr val="accent2">
                    <a:lumMod val="50000"/>
                  </a:schemeClr>
                </a:solidFill>
                <a:latin typeface="Comic Sans MS" pitchFamily="66" charset="0"/>
                <a:cs typeface="Times New Roman" pitchFamily="18" charset="0"/>
              </a:rPr>
              <a:t> </a:t>
            </a:r>
            <a:r>
              <a:rPr lang="tr-TR" dirty="0">
                <a:solidFill>
                  <a:srgbClr val="000000"/>
                </a:solidFill>
                <a:latin typeface="Comic Sans MS" pitchFamily="66" charset="0"/>
                <a:cs typeface="Times New Roman" pitchFamily="18" charset="0"/>
              </a:rPr>
              <a:t>arttırırlar. Çalışanlar birbirlerinin değerlerine ve </a:t>
            </a:r>
            <a:r>
              <a:rPr lang="tr-TR" b="1" dirty="0">
                <a:solidFill>
                  <a:srgbClr val="0070C0"/>
                </a:solidFill>
                <a:latin typeface="Comic Sans MS" pitchFamily="66" charset="0"/>
                <a:cs typeface="Times New Roman" pitchFamily="18" charset="0"/>
              </a:rPr>
              <a:t>kuruma bağlılık</a:t>
            </a:r>
            <a:r>
              <a:rPr lang="tr-TR" dirty="0">
                <a:solidFill>
                  <a:srgbClr val="0070C0"/>
                </a:solidFill>
                <a:latin typeface="Comic Sans MS" pitchFamily="66" charset="0"/>
                <a:cs typeface="Times New Roman" pitchFamily="18" charset="0"/>
              </a:rPr>
              <a:t> </a:t>
            </a:r>
            <a:r>
              <a:rPr lang="tr-TR" dirty="0">
                <a:solidFill>
                  <a:srgbClr val="000000"/>
                </a:solidFill>
                <a:latin typeface="Comic Sans MS" pitchFamily="66" charset="0"/>
                <a:cs typeface="Times New Roman" pitchFamily="18" charset="0"/>
              </a:rPr>
              <a:t>hissederler.</a:t>
            </a:r>
            <a:endParaRPr lang="tr-TR" dirty="0">
              <a:solidFill>
                <a:srgbClr val="000000"/>
              </a:solidFill>
              <a:latin typeface="Comic Sans MS" pitchFamily="66" charset="0"/>
            </a:endParaRPr>
          </a:p>
          <a:p>
            <a:pPr eaLnBrk="1" hangingPunct="1">
              <a:lnSpc>
                <a:spcPct val="80000"/>
              </a:lnSpc>
              <a:buClr>
                <a:srgbClr val="000000"/>
              </a:buClr>
              <a:buFont typeface="Wingdings" pitchFamily="2" charset="2"/>
              <a:buChar char="§"/>
            </a:pPr>
            <a:endParaRPr lang="tr-TR" dirty="0">
              <a:solidFill>
                <a:srgbClr val="000000"/>
              </a:solidFill>
              <a:latin typeface="Comic Sans MS" pitchFamily="66" charset="0"/>
            </a:endParaRPr>
          </a:p>
          <a:p>
            <a:pPr eaLnBrk="1" hangingPunct="1">
              <a:lnSpc>
                <a:spcPct val="80000"/>
              </a:lnSpc>
              <a:buClr>
                <a:srgbClr val="000000"/>
              </a:buClr>
              <a:buFont typeface="Wingdings" pitchFamily="2" charset="2"/>
              <a:buChar char="§"/>
            </a:pPr>
            <a:endParaRPr lang="tr-TR" dirty="0">
              <a:solidFill>
                <a:srgbClr val="000000"/>
              </a:solidFill>
              <a:latin typeface="Comic Sans MS" pitchFamily="66" charset="0"/>
              <a:cs typeface="Times New Roman" pitchFamily="18" charset="0"/>
            </a:endParaRPr>
          </a:p>
          <a:p>
            <a:pPr eaLnBrk="1" hangingPunct="1">
              <a:lnSpc>
                <a:spcPct val="80000"/>
              </a:lnSpc>
              <a:buClr>
                <a:srgbClr val="000000"/>
              </a:buClr>
              <a:buFont typeface="Wingdings" pitchFamily="2" charset="2"/>
              <a:buChar char="§"/>
            </a:pPr>
            <a:endParaRPr lang="tr-TR" b="1" dirty="0">
              <a:solidFill>
                <a:srgbClr val="000000"/>
              </a:solidFill>
              <a:latin typeface="Comic Sans MS" pitchFamily="66" charset="0"/>
              <a:cs typeface="Times New Roman" pitchFamily="18" charset="0"/>
            </a:endParaRPr>
          </a:p>
        </p:txBody>
      </p:sp>
      <p:sp>
        <p:nvSpPr>
          <p:cNvPr id="62470" name="AutoShape 6" descr="data:image/jpg;base64,/9j/4AAQSkZJRgABAQAAAQABAAD/2wBDAAkGBwgHBgkIBwgKCgkLDRYPDQwMDRsUFRAWIB0iIiAdHx8kKDQsJCYxJx8fLT0tMTU3Ojo6Iys/RD84QzQ5Ojf/2wBDAQoKCg0MDRoPDxo3JR8lNzc3Nzc3Nzc3Nzc3Nzc3Nzc3Nzc3Nzc3Nzc3Nzc3Nzc3Nzc3Nzc3Nzc3Nzc3Nzc3Nzf/wAARCAChAOcDASIAAhEBAxEB/8QAHAAAAQUBAQEAAAAAAAAAAAAAAAMEBQYHAQII/8QASRAAAQMDAQUEBwQHBQUJAAAAAQACAwQFESEGEjFBURMiYXEHMoGRobHBFCNCYhUzUnLR4fAkNFNjczU2Q4KyF0R0dZKTosLS/8QAGQEAAwEBAQAAAAAAAAAAAAAAAAMEAgEF/8QAIxEAAwEBAAEEAgMBAAAAAAAAAAECEQMhEhMxUQRBIjJhUv/aAAwDAQACEQMRAD8AsVPLkYTluTwVct1a14GvHhqpqnnyBqoWekKyxgtPii1XKeyVYkbl9NIfvoxzH7Q8Qlm4cMpKWLeGgCE2nqCpVLGaFS1EVTTsnge18bxlrhzS4Wf2K5yWeoMcxzRyu7zRk7h/aH1CvkMrJY2vjcHNcMgjgVXFqkQXzcMUQhC2YOFccMjGMr0hAGAXGgds5tfX20DEPadrT/6bzkD2aj2KyUMvDCf+mO1lrLffIm96CQU8xx+B57p9jtP+ZV+2zkxtdnTCi6rKL+N7JcYpN+n16KxbL1HbW4Rk96BxYfLiPgVT7fUbzAM6qX2bqxT3p1M52G1DO74ubk/LPuXONZRzvOzpck1uNbBb6Kasqn7kMLC958B9U4J0yFn3pAuJrbvSWKF/3ceKiqweJ/A0/E+5WXXpWkcT6qwY2xs9yrprvXAiaodkM/YZ+Fo8h8cqwx4GgUfSAMiAGmic0+XuOSvPb1nopZ4JKAe5OWwmpnbAM7o1efAcvak6cANypO3w7kXaEd+TU55Dkm851iet+lDtowOmmML0uLqtIgQheXyMY1znuDWtBJJOAAOKABxAByVmm3fpHFE99r2ec2Wr4S1IwWw+DeRd8B4qJ272+mussto2deW0urZqsaGXq1vRvjxPzqtttjYmhztTzJ5pN9P0ijnx3yxtS0E9ZUGqrpXzPkdvOdI4kk+OVNUtKMhrW4A5BOKeB0rwGDDRop6gt/ZgEgE9cKdspSwaUlDgcDjyQp0RBo4BC5p3DOKyku2yte2ivMO7k4inZrHMOrT18OKnbZcWyAd4lbBdrVRXigkorlTMqKd47zHjnyIPI+IWS7Q7A3TZ5zquyOluFvGS6LGZ4h/9x5a+BVNc/oRz7J/JMU04cOPFPo3NcxUq03qOdrcPDvJWajqA9rcEe9IaKEPJY94f1wTuyXZ9pl7GoJNG88j+rPUeHgkA8EeK8vjDhqBquS2npypVLGaAyRsjWuYQQ4ZBHML2qTYbu62vFPUuJpXO7p/w/wCXyV0Y8PaHNIIIyCFXFqkQXDh4ekIQtmCM2ktbL1Yq63ScKiFzGno78J9hwViNimeYBHLpIw7rx0cNCPgV9AELE9q6I2bbWvhaA2GqxUx45h/rf/IOSe06tH8Kx4PKSp7NzQSQBzS9fcfsphrojmSBwe32HJHtGntUJJUAN46qKu14/s/ZtOTwwFLK8llY1jN7Nypv0V+kjJ/Zex7bf/LjPyWWWoTV1ZVXer7s9XKZCP2R+EewYHsUNZ73dqvZ6mstSWtpYXEjU70jc5a0no3pz06K2Wmmc6JgyMJnW98CePL062SUbD2Pd1wOKfWunB9fiV7jibHABgap3SM3W7wSkhzfgcthD5GRt5nXy5qWaMJnQR5zKeegT3Ct5ziIOtazqFzgm1wr6a3UktXWzMhp4m7z5HnAA/rkmCxSpqYaWCSeokZHFG3ee95wGjqVje222dVtK+S22kPhtucOedHT+fRvhz59F42r2nq9q6nsYA+C2sdmOInBlI4Of9BySdttscTCSDka5Knvp+kVcuX7YworXFSRh8x4+HHCkKSmkq37rW7sedM80qKd9bUNZjEbTyVkoqQRQgBvBJbKUhCioBCz1PFPcjgNMdEOzjDQcIZCM72cHoVwAcc8MlCVJA9YYQgNL2uFo6L0hXnmFN2t2Bt97L6ujP2C5HX7RG3uyH87efnxWeSw3fZqrZTXymLI3HEVTGS6KTydyPgcFbqm9bSU9bTvp6qGOaGQYfHI0Oa4eIWKhMbHWpMzoqxsrA4HjwUo1wdxURtFs/UbLzGqpC+azuONdXUxPJ3VvQ+/kUvQ1bJWBwcSMKWpaLIpUtQ/lYH5yNcJ5Zry+2vEFSd6kJ7ruJj/AIhNN8FIzYcCCMrktryaqFSxmhQyNlYJI3NcxwyHNOQQlFntsvk9ocA0Olpz68OdW+LenkrrbLnTXKnE9JJvtOhBGC09COSri1RB05uGPVmvpjoxHTW68Mb+olMEp/K/gfY4D3laQThZF6WNsWvZUWam3H07SGSkjPaSA+qOgB4kc9EW1hzmm68FIlrX1DtyE8Bq7CcW+0GaQOOTzJK5s7bJJomyyjDXcAeLj18ldqekbTxjuY04YUdVhfMjW3WvVrWAYB6K10kLIGtYBrjVNaGMRs3i3vHkU9gaXSZcl7psfFuWtCdtG5GGN4nQJtHq8eCfUzO0qGA67veKbC8iujxEpEwRsa0cAF6OgRlQO0209JYIB2n31U8fdU7D3neJ6Dx92VbuIgSdPwPb1eaOy0Lqy4SiOIaAAZc93JrRzJWO7Q3q4bU1odUgw0UTswUodkN6Od1d8l5us9deq4VlzlL5z+rYNGRN6NH14nmnVvo+0eNABoCVP06b4RXy4+nyztut4bugNBJ5KWki7MFhGHHonsNOynizgApFrHTzb2O6OGefkklB7oKdrBjnlSIG43GUlvshG6O87wSMk5zr3UHBR7zvLyZjzcAElSxVde/FHA+Q59bgwebuCsNDsuzIfc5TMR/wo8hntPE/Bbnm2KvrMkFCKirkdHRwPmI47oGB7SUK/wAEEUETY4Y2xsbwa0YAQm+yhD7sVQhCeIBcXUIASmiZLG+ORgfG8brmuGQR0IWW7SWGbZWpFTR7z7TI8YBOTTuP4T+XoeXDxOrpCpp46mCSGeNskUgLXNcMhwPEFZqU0bi3D1Ga0NW2aNp8E4mkwFE3a2TbJ3TsHPc+3zkmlkdqR+QnqPiMFKGta+PUhSOWmehFKlqFe1a3Jk4BMn3uW0VTayil7N4GrTq146EdE3qqknewdMKmbWXNzIxG0nJ4ELs7vgKSaxmlVfpVpqyxTtoYZqe5Y3HOcA5kfVwdzPQEcVlltppr/e4RukwNfxOueriUzYJKvsbdbyS5/rH5krXtjNmYrdSse5o3twAkjGF27eGOfNSx/SUFNRUbZA0Ya3RMrUJrtUyTEEU8Tt1rf2j1Ta6XN91vT7bbj9xF3ZHjm7oPJXC10MNvoWRRNw0a6jXPFT4xzeIY1O9T4bu4DjoncLSCCRjTmmQqG3G6lrMOjhOuOqmHxtYzB96MBsIRzGuqlbe3DXSnTOgULgwxPk3tBqqvtDdbtW0UNHSVQgpS4ioMeWyPZyGeQ45xqc+xN50l8iunOrWST20O2DInSUVlLJqgaSVB1jh64/ad4cOvRUfsXyTPmlkklmecySynLne3+sKWipIYqWKClaDpjA0AC4adrNJTnwatVbo7z5TC/wBI6On7pI0b1wpG3xu3hugBo6BcbH2x7g7o5BScDGwR6twSOiWMYpI0Ed86DlySW853djaGMHHxSkEFTcZ9yljLwDqeAHmVYrds7FCA+scJpM53ODR/FbiKoTfWZIWhttRWtAp4y1v+I7Rv81OUWzVLDh9Xmpf+YYaPZ/FTbWhoDWtAA4YGi9KmeaRJfWqPEbWsYGsaGtGgAGML0uoTBQIQhAAhCEACEIQALi6hADC72qmu9BLR1zN+J464LTyIPIjqsTv1NW7M3I0Ncd5hGYJwMCZnXwPUcvat7UFtbs1R7TWiSiq+48HfgmHrQvxoR9RzCxc6hnPo4ZhlTcyWHLlUL1U/aCdcnknW0FNXWO5VFtuUfZ1EBwSODweDmn9k8QmVio33S5MYASGkE480lThan6jQ/Rxs+Yo2zTx5mlAJyOA6K1beX11noYbVbXB1yq+5Fz3Bzd7F2iqobDZZaufuiFmST4Ki7MSzbQbR1F5qslz+7C0/gYlJ7rZt/wDKNA2IsbaCkjA7z8Ze93Fx5lKbZbStt9RHZqE5uFQ3ecBruM6qYhrIrVaJKqpIa2NucLKtj5ZL7tVcb1WHLpX4ZzwBy+S58rQ8+rDTNlqD7JTtBGp1cTzKd1FY2eskghdvdkQHY4A4zhLQzRw0L5W/haSql6OX5tr553uc6WV7yXcTklZeYaXl6WS/FwtD4YnBs0rd0HGcA8fgqzTUlZEN2VrJWEcQCD7uCsNyl+0VIija89iwOe7Gjc+KVpowWtGCRjiu4dl4iHYPskbg0ENPLmmVQJJiNwcThWCvpg6Phn2KLZDLPUtpqaIvlPBv1PgupNg2s1numjELWMDSZXHAAGclWC3bOPmImub3Y/wWu4+Z+ikrNZo6ACSU9rUEauPBvgPBSwCo58s8sh692/EicEEcEbY4Y2sY3gGjASmF0ITyYEIQgAQhCABCEIA4uqhjbiv522D/AN138F7btxV571rYf3Zz/wDlZ9SN+3ReVxU5m3Jz95a5R+7MD8wE4ZtxQn9ZSVrP+Vrh8HI9SOeivotKFX4tsrI/SSpfE7/Nic344wncW0dll9S6Uh8O1A+a7qOOX9EqgqPkvdqiBMlzo246ztH1UfWbbbMUQzUX2gb4CYE+4I1Bj+ij+nzZz7bZIL5TxgzUJ3JyBqYXHifJ3zKpPowtgB+0yjHau7vkFpF59KOydXSz0FPJJcJKhjohC2BwY/II1c4AY6lVyyRR2y1gPaG9izLD1HVI7P6LOCr4ZB+li7GV1PZqMncJBlweJ5D6qybGWBtLSxNboQwZI64VDtkRu+1gkmO81rjI/e+AWxUk8Vvtj5MjO7p5pFPxg9LzqKV6T7sYaU0UUmQwZeRzd09iW9HVoDbRTS+q57d4nzOVVNsnSVs8UWpkmlDR7TqtY2UpxS0MUbgA1jAEZ4w23h7vz3Udhr36AMp3keeNE32QtraexQNOhLBnwwvG17vtFJT0Xe3q2cB2OTGneP0CkJ3vpLUI2N3XvaGNx7srLw6k8E4py2KaQAuEjtCANMaa+CkKVwLATp4A5UUyF0MAaTg408U+oHPljGWGPd4jmfFGhaQ6lAOBjK7aZG0lduPDcTd3exwPn0SNS4sDsqMnq8gkDeLeAHFamseian1ThfWr0mVvroayFjo5WOeWguYHDLT0TzKuWM85rGdQhC6cBCEIAEIQgAQhCAMyZTjmlW07ByXtsjei9B4zxUpcJ9gzmvDqaMhLOkA6FeDMzGdFzQGk1IzHqqKraKM8QPcpeaqbjkousqAeBXQKxcqFgz3WcOgVQuFMd8humqutwkLtOqrtTDvSkkLjNT4ImhiFFVQ1ZbvmJ4dungcK91+0MV0tYNNHJFGGnfMmNfAeCqs1OXMEbRlztMKy0Fk7e1mlz2e8wgOPIkLjempoW9H9vfmWqliLnSneJHFrfH2K53tzWmOGHVgG8cHPko7ZgS2+jMFXAe13d0vYQQ7xCkzAalxc71ndOSW15HT48lGkgFVtZTtf6lO3fPmdAtOoxuRAA91+AfJVCy0RpNpK11azccXh0TnNy17cADB/rmrVE4NbnBHMDpr/ADXaWg0N3ltZtGWSHSnaxgb0yN5zvkPYpF2aiXec8GNnq45lNZIaeom7V8be1Dd3tAMHHmk62qbR0hZG8Bx0aHHn1XPkG8C5Vbw4RxxueGg5eBkN/rVdo6oNpsMYQ7e1yeSY2+sm7GQPmhJIIwwHnx4p0z1DqEHHX6FZqrfZguTJvZlxG8B7VHVb5TVbpdux9U9gETIwRl3UoBM8yRN3y5gO9yc04KXp77d6QbrKtzwODZwH/Hj8UmZYXHdAOfApvMQTho1HJaVNGKma+UWSl20kY3+3UQd+aB30P8VK021lomO66pMLz+GVhb8eCz9spa8BzcZ6hKkF790MaQQOSYutCK/Hh/BpsFxop/1NZTyeDJQU6Dg4ZByOoWTG3du/e3WA+S9Nt1XCc09S+L9x5b8ltdv8Fv8AHf2awCOqOCy9tZtDSepdJXD87g/5hLt2m2khHr0so/NFr8CFpdZMPhSNJQs5G3F7j/W26nf4guH1KF33J+zns19EO25DHrLhujebh5Keg9GEX/ebzVP69lCxnz3lIQejexx47Z9bNj9uoIB9jcJftMb7yKZJdmNGcj+CbOuokOI+8fy6rUaXY/Z+lIMdrp3OHB0gLz8cqXhpKenGIIIoh/lsDfkurkZff6McjpbtWf3a2VkmefYuA95TluyG0lSP7nHCP82oaPkStf3f6KMLftr9mPeoyRvoyvco+9q6GL90vd9AlB6KaprC+e907A0ZJFOdB1yXLViTjgs4222mNykfZ7TJmAO3aqoZwfj8DT06n2eI5UzKOzV28Kba7DB9qlmM7qmJrt2GQs3d5o54yeKscdK1rhujA8F2hgEcQGMcE/ij14KdlqSw7FABgZT2niAOq5TxOxwS+g8FzDunXOAbuj2ZKa1EjRxxp0SFwrGxndblzuQHNMGyOmlAk3mDGTqgNC43B9NTySwQPqHNGQxmmVV6LaA1dUW147KbOdx2mB0Cu0MYHAd3x5qOvezNFdo2vLGxSsPdeB15Hw+uEI69YzcI5cvp8A8dOa8vunZu7J79yXHdY4+v5FTex2xNPJRzSV0kri07kZieWggcT46p7dvRnRXCMtbc62PoSGOweR4Api5trRD7ynhUJJnVY3icOC8fpPsHiF5II+Knv+zy9U0RZDcaWrxwdK10Tj54yFTr9s9tJbK0TVVulfTj/iw/eNHuQ+bRpdpfwWuipRPF2jXeKWMbWHOMnmouyXRktOAx43xoQDwUo6djxg+tzS8GaIStDznovLN5jT3iMcF1xOfV180Ndvd1/FdDT3HK7eyCfPKdRTgjDimRbunQrrXlmToUHNHrwHDIP8kg8AaFemS72GnC8SkOYTnVcDRB4DhgdeaFx2mMa6IQGmtIQhXHmAhCEAC8uOMrzJI2JrnveGtAySdAAs22q2vfdHSW60Oc2k4S1LdDJ4N6N8eazVJGph0/A52y2qfVufa7NN93ndqKlh4/kafmfYOqr9uoeyY3TGOGEUFK1rQGtwOHBSzIwxowdVNbbLIn0eEELDlSUDNRkaJtEMapz2wY3Qa4WRnwOC9sbSou5XOGkhMkj9fwtHFx6BSdDbqu6HI+6p86yFvH90c1l+1VJW2zbaso6uV8sWBJTOOg7N3DA6ggg+IWvQ80z7i3CxUtQ+ql7WQ8dAOikm/rM4AULaHANyOKmgc46lYGD6M9wL0S55bGwZe8hrQOp0CQY/daAeKl9mab7TcDO4ZZANP3jw+q1K1mbr0y2Wqjp20tNHAz1WNA/mlwuBdViPNOY8UYXUIAjayxWutyaq308jjxcYxn3jVQtbsRRyNIoqmppTyG92jR7Dr8VbFzCy5TNKqXwzO6/Zq7UbC5rW1bWjjD63/pKr5qgyQxSh0co4skBa4ewrZcJrXW6juEfZ1tNFOzkJGB2PLosPkv0MXel8mSCck5Y7eHmj7U3OHK5XH0f0Ez+1t9RNRv/ZzvsPsOvxVWu2yd8oskU/2qMHSSm1OPFp192Ut82hy6pjcVI3gQfcvbJQDq7Kh2vkjLg8FpBxuuGCPYdVxlbh+CVjGb9Wk8JW8EKHZWZPFC5gabohCCrSAE0udfS2ykfV107IIIxlz3nAH8T4KP2o2ltuzVB9quM2CTiKFmr5XdGj68AsUvu0Vw2prxPXO3KZjj2NKx3cjH1PV3uAWLtSbiHRP7TbX1W0kjqem36e2A4DM4dN4u8Py+9M6SIMA05dEyo4gAAAcDqpSnaBxKnb0rlKfgk6Y6J5HrhMoHDTKXfOGjdaMuPADiSueTWjg1Aj6eCn7FZH1G7U17S2PiyI6b3i7w8F72d2eMe7WXFmZuLInahniep+StAGE2Of7ZP0674R5Y0NaAAABoMDCyX02xCK72GraAHPZNC52OIG64D/qWuLMvTrEP0RZ6nnFcA0nwcxw+YCbS8YJh5SKtaptFYad+vXRVC2T4Y3J0Vho5eCkw9HdRLvcDjPBW7Y6INtbpecsrjnwGg+RVGmm3ISStF2ai7Gx0TTxMQefN3e+qbyXkR+Q/4okl1CFQRghCEACEIQAIQhAHEYC6hADG42qhuTNyupY5hwy5uo8jxVJvPowp5Xvms1fLTSEaRTDtIz7eI+K0RC45TOqmjCa/Zbae0PPaW11XFw7WlPaA+ziPchbshY9tG/dYLjvVKEJgtmCemr/f2k/8IPmVA0PBvsQhTdP7FfL+pP0vAJ/FxQhYGD5nqhOrZ/tug/12/NCF1HK+DUm8PaV6QhVIhZwrOPTp/unSf+YxfJyEIr4NR/ZGc2/9U3zVko/UahClZ6C+BzWf3Z/7pWq2j/ZdH/oM/wCkIQmcif8AI+EPAhCE8lBCEIAEIQgAQhCABCEIAEIQgAQhCAP/2Q=="/>
          <p:cNvSpPr>
            <a:spLocks noChangeAspect="1" noChangeArrowheads="1"/>
          </p:cNvSpPr>
          <p:nvPr/>
        </p:nvSpPr>
        <p:spPr bwMode="auto">
          <a:xfrm>
            <a:off x="207433" y="-669925"/>
            <a:ext cx="2692400" cy="1409700"/>
          </a:xfrm>
          <a:prstGeom prst="rect">
            <a:avLst/>
          </a:prstGeom>
          <a:noFill/>
        </p:spPr>
        <p:txBody>
          <a:bodyPr vert="horz" wrap="square" lIns="91440" tIns="45720" rIns="91440" bIns="45720" numCol="1" anchor="t" anchorCtr="0" compatLnSpc="1">
            <a:prstTxWarp prst="textNoShape">
              <a:avLst/>
            </a:prstTxWarp>
          </a:bodyPr>
          <a:lstStyle/>
          <a:p>
            <a:endParaRPr lang="tr-TR"/>
          </a:p>
        </p:txBody>
      </p:sp>
      <p:sp>
        <p:nvSpPr>
          <p:cNvPr id="62472" name="AutoShape 8" descr="data:image/jpg;base64,/9j/4AAQSkZJRgABAQAAAQABAAD/2wBDAAkGBwgHBgkIBwgKCgkLDRYPDQwMDRsUFRAWIB0iIiAdHx8kKDQsJCYxJx8fLT0tMTU3Ojo6Iys/RD84QzQ5Ojf/2wBDAQoKCg0MDRoPDxo3JR8lNzc3Nzc3Nzc3Nzc3Nzc3Nzc3Nzc3Nzc3Nzc3Nzc3Nzc3Nzc3Nzc3Nzc3Nzc3Nzc3Nzf/wAARCAChAOcDASIAAhEBAxEB/8QAHAAAAQUBAQEAAAAAAAAAAAAAAAMEBQYHAQII/8QASRAAAQMDAQUEBwQHBQUJAAAAAQACAwQFESEGEjFBURMiYXEHMoGRobHBFCNCYhUzUnLR4fAkNFNjczU2Q4KyF0R0dZKTosLS/8QAGQEAAwEBAQAAAAAAAAAAAAAAAAMEAgEF/8QAIxEAAwEBAAEEAgMBAAAAAAAAAAECEQMhEhMxUQRBIjJhUv/aAAwDAQACEQMRAD8AsVPLkYTluTwVct1a14GvHhqpqnnyBqoWekKyxgtPii1XKeyVYkbl9NIfvoxzH7Q8Qlm4cMpKWLeGgCE2nqCpVLGaFS1EVTTsnge18bxlrhzS4Wf2K5yWeoMcxzRyu7zRk7h/aH1CvkMrJY2vjcHNcMgjgVXFqkQXzcMUQhC2YOFccMjGMr0hAGAXGgds5tfX20DEPadrT/6bzkD2aj2KyUMvDCf+mO1lrLffIm96CQU8xx+B57p9jtP+ZV+2zkxtdnTCi6rKL+N7JcYpN+n16KxbL1HbW4Rk96BxYfLiPgVT7fUbzAM6qX2bqxT3p1M52G1DO74ubk/LPuXONZRzvOzpck1uNbBb6Kasqn7kMLC958B9U4J0yFn3pAuJrbvSWKF/3ceKiqweJ/A0/E+5WXXpWkcT6qwY2xs9yrprvXAiaodkM/YZ+Fo8h8cqwx4GgUfSAMiAGmic0+XuOSvPb1nopZ4JKAe5OWwmpnbAM7o1efAcvak6cANypO3w7kXaEd+TU55Dkm851iet+lDtowOmmML0uLqtIgQheXyMY1znuDWtBJJOAAOKABxAByVmm3fpHFE99r2ec2Wr4S1IwWw+DeRd8B4qJ272+mussto2deW0urZqsaGXq1vRvjxPzqtttjYmhztTzJ5pN9P0ijnx3yxtS0E9ZUGqrpXzPkdvOdI4kk+OVNUtKMhrW4A5BOKeB0rwGDDRop6gt/ZgEgE9cKdspSwaUlDgcDjyQp0RBo4BC5p3DOKyku2yte2ivMO7k4inZrHMOrT18OKnbZcWyAd4lbBdrVRXigkorlTMqKd47zHjnyIPI+IWS7Q7A3TZ5zquyOluFvGS6LGZ4h/9x5a+BVNc/oRz7J/JMU04cOPFPo3NcxUq03qOdrcPDvJWajqA9rcEe9IaKEPJY94f1wTuyXZ9pl7GoJNG88j+rPUeHgkA8EeK8vjDhqBquS2npypVLGaAyRsjWuYQQ4ZBHML2qTYbu62vFPUuJpXO7p/w/wCXyV0Y8PaHNIIIyCFXFqkQXDh4ekIQtmCM2ktbL1Yq63ScKiFzGno78J9hwViNimeYBHLpIw7rx0cNCPgV9AELE9q6I2bbWvhaA2GqxUx45h/rf/IOSe06tH8Kx4PKSp7NzQSQBzS9fcfsphrojmSBwe32HJHtGntUJJUAN46qKu14/s/ZtOTwwFLK8llY1jN7Nypv0V+kjJ/Zex7bf/LjPyWWWoTV1ZVXer7s9XKZCP2R+EewYHsUNZ73dqvZ6mstSWtpYXEjU70jc5a0no3pz06K2Wmmc6JgyMJnW98CePL062SUbD2Pd1wOKfWunB9fiV7jibHABgap3SM3W7wSkhzfgcthD5GRt5nXy5qWaMJnQR5zKeegT3Ct5ziIOtazqFzgm1wr6a3UktXWzMhp4m7z5HnAA/rkmCxSpqYaWCSeokZHFG3ee95wGjqVje222dVtK+S22kPhtucOedHT+fRvhz59F42r2nq9q6nsYA+C2sdmOInBlI4Of9BySdttscTCSDka5Knvp+kVcuX7YworXFSRh8x4+HHCkKSmkq37rW7sedM80qKd9bUNZjEbTyVkoqQRQgBvBJbKUhCioBCz1PFPcjgNMdEOzjDQcIZCM72cHoVwAcc8MlCVJA9YYQgNL2uFo6L0hXnmFN2t2Bt97L6ujP2C5HX7RG3uyH87efnxWeSw3fZqrZTXymLI3HEVTGS6KTydyPgcFbqm9bSU9bTvp6qGOaGQYfHI0Oa4eIWKhMbHWpMzoqxsrA4HjwUo1wdxURtFs/UbLzGqpC+azuONdXUxPJ3VvQ+/kUvQ1bJWBwcSMKWpaLIpUtQ/lYH5yNcJ5Zry+2vEFSd6kJ7ruJj/AIhNN8FIzYcCCMrktryaqFSxmhQyNlYJI3NcxwyHNOQQlFntsvk9ocA0Olpz68OdW+LenkrrbLnTXKnE9JJvtOhBGC09COSri1RB05uGPVmvpjoxHTW68Mb+olMEp/K/gfY4D3laQThZF6WNsWvZUWam3H07SGSkjPaSA+qOgB4kc9EW1hzmm68FIlrX1DtyE8Bq7CcW+0GaQOOTzJK5s7bJJomyyjDXcAeLj18ldqekbTxjuY04YUdVhfMjW3WvVrWAYB6K10kLIGtYBrjVNaGMRs3i3vHkU9gaXSZcl7psfFuWtCdtG5GGN4nQJtHq8eCfUzO0qGA67veKbC8iujxEpEwRsa0cAF6OgRlQO0209JYIB2n31U8fdU7D3neJ6Dx92VbuIgSdPwPb1eaOy0Lqy4SiOIaAAZc93JrRzJWO7Q3q4bU1odUgw0UTswUodkN6Od1d8l5us9deq4VlzlL5z+rYNGRN6NH14nmnVvo+0eNABoCVP06b4RXy4+nyztut4bugNBJ5KWki7MFhGHHonsNOynizgApFrHTzb2O6OGefkklB7oKdrBjnlSIG43GUlvshG6O87wSMk5zr3UHBR7zvLyZjzcAElSxVde/FHA+Q59bgwebuCsNDsuzIfc5TMR/wo8hntPE/Bbnm2KvrMkFCKirkdHRwPmI47oGB7SUK/wAEEUETY4Y2xsbwa0YAQm+yhD7sVQhCeIBcXUIASmiZLG+ORgfG8brmuGQR0IWW7SWGbZWpFTR7z7TI8YBOTTuP4T+XoeXDxOrpCpp46mCSGeNskUgLXNcMhwPEFZqU0bi3D1Ga0NW2aNp8E4mkwFE3a2TbJ3TsHPc+3zkmlkdqR+QnqPiMFKGta+PUhSOWmehFKlqFe1a3Jk4BMn3uW0VTayil7N4GrTq146EdE3qqknewdMKmbWXNzIxG0nJ4ELs7vgKSaxmlVfpVpqyxTtoYZqe5Y3HOcA5kfVwdzPQEcVlltppr/e4RukwNfxOueriUzYJKvsbdbyS5/rH5krXtjNmYrdSse5o3twAkjGF27eGOfNSx/SUFNRUbZA0Ya3RMrUJrtUyTEEU8Tt1rf2j1Ta6XN91vT7bbj9xF3ZHjm7oPJXC10MNvoWRRNw0a6jXPFT4xzeIY1O9T4bu4DjoncLSCCRjTmmQqG3G6lrMOjhOuOqmHxtYzB96MBsIRzGuqlbe3DXSnTOgULgwxPk3tBqqvtDdbtW0UNHSVQgpS4ioMeWyPZyGeQ45xqc+xN50l8iunOrWST20O2DInSUVlLJqgaSVB1jh64/ad4cOvRUfsXyTPmlkklmecySynLne3+sKWipIYqWKClaDpjA0AC4adrNJTnwatVbo7z5TC/wBI6On7pI0b1wpG3xu3hugBo6BcbH2x7g7o5BScDGwR6twSOiWMYpI0Ed86DlySW853djaGMHHxSkEFTcZ9yljLwDqeAHmVYrds7FCA+scJpM53ODR/FbiKoTfWZIWhttRWtAp4y1v+I7Rv81OUWzVLDh9Xmpf+YYaPZ/FTbWhoDWtAA4YGi9KmeaRJfWqPEbWsYGsaGtGgAGML0uoTBQIQhAAhCEACEIQALi6hADC72qmu9BLR1zN+J464LTyIPIjqsTv1NW7M3I0Ncd5hGYJwMCZnXwPUcvat7UFtbs1R7TWiSiq+48HfgmHrQvxoR9RzCxc6hnPo4ZhlTcyWHLlUL1U/aCdcnknW0FNXWO5VFtuUfZ1EBwSODweDmn9k8QmVio33S5MYASGkE480lThan6jQ/Rxs+Yo2zTx5mlAJyOA6K1beX11noYbVbXB1yq+5Fz3Bzd7F2iqobDZZaufuiFmST4Ki7MSzbQbR1F5qslz+7C0/gYlJ7rZt/wDKNA2IsbaCkjA7z8Ze93Fx5lKbZbStt9RHZqE5uFQ3ecBruM6qYhrIrVaJKqpIa2NucLKtj5ZL7tVcb1WHLpX4ZzwBy+S58rQ8+rDTNlqD7JTtBGp1cTzKd1FY2eskghdvdkQHY4A4zhLQzRw0L5W/haSql6OX5tr553uc6WV7yXcTklZeYaXl6WS/FwtD4YnBs0rd0HGcA8fgqzTUlZEN2VrJWEcQCD7uCsNyl+0VIija89iwOe7Gjc+KVpowWtGCRjiu4dl4iHYPskbg0ENPLmmVQJJiNwcThWCvpg6Phn2KLZDLPUtpqaIvlPBv1PgupNg2s1numjELWMDSZXHAAGclWC3bOPmImub3Y/wWu4+Z+ikrNZo6ACSU9rUEauPBvgPBSwCo58s8sh692/EicEEcEbY4Y2sY3gGjASmF0ITyYEIQgAQhCABCEIA4uqhjbiv522D/AN138F7btxV571rYf3Zz/wDlZ9SN+3ReVxU5m3Jz95a5R+7MD8wE4ZtxQn9ZSVrP+Vrh8HI9SOeivotKFX4tsrI/SSpfE7/Nic344wncW0dll9S6Uh8O1A+a7qOOX9EqgqPkvdqiBMlzo246ztH1UfWbbbMUQzUX2gb4CYE+4I1Bj+ij+nzZz7bZIL5TxgzUJ3JyBqYXHifJ3zKpPowtgB+0yjHau7vkFpF59KOydXSz0FPJJcJKhjohC2BwY/II1c4AY6lVyyRR2y1gPaG9izLD1HVI7P6LOCr4ZB+li7GV1PZqMncJBlweJ5D6qybGWBtLSxNboQwZI64VDtkRu+1gkmO81rjI/e+AWxUk8Vvtj5MjO7p5pFPxg9LzqKV6T7sYaU0UUmQwZeRzd09iW9HVoDbRTS+q57d4nzOVVNsnSVs8UWpkmlDR7TqtY2UpxS0MUbgA1jAEZ4w23h7vz3Udhr36AMp3keeNE32QtraexQNOhLBnwwvG17vtFJT0Xe3q2cB2OTGneP0CkJ3vpLUI2N3XvaGNx7srLw6k8E4py2KaQAuEjtCANMaa+CkKVwLATp4A5UUyF0MAaTg408U+oHPljGWGPd4jmfFGhaQ6lAOBjK7aZG0lduPDcTd3exwPn0SNS4sDsqMnq8gkDeLeAHFamseian1ThfWr0mVvroayFjo5WOeWguYHDLT0TzKuWM85rGdQhC6cBCEIAEIQgAQhCAMyZTjmlW07ByXtsjei9B4zxUpcJ9gzmvDqaMhLOkA6FeDMzGdFzQGk1IzHqqKraKM8QPcpeaqbjkousqAeBXQKxcqFgz3WcOgVQuFMd8humqutwkLtOqrtTDvSkkLjNT4ImhiFFVQ1ZbvmJ4dungcK91+0MV0tYNNHJFGGnfMmNfAeCqs1OXMEbRlztMKy0Fk7e1mlz2e8wgOPIkLjempoW9H9vfmWqliLnSneJHFrfH2K53tzWmOGHVgG8cHPko7ZgS2+jMFXAe13d0vYQQ7xCkzAalxc71ndOSW15HT48lGkgFVtZTtf6lO3fPmdAtOoxuRAA91+AfJVCy0RpNpK11azccXh0TnNy17cADB/rmrVE4NbnBHMDpr/ADXaWg0N3ltZtGWSHSnaxgb0yN5zvkPYpF2aiXec8GNnq45lNZIaeom7V8be1Dd3tAMHHmk62qbR0hZG8Bx0aHHn1XPkG8C5Vbw4RxxueGg5eBkN/rVdo6oNpsMYQ7e1yeSY2+sm7GQPmhJIIwwHnx4p0z1DqEHHX6FZqrfZguTJvZlxG8B7VHVb5TVbpdux9U9gETIwRl3UoBM8yRN3y5gO9yc04KXp77d6QbrKtzwODZwH/Hj8UmZYXHdAOfApvMQTho1HJaVNGKma+UWSl20kY3+3UQd+aB30P8VK021lomO66pMLz+GVhb8eCz9spa8BzcZ6hKkF790MaQQOSYutCK/Hh/BpsFxop/1NZTyeDJQU6Dg4ZByOoWTG3du/e3WA+S9Nt1XCc09S+L9x5b8ltdv8Fv8AHf2awCOqOCy9tZtDSepdJXD87g/5hLt2m2khHr0so/NFr8CFpdZMPhSNJQs5G3F7j/W26nf4guH1KF33J+zns19EO25DHrLhujebh5Keg9GEX/ebzVP69lCxnz3lIQejexx47Z9bNj9uoIB9jcJftMb7yKZJdmNGcj+CbOuokOI+8fy6rUaXY/Z+lIMdrp3OHB0gLz8cqXhpKenGIIIoh/lsDfkurkZff6McjpbtWf3a2VkmefYuA95TluyG0lSP7nHCP82oaPkStf3f6KMLftr9mPeoyRvoyvco+9q6GL90vd9AlB6KaprC+e907A0ZJFOdB1yXLViTjgs4222mNykfZ7TJmAO3aqoZwfj8DT06n2eI5UzKOzV28Kba7DB9qlmM7qmJrt2GQs3d5o54yeKscdK1rhujA8F2hgEcQGMcE/ij14KdlqSw7FABgZT2niAOq5TxOxwS+g8FzDunXOAbuj2ZKa1EjRxxp0SFwrGxndblzuQHNMGyOmlAk3mDGTqgNC43B9NTySwQPqHNGQxmmVV6LaA1dUW147KbOdx2mB0Cu0MYHAd3x5qOvezNFdo2vLGxSsPdeB15Hw+uEI69YzcI5cvp8A8dOa8vunZu7J79yXHdY4+v5FTex2xNPJRzSV0kri07kZieWggcT46p7dvRnRXCMtbc62PoSGOweR4Api5trRD7ynhUJJnVY3icOC8fpPsHiF5II+Knv+zy9U0RZDcaWrxwdK10Tj54yFTr9s9tJbK0TVVulfTj/iw/eNHuQ+bRpdpfwWuipRPF2jXeKWMbWHOMnmouyXRktOAx43xoQDwUo6djxg+tzS8GaIStDznovLN5jT3iMcF1xOfV180Ndvd1/FdDT3HK7eyCfPKdRTgjDimRbunQrrXlmToUHNHrwHDIP8kg8AaFemS72GnC8SkOYTnVcDRB4DhgdeaFx2mMa6IQGmtIQhXHmAhCEAC8uOMrzJI2JrnveGtAySdAAs22q2vfdHSW60Oc2k4S1LdDJ4N6N8eazVJGph0/A52y2qfVufa7NN93ndqKlh4/kafmfYOqr9uoeyY3TGOGEUFK1rQGtwOHBSzIwxowdVNbbLIn0eEELDlSUDNRkaJtEMapz2wY3Qa4WRnwOC9sbSou5XOGkhMkj9fwtHFx6BSdDbqu6HI+6p86yFvH90c1l+1VJW2zbaso6uV8sWBJTOOg7N3DA6ggg+IWvQ80z7i3CxUtQ+ql7WQ8dAOikm/rM4AULaHANyOKmgc46lYGD6M9wL0S55bGwZe8hrQOp0CQY/daAeKl9mab7TcDO4ZZANP3jw+q1K1mbr0y2Wqjp20tNHAz1WNA/mlwuBdViPNOY8UYXUIAjayxWutyaq308jjxcYxn3jVQtbsRRyNIoqmppTyG92jR7Dr8VbFzCy5TNKqXwzO6/Zq7UbC5rW1bWjjD63/pKr5qgyQxSh0co4skBa4ewrZcJrXW6juEfZ1tNFOzkJGB2PLosPkv0MXel8mSCck5Y7eHmj7U3OHK5XH0f0Ez+1t9RNRv/ZzvsPsOvxVWu2yd8oskU/2qMHSSm1OPFp192Ut82hy6pjcVI3gQfcvbJQDq7Kh2vkjLg8FpBxuuGCPYdVxlbh+CVjGb9Wk8JW8EKHZWZPFC5gabohCCrSAE0udfS2ykfV107IIIxlz3nAH8T4KP2o2ltuzVB9quM2CTiKFmr5XdGj68AsUvu0Vw2prxPXO3KZjj2NKx3cjH1PV3uAWLtSbiHRP7TbX1W0kjqem36e2A4DM4dN4u8Py+9M6SIMA05dEyo4gAAAcDqpSnaBxKnb0rlKfgk6Y6J5HrhMoHDTKXfOGjdaMuPADiSueTWjg1Aj6eCn7FZH1G7U17S2PiyI6b3i7w8F72d2eMe7WXFmZuLInahniep+StAGE2Of7ZP0674R5Y0NaAAABoMDCyX02xCK72GraAHPZNC52OIG64D/qWuLMvTrEP0RZ6nnFcA0nwcxw+YCbS8YJh5SKtaptFYad+vXRVC2T4Y3J0Vho5eCkw9HdRLvcDjPBW7Y6INtbpecsrjnwGg+RVGmm3ISStF2ai7Gx0TTxMQefN3e+qbyXkR+Q/4okl1CFQRghCEACEIQAIQhAHEYC6hADG42qhuTNyupY5hwy5uo8jxVJvPowp5Xvms1fLTSEaRTDtIz7eI+K0RC45TOqmjCa/Zbae0PPaW11XFw7WlPaA+ziPchbshY9tG/dYLjvVKEJgtmCemr/f2k/8IPmVA0PBvsQhTdP7FfL+pP0vAJ/FxQhYGD5nqhOrZ/tug/12/NCF1HK+DUm8PaV6QhVIhZwrOPTp/unSf+YxfJyEIr4NR/ZGc2/9U3zVko/UahClZ6C+BzWf3Z/7pWq2j/ZdH/oM/wCkIQmcif8AI+EPAhCE8lBCEIAEIQgAQhCABCEIAEIQgAQhCAP/2Q=="/>
          <p:cNvSpPr>
            <a:spLocks noChangeAspect="1" noChangeArrowheads="1"/>
          </p:cNvSpPr>
          <p:nvPr/>
        </p:nvSpPr>
        <p:spPr bwMode="auto">
          <a:xfrm>
            <a:off x="207433" y="-669925"/>
            <a:ext cx="2692400" cy="1409700"/>
          </a:xfrm>
          <a:prstGeom prst="rect">
            <a:avLst/>
          </a:prstGeom>
          <a:noFill/>
        </p:spPr>
        <p:txBody>
          <a:bodyPr vert="horz" wrap="square" lIns="91440" tIns="45720" rIns="91440" bIns="45720" numCol="1" anchor="t" anchorCtr="0" compatLnSpc="1">
            <a:prstTxWarp prst="textNoShape">
              <a:avLst/>
            </a:prstTxWarp>
          </a:bodyPr>
          <a:lstStyle/>
          <a:p>
            <a:endParaRPr lang="tr-TR"/>
          </a:p>
        </p:txBody>
      </p:sp>
      <p:pic>
        <p:nvPicPr>
          <p:cNvPr id="62474" name="Picture 10" descr="http://www.ekisbul.net/ek-isler/wp-content/uploads/2009/08/ekip-%C3%A7al%C4%B1%C5%9Fmas%C4%B1.jpg"/>
          <p:cNvPicPr>
            <a:picLocks noChangeAspect="1" noChangeArrowheads="1"/>
          </p:cNvPicPr>
          <p:nvPr/>
        </p:nvPicPr>
        <p:blipFill>
          <a:blip r:embed="rId5" cstate="print"/>
          <a:srcRect/>
          <a:stretch>
            <a:fillRect/>
          </a:stretch>
        </p:blipFill>
        <p:spPr bwMode="auto">
          <a:xfrm>
            <a:off x="8112225" y="4371890"/>
            <a:ext cx="3702785" cy="1938622"/>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29700546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AutoShape 2"/>
          <p:cNvSpPr>
            <a:spLocks noGrp="1" noChangeArrowheads="1"/>
          </p:cNvSpPr>
          <p:nvPr>
            <p:ph type="title"/>
          </p:nvPr>
        </p:nvSpPr>
        <p:spPr>
          <a:xfrm>
            <a:off x="1968500" y="904876"/>
            <a:ext cx="9889067" cy="931863"/>
          </a:xfrm>
        </p:spPr>
        <p:txBody>
          <a:bodyPr/>
          <a:lstStyle/>
          <a:p>
            <a:pPr algn="r" eaLnBrk="1" hangingPunct="1">
              <a:buFont typeface="Wingdings" pitchFamily="2" charset="2"/>
              <a:buNone/>
            </a:pPr>
            <a:r>
              <a:rPr lang="tr-TR" sz="2400" dirty="0">
                <a:solidFill>
                  <a:srgbClr val="FF3300"/>
                </a:solidFill>
                <a:latin typeface="Comic Sans MS" pitchFamily="66" charset="0"/>
              </a:rPr>
              <a:t>NEDEN ETİK DAVRANMALIYIZ? </a:t>
            </a:r>
            <a:br>
              <a:rPr lang="tr-TR" sz="2400" dirty="0">
                <a:solidFill>
                  <a:srgbClr val="FF3300"/>
                </a:solidFill>
                <a:latin typeface="Comic Sans MS" pitchFamily="66" charset="0"/>
              </a:rPr>
            </a:br>
            <a:r>
              <a:rPr lang="tr-TR" sz="2400" dirty="0">
                <a:solidFill>
                  <a:schemeClr val="hlink"/>
                </a:solidFill>
                <a:latin typeface="Comic Sans MS" pitchFamily="66" charset="0"/>
              </a:rPr>
              <a:t>(Kurum açısından devam)</a:t>
            </a:r>
          </a:p>
        </p:txBody>
      </p:sp>
      <p:sp>
        <p:nvSpPr>
          <p:cNvPr id="33795" name="Rectangle 3"/>
          <p:cNvSpPr>
            <a:spLocks noGrp="1" noChangeArrowheads="1"/>
          </p:cNvSpPr>
          <p:nvPr>
            <p:ph sz="quarter" idx="1"/>
          </p:nvPr>
        </p:nvSpPr>
        <p:spPr>
          <a:xfrm>
            <a:off x="335360" y="2492897"/>
            <a:ext cx="9793088" cy="4104977"/>
          </a:xfrm>
        </p:spPr>
        <p:txBody>
          <a:bodyPr/>
          <a:lstStyle/>
          <a:p>
            <a:pPr eaLnBrk="1" hangingPunct="1">
              <a:lnSpc>
                <a:spcPct val="80000"/>
              </a:lnSpc>
              <a:buFont typeface="Wingdings" pitchFamily="2" charset="2"/>
              <a:buChar char="§"/>
            </a:pPr>
            <a:endParaRPr lang="tr-TR" sz="2400" dirty="0">
              <a:solidFill>
                <a:srgbClr val="000000"/>
              </a:solidFill>
              <a:latin typeface="Comic Sans MS" pitchFamily="66" charset="0"/>
            </a:endParaRPr>
          </a:p>
          <a:p>
            <a:pPr eaLnBrk="1" hangingPunct="1">
              <a:lnSpc>
                <a:spcPct val="80000"/>
              </a:lnSpc>
              <a:buClr>
                <a:srgbClr val="000000"/>
              </a:buClr>
              <a:buFont typeface="Wingdings" pitchFamily="2" charset="2"/>
              <a:buChar char="§"/>
            </a:pPr>
            <a:r>
              <a:rPr lang="tr-TR" sz="2400" dirty="0">
                <a:solidFill>
                  <a:srgbClr val="000000"/>
                </a:solidFill>
                <a:latin typeface="Comic Sans MS" pitchFamily="66" charset="0"/>
                <a:cs typeface="Times New Roman" pitchFamily="18" charset="0"/>
              </a:rPr>
              <a:t>Etik program </a:t>
            </a:r>
            <a:r>
              <a:rPr lang="tr-TR" sz="2400" b="1" dirty="0">
                <a:solidFill>
                  <a:schemeClr val="accent2">
                    <a:lumMod val="75000"/>
                  </a:schemeClr>
                </a:solidFill>
                <a:latin typeface="Comic Sans MS" pitchFamily="66" charset="0"/>
                <a:cs typeface="Times New Roman" pitchFamily="18" charset="0"/>
              </a:rPr>
              <a:t>bir nevi sigortadır</a:t>
            </a:r>
            <a:r>
              <a:rPr lang="tr-TR" sz="2400" b="1" dirty="0">
                <a:solidFill>
                  <a:srgbClr val="000000"/>
                </a:solidFill>
                <a:latin typeface="Comic Sans MS" pitchFamily="66" charset="0"/>
                <a:cs typeface="Times New Roman" pitchFamily="18" charset="0"/>
              </a:rPr>
              <a:t>. </a:t>
            </a:r>
            <a:r>
              <a:rPr lang="tr-TR" sz="2400" dirty="0">
                <a:solidFill>
                  <a:srgbClr val="000000"/>
                </a:solidFill>
                <a:latin typeface="Comic Sans MS" pitchFamily="66" charset="0"/>
              </a:rPr>
              <a:t>Etik davranan organizasyonlar; </a:t>
            </a:r>
          </a:p>
          <a:p>
            <a:pPr lvl="1" eaLnBrk="1" hangingPunct="1">
              <a:lnSpc>
                <a:spcPct val="80000"/>
              </a:lnSpc>
              <a:buClr>
                <a:srgbClr val="000000"/>
              </a:buClr>
              <a:buFont typeface="Wingdings" pitchFamily="2" charset="2"/>
              <a:buChar char="§"/>
            </a:pPr>
            <a:r>
              <a:rPr lang="tr-TR" b="1" dirty="0">
                <a:solidFill>
                  <a:srgbClr val="C00000"/>
                </a:solidFill>
                <a:latin typeface="Comic Sans MS" pitchFamily="66" charset="0"/>
              </a:rPr>
              <a:t>yasal kovuşturmalardan, </a:t>
            </a:r>
          </a:p>
          <a:p>
            <a:pPr lvl="1" eaLnBrk="1" hangingPunct="1">
              <a:lnSpc>
                <a:spcPct val="80000"/>
              </a:lnSpc>
              <a:buClr>
                <a:srgbClr val="000000"/>
              </a:buClr>
              <a:buFont typeface="Wingdings" pitchFamily="2" charset="2"/>
              <a:buChar char="§"/>
            </a:pPr>
            <a:r>
              <a:rPr lang="tr-TR" b="1" dirty="0">
                <a:solidFill>
                  <a:srgbClr val="C00000"/>
                </a:solidFill>
                <a:latin typeface="Comic Sans MS" pitchFamily="66" charset="0"/>
              </a:rPr>
              <a:t>haksız rekabet suçlamalarından,</a:t>
            </a:r>
          </a:p>
          <a:p>
            <a:pPr lvl="1" eaLnBrk="1" hangingPunct="1">
              <a:lnSpc>
                <a:spcPct val="80000"/>
              </a:lnSpc>
              <a:buClr>
                <a:srgbClr val="000000"/>
              </a:buClr>
              <a:buFont typeface="Wingdings" pitchFamily="2" charset="2"/>
              <a:buChar char="§"/>
            </a:pPr>
            <a:r>
              <a:rPr lang="tr-TR" b="1" dirty="0">
                <a:solidFill>
                  <a:srgbClr val="C00000"/>
                </a:solidFill>
                <a:latin typeface="Comic Sans MS" pitchFamily="66" charset="0"/>
              </a:rPr>
              <a:t>iş kazaları ve meslek hastalıkları</a:t>
            </a:r>
            <a:r>
              <a:rPr lang="tr-TR" dirty="0">
                <a:solidFill>
                  <a:srgbClr val="C00000"/>
                </a:solidFill>
                <a:latin typeface="Comic Sans MS" pitchFamily="66" charset="0"/>
              </a:rPr>
              <a:t> </a:t>
            </a:r>
            <a:r>
              <a:rPr lang="tr-TR" dirty="0">
                <a:solidFill>
                  <a:srgbClr val="000000"/>
                </a:solidFill>
                <a:latin typeface="Comic Sans MS" pitchFamily="66" charset="0"/>
              </a:rPr>
              <a:t>gibi sorunlardan, </a:t>
            </a:r>
          </a:p>
          <a:p>
            <a:pPr lvl="1" eaLnBrk="1" hangingPunct="1">
              <a:lnSpc>
                <a:spcPct val="80000"/>
              </a:lnSpc>
              <a:buClr>
                <a:srgbClr val="000000"/>
              </a:buClr>
              <a:buFont typeface="Wingdings" pitchFamily="2" charset="2"/>
              <a:buChar char="§"/>
            </a:pPr>
            <a:r>
              <a:rPr lang="tr-TR" b="1" dirty="0">
                <a:solidFill>
                  <a:srgbClr val="C00000"/>
                </a:solidFill>
                <a:latin typeface="Comic Sans MS" pitchFamily="66" charset="0"/>
              </a:rPr>
              <a:t>ayırımcılık, taciz gibi dava konularından, </a:t>
            </a:r>
          </a:p>
          <a:p>
            <a:pPr lvl="1" eaLnBrk="1" hangingPunct="1">
              <a:lnSpc>
                <a:spcPct val="80000"/>
              </a:lnSpc>
              <a:buClr>
                <a:srgbClr val="000000"/>
              </a:buClr>
              <a:buFont typeface="Wingdings" pitchFamily="2" charset="2"/>
              <a:buChar char="§"/>
            </a:pPr>
            <a:r>
              <a:rPr lang="tr-TR" b="1" dirty="0">
                <a:solidFill>
                  <a:srgbClr val="C00000"/>
                </a:solidFill>
                <a:latin typeface="Comic Sans MS" pitchFamily="66" charset="0"/>
              </a:rPr>
              <a:t>devletin, sendikaların ve çevre örgütlerinin baskılarından</a:t>
            </a:r>
            <a:r>
              <a:rPr lang="tr-TR" dirty="0">
                <a:solidFill>
                  <a:srgbClr val="C00000"/>
                </a:solidFill>
                <a:latin typeface="Comic Sans MS" pitchFamily="66" charset="0"/>
              </a:rPr>
              <a:t> </a:t>
            </a:r>
            <a:r>
              <a:rPr lang="tr-TR" dirty="0">
                <a:solidFill>
                  <a:srgbClr val="000000"/>
                </a:solidFill>
                <a:latin typeface="Comic Sans MS" pitchFamily="66" charset="0"/>
              </a:rPr>
              <a:t>kendilerini daha kolay koruyabilirler. </a:t>
            </a:r>
          </a:p>
          <a:p>
            <a:pPr eaLnBrk="1" hangingPunct="1">
              <a:lnSpc>
                <a:spcPct val="80000"/>
              </a:lnSpc>
              <a:buFont typeface="Wingdings" pitchFamily="2" charset="2"/>
              <a:buNone/>
            </a:pPr>
            <a:endParaRPr lang="tr-TR" sz="2400" b="1" dirty="0">
              <a:solidFill>
                <a:srgbClr val="000000"/>
              </a:solidFill>
              <a:latin typeface="Comic Sans MS" pitchFamily="66" charset="0"/>
              <a:cs typeface="Times New Roman" pitchFamily="18" charset="0"/>
            </a:endParaRPr>
          </a:p>
          <a:p>
            <a:pPr eaLnBrk="1" hangingPunct="1">
              <a:lnSpc>
                <a:spcPct val="80000"/>
              </a:lnSpc>
              <a:buClr>
                <a:srgbClr val="000000"/>
              </a:buClr>
              <a:buFont typeface="Wingdings" pitchFamily="2" charset="2"/>
              <a:buNone/>
            </a:pPr>
            <a:endParaRPr lang="tr-TR" sz="2400" b="1" dirty="0">
              <a:latin typeface="Comic Sans MS" pitchFamily="66" charset="0"/>
              <a:cs typeface="Times New Roman" pitchFamily="18" charset="0"/>
            </a:endParaRPr>
          </a:p>
        </p:txBody>
      </p:sp>
      <p:pic>
        <p:nvPicPr>
          <p:cNvPr id="60420" name="Picture 4" descr="http://t0.gstatic.com/images?q=tbn:ANd9GcQcTzoqRES_9VUYpw-oYCaeEeX8dn52sZ971fePEYVXhsaMI9U&amp;t=1&amp;usg=__1vnNa816gK0HKcfhQZxKcClToFw="/>
          <p:cNvPicPr>
            <a:picLocks noChangeAspect="1" noChangeArrowheads="1"/>
          </p:cNvPicPr>
          <p:nvPr/>
        </p:nvPicPr>
        <p:blipFill>
          <a:blip r:embed="rId3" cstate="print"/>
          <a:srcRect/>
          <a:stretch>
            <a:fillRect/>
          </a:stretch>
        </p:blipFill>
        <p:spPr bwMode="auto">
          <a:xfrm>
            <a:off x="721928" y="397396"/>
            <a:ext cx="2908300" cy="2095501"/>
          </a:xfrm>
          <a:prstGeom prst="rect">
            <a:avLst/>
          </a:prstGeom>
          <a:ln>
            <a:noFill/>
          </a:ln>
          <a:effectLst>
            <a:outerShdw blurRad="292100" dist="139700" dir="2700000" algn="tl" rotWithShape="0">
              <a:srgbClr val="333333">
                <a:alpha val="65000"/>
              </a:srgbClr>
            </a:outerShdw>
          </a:effectLst>
        </p:spPr>
      </p:pic>
      <p:pic>
        <p:nvPicPr>
          <p:cNvPr id="60422" name="Picture 6" descr="http://t1.gstatic.com/images?q=tbn:ANd9GcRhkAwLwhG5qGOxcQge_uPAhkqw2SpGwfHqo0fB5nnE5ifH0aU&amp;t=1&amp;h=153&amp;w=243&amp;usg=__NUB977IsTQDX0498tqRRgZX8grM="/>
          <p:cNvPicPr>
            <a:picLocks noChangeAspect="1" noChangeArrowheads="1"/>
          </p:cNvPicPr>
          <p:nvPr/>
        </p:nvPicPr>
        <p:blipFill>
          <a:blip r:embed="rId4" cstate="print"/>
          <a:srcRect/>
          <a:stretch>
            <a:fillRect/>
          </a:stretch>
        </p:blipFill>
        <p:spPr bwMode="auto">
          <a:xfrm>
            <a:off x="9072331" y="3573017"/>
            <a:ext cx="2730500" cy="1295401"/>
          </a:xfrm>
          <a:prstGeom prst="rect">
            <a:avLst/>
          </a:prstGeom>
          <a:noFill/>
        </p:spPr>
      </p:pic>
    </p:spTree>
    <p:extLst>
      <p:ext uri="{BB962C8B-B14F-4D97-AF65-F5344CB8AC3E}">
        <p14:creationId xmlns:p14="http://schemas.microsoft.com/office/powerpoint/2010/main" val="236782323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AutoShape 2"/>
          <p:cNvSpPr>
            <a:spLocks noGrp="1" noChangeArrowheads="1"/>
          </p:cNvSpPr>
          <p:nvPr>
            <p:ph type="title"/>
          </p:nvPr>
        </p:nvSpPr>
        <p:spPr>
          <a:xfrm>
            <a:off x="1162052" y="904876"/>
            <a:ext cx="10265833" cy="931863"/>
          </a:xfrm>
        </p:spPr>
        <p:txBody>
          <a:bodyPr/>
          <a:lstStyle/>
          <a:p>
            <a:pPr algn="r" eaLnBrk="1" hangingPunct="1">
              <a:buFont typeface="Wingdings" pitchFamily="2" charset="2"/>
              <a:buNone/>
            </a:pPr>
            <a:r>
              <a:rPr lang="tr-TR" sz="2400" dirty="0">
                <a:solidFill>
                  <a:srgbClr val="FF3300"/>
                </a:solidFill>
                <a:latin typeface="Comic Sans MS" pitchFamily="66" charset="0"/>
              </a:rPr>
              <a:t>NEDEN ETİK DAVRANMALIYIZ? </a:t>
            </a:r>
            <a:br>
              <a:rPr lang="tr-TR" sz="2400" dirty="0">
                <a:solidFill>
                  <a:srgbClr val="FF3300"/>
                </a:solidFill>
                <a:latin typeface="Comic Sans MS" pitchFamily="66" charset="0"/>
              </a:rPr>
            </a:br>
            <a:r>
              <a:rPr lang="tr-TR" sz="2400" dirty="0">
                <a:solidFill>
                  <a:schemeClr val="hlink"/>
                </a:solidFill>
                <a:latin typeface="Comic Sans MS" pitchFamily="66" charset="0"/>
              </a:rPr>
              <a:t>(Kurum açısından devam)</a:t>
            </a:r>
          </a:p>
        </p:txBody>
      </p:sp>
      <p:sp>
        <p:nvSpPr>
          <p:cNvPr id="34820" name="Rectangle 3"/>
          <p:cNvSpPr>
            <a:spLocks noGrp="1" noChangeArrowheads="1"/>
          </p:cNvSpPr>
          <p:nvPr>
            <p:ph sz="quarter" idx="1"/>
          </p:nvPr>
        </p:nvSpPr>
        <p:spPr>
          <a:xfrm>
            <a:off x="527382" y="2349500"/>
            <a:ext cx="7104789" cy="4247852"/>
          </a:xfrm>
        </p:spPr>
        <p:txBody>
          <a:bodyPr/>
          <a:lstStyle/>
          <a:p>
            <a:pPr eaLnBrk="1" hangingPunct="1">
              <a:lnSpc>
                <a:spcPct val="90000"/>
              </a:lnSpc>
              <a:buClr>
                <a:srgbClr val="000000"/>
              </a:buClr>
            </a:pPr>
            <a:r>
              <a:rPr lang="tr-TR" sz="2400" dirty="0">
                <a:solidFill>
                  <a:srgbClr val="000000"/>
                </a:solidFill>
                <a:latin typeface="Comic Sans MS" pitchFamily="66" charset="0"/>
                <a:cs typeface="Times New Roman" pitchFamily="18" charset="0"/>
              </a:rPr>
              <a:t>Özellikle sosyal çalkantı dönemlerde </a:t>
            </a:r>
            <a:r>
              <a:rPr lang="tr-TR" sz="2400" b="1" dirty="0">
                <a:solidFill>
                  <a:srgbClr val="C00000"/>
                </a:solidFill>
                <a:latin typeface="Comic Sans MS" pitchFamily="66" charset="0"/>
                <a:cs typeface="Times New Roman" pitchFamily="18" charset="0"/>
              </a:rPr>
              <a:t>ahlaki çöküşü azaltır</a:t>
            </a:r>
            <a:r>
              <a:rPr lang="tr-TR" sz="2400" dirty="0">
                <a:solidFill>
                  <a:srgbClr val="C00000"/>
                </a:solidFill>
                <a:latin typeface="Comic Sans MS" pitchFamily="66" charset="0"/>
                <a:cs typeface="Times New Roman" pitchFamily="18" charset="0"/>
              </a:rPr>
              <a:t>, </a:t>
            </a:r>
            <a:r>
              <a:rPr lang="tr-TR" sz="2400" dirty="0">
                <a:solidFill>
                  <a:srgbClr val="000000"/>
                </a:solidFill>
                <a:latin typeface="Comic Sans MS" pitchFamily="66" charset="0"/>
                <a:cs typeface="Times New Roman" pitchFamily="18" charset="0"/>
              </a:rPr>
              <a:t>kurum ve toplum açısından </a:t>
            </a:r>
            <a:r>
              <a:rPr lang="tr-TR" sz="2400" b="1" dirty="0">
                <a:solidFill>
                  <a:srgbClr val="0070C0"/>
                </a:solidFill>
                <a:latin typeface="Comic Sans MS" pitchFamily="66" charset="0"/>
                <a:cs typeface="Times New Roman" pitchFamily="18" charset="0"/>
              </a:rPr>
              <a:t>kötü niyetli girişimlere k</a:t>
            </a:r>
            <a:r>
              <a:rPr lang="tr-TR" sz="2400" dirty="0">
                <a:solidFill>
                  <a:srgbClr val="0070C0"/>
                </a:solidFill>
                <a:latin typeface="Comic Sans MS" pitchFamily="66" charset="0"/>
                <a:cs typeface="Times New Roman" pitchFamily="18" charset="0"/>
              </a:rPr>
              <a:t>arşı önleyici </a:t>
            </a:r>
            <a:r>
              <a:rPr lang="tr-TR" sz="2400" dirty="0">
                <a:solidFill>
                  <a:srgbClr val="000000"/>
                </a:solidFill>
                <a:latin typeface="Comic Sans MS" pitchFamily="66" charset="0"/>
                <a:cs typeface="Times New Roman" pitchFamily="18" charset="0"/>
              </a:rPr>
              <a:t>rol oynar.</a:t>
            </a:r>
          </a:p>
          <a:p>
            <a:pPr eaLnBrk="1" hangingPunct="1">
              <a:lnSpc>
                <a:spcPct val="90000"/>
              </a:lnSpc>
              <a:buClr>
                <a:srgbClr val="000000"/>
              </a:buClr>
            </a:pPr>
            <a:endParaRPr lang="tr-TR" sz="2400" dirty="0">
              <a:solidFill>
                <a:srgbClr val="000000"/>
              </a:solidFill>
              <a:latin typeface="Comic Sans MS" pitchFamily="66" charset="0"/>
              <a:cs typeface="Times New Roman" pitchFamily="18" charset="0"/>
            </a:endParaRPr>
          </a:p>
          <a:p>
            <a:pPr eaLnBrk="1" hangingPunct="1">
              <a:lnSpc>
                <a:spcPct val="90000"/>
              </a:lnSpc>
              <a:buClr>
                <a:srgbClr val="000000"/>
              </a:buClr>
            </a:pPr>
            <a:r>
              <a:rPr lang="tr-TR" sz="2400" dirty="0">
                <a:solidFill>
                  <a:srgbClr val="000000"/>
                </a:solidFill>
                <a:latin typeface="Comic Sans MS" pitchFamily="66" charset="0"/>
              </a:rPr>
              <a:t>Etik ilke ve kuralların işletmelerde uygulama alanı bulması </a:t>
            </a:r>
            <a:r>
              <a:rPr lang="tr-TR" sz="2400" b="1" dirty="0">
                <a:solidFill>
                  <a:srgbClr val="7030A0"/>
                </a:solidFill>
                <a:latin typeface="Comic Sans MS" pitchFamily="66" charset="0"/>
              </a:rPr>
              <a:t>belirsizliği azaltarak</a:t>
            </a:r>
            <a:r>
              <a:rPr lang="tr-TR" sz="2400" dirty="0">
                <a:solidFill>
                  <a:srgbClr val="7030A0"/>
                </a:solidFill>
                <a:latin typeface="Comic Sans MS" pitchFamily="66" charset="0"/>
              </a:rPr>
              <a:t>, </a:t>
            </a:r>
            <a:r>
              <a:rPr lang="tr-TR" sz="2400" b="1" dirty="0">
                <a:solidFill>
                  <a:srgbClr val="7030A0"/>
                </a:solidFill>
                <a:latin typeface="Comic Sans MS" pitchFamily="66" charset="0"/>
              </a:rPr>
              <a:t>geleceğin tahmin</a:t>
            </a:r>
            <a:r>
              <a:rPr lang="tr-TR" sz="2400" dirty="0">
                <a:solidFill>
                  <a:srgbClr val="7030A0"/>
                </a:solidFill>
                <a:latin typeface="Comic Sans MS" pitchFamily="66" charset="0"/>
              </a:rPr>
              <a:t> </a:t>
            </a:r>
            <a:r>
              <a:rPr lang="tr-TR" sz="2400" dirty="0">
                <a:solidFill>
                  <a:srgbClr val="000000"/>
                </a:solidFill>
                <a:latin typeface="Comic Sans MS" pitchFamily="66" charset="0"/>
              </a:rPr>
              <a:t>edilmesine olanak sağlar. </a:t>
            </a:r>
          </a:p>
          <a:p>
            <a:pPr eaLnBrk="1" hangingPunct="1">
              <a:lnSpc>
                <a:spcPct val="90000"/>
              </a:lnSpc>
              <a:buClr>
                <a:srgbClr val="000000"/>
              </a:buClr>
              <a:buFont typeface="Wingdings" pitchFamily="2" charset="2"/>
              <a:buNone/>
            </a:pPr>
            <a:endParaRPr lang="tr-TR" sz="2400" b="1" dirty="0">
              <a:solidFill>
                <a:srgbClr val="000000"/>
              </a:solidFill>
              <a:latin typeface="Comic Sans MS" pitchFamily="66" charset="0"/>
              <a:cs typeface="Times New Roman" pitchFamily="18" charset="0"/>
            </a:endParaRPr>
          </a:p>
        </p:txBody>
      </p:sp>
      <p:pic>
        <p:nvPicPr>
          <p:cNvPr id="6" name="Picture 5" descr="etik145"/>
          <p:cNvPicPr>
            <a:picLocks noChangeAspect="1" noChangeArrowheads="1"/>
          </p:cNvPicPr>
          <p:nvPr/>
        </p:nvPicPr>
        <p:blipFill>
          <a:blip r:embed="rId3" cstate="print"/>
          <a:srcRect/>
          <a:stretch>
            <a:fillRect/>
          </a:stretch>
        </p:blipFill>
        <p:spPr bwMode="auto">
          <a:xfrm>
            <a:off x="527382" y="1"/>
            <a:ext cx="2705100" cy="2028825"/>
          </a:xfrm>
          <a:prstGeom prst="rect">
            <a:avLst/>
          </a:prstGeom>
          <a:noFill/>
          <a:ln w="9525">
            <a:noFill/>
            <a:miter lim="800000"/>
            <a:headEnd/>
            <a:tailEnd/>
          </a:ln>
        </p:spPr>
      </p:pic>
      <p:pic>
        <p:nvPicPr>
          <p:cNvPr id="56324" name="Picture 4" descr="http://languageartsgames.4you4free.com/predicitions.gif"/>
          <p:cNvPicPr>
            <a:picLocks noChangeAspect="1" noChangeArrowheads="1"/>
          </p:cNvPicPr>
          <p:nvPr/>
        </p:nvPicPr>
        <p:blipFill>
          <a:blip r:embed="rId4" cstate="print"/>
          <a:srcRect/>
          <a:stretch>
            <a:fillRect/>
          </a:stretch>
        </p:blipFill>
        <p:spPr bwMode="auto">
          <a:xfrm>
            <a:off x="7632171" y="1988840"/>
            <a:ext cx="4292600" cy="4610100"/>
          </a:xfrm>
          <a:prstGeom prst="rect">
            <a:avLst/>
          </a:prstGeom>
          <a:noFill/>
        </p:spPr>
      </p:pic>
    </p:spTree>
    <p:extLst>
      <p:ext uri="{BB962C8B-B14F-4D97-AF65-F5344CB8AC3E}">
        <p14:creationId xmlns:p14="http://schemas.microsoft.com/office/powerpoint/2010/main" val="17979736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527382" y="4149080"/>
            <a:ext cx="11330185" cy="1800200"/>
          </a:xfrm>
          <a:prstGeom prst="horizontalScroll">
            <a:avLst>
              <a:gd name="adj" fmla="val 12500"/>
            </a:avLst>
          </a:prstGeom>
          <a:solidFill>
            <a:schemeClr val="accent1"/>
          </a:solidFill>
          <a:ln w="12700">
            <a:solidFill>
              <a:schemeClr val="tx1"/>
            </a:solidFill>
            <a:round/>
            <a:headEnd type="none" w="sm" len="sm"/>
            <a:tailEnd type="none" w="sm" len="sm"/>
          </a:ln>
        </p:spPr>
        <p:txBody>
          <a:bodyPr wrap="none" anchor="ctr"/>
          <a:lstStyle/>
          <a:p>
            <a:endParaRPr lang="tr-TR" dirty="0"/>
          </a:p>
        </p:txBody>
      </p:sp>
      <p:sp>
        <p:nvSpPr>
          <p:cNvPr id="34819" name="AutoShape 2"/>
          <p:cNvSpPr>
            <a:spLocks noGrp="1" noChangeArrowheads="1"/>
          </p:cNvSpPr>
          <p:nvPr>
            <p:ph type="title"/>
          </p:nvPr>
        </p:nvSpPr>
        <p:spPr>
          <a:xfrm>
            <a:off x="1162052" y="904876"/>
            <a:ext cx="10265833" cy="931863"/>
          </a:xfrm>
        </p:spPr>
        <p:txBody>
          <a:bodyPr/>
          <a:lstStyle/>
          <a:p>
            <a:pPr algn="r" eaLnBrk="1" hangingPunct="1">
              <a:buFont typeface="Wingdings" pitchFamily="2" charset="2"/>
              <a:buNone/>
            </a:pPr>
            <a:r>
              <a:rPr lang="tr-TR" sz="2400" dirty="0">
                <a:solidFill>
                  <a:srgbClr val="FF3300"/>
                </a:solidFill>
                <a:latin typeface="Comic Sans MS" pitchFamily="66" charset="0"/>
              </a:rPr>
              <a:t>NEDEN ETİK DAVRANMALIYIZ? </a:t>
            </a:r>
            <a:br>
              <a:rPr lang="tr-TR" sz="2400" dirty="0">
                <a:solidFill>
                  <a:srgbClr val="FF3300"/>
                </a:solidFill>
                <a:latin typeface="Comic Sans MS" pitchFamily="66" charset="0"/>
              </a:rPr>
            </a:br>
            <a:r>
              <a:rPr lang="tr-TR" sz="2400" dirty="0">
                <a:solidFill>
                  <a:schemeClr val="hlink"/>
                </a:solidFill>
                <a:latin typeface="Comic Sans MS" pitchFamily="66" charset="0"/>
              </a:rPr>
              <a:t>(Kurum açısından devam)</a:t>
            </a:r>
          </a:p>
        </p:txBody>
      </p:sp>
      <p:sp>
        <p:nvSpPr>
          <p:cNvPr id="34820" name="Rectangle 3"/>
          <p:cNvSpPr>
            <a:spLocks noGrp="1" noChangeArrowheads="1"/>
          </p:cNvSpPr>
          <p:nvPr>
            <p:ph sz="quarter" idx="1"/>
          </p:nvPr>
        </p:nvSpPr>
        <p:spPr>
          <a:xfrm>
            <a:off x="914400" y="2349500"/>
            <a:ext cx="10653184" cy="1439540"/>
          </a:xfrm>
        </p:spPr>
        <p:txBody>
          <a:bodyPr>
            <a:noAutofit/>
          </a:bodyPr>
          <a:lstStyle/>
          <a:p>
            <a:pPr eaLnBrk="1" hangingPunct="1">
              <a:lnSpc>
                <a:spcPct val="90000"/>
              </a:lnSpc>
            </a:pPr>
            <a:r>
              <a:rPr lang="tr-TR" sz="2400" b="1" dirty="0">
                <a:solidFill>
                  <a:srgbClr val="000000"/>
                </a:solidFill>
                <a:latin typeface="Comic Sans MS" pitchFamily="66" charset="0"/>
              </a:rPr>
              <a:t>Gelişen iletişim ve bilgi teknolojilerinin yarattığı sürat ve yeni haber açlığı</a:t>
            </a:r>
            <a:r>
              <a:rPr lang="tr-TR" sz="2400" dirty="0">
                <a:latin typeface="Comic Sans MS" pitchFamily="66" charset="0"/>
              </a:rPr>
              <a:t> nedeniyle, </a:t>
            </a:r>
          </a:p>
          <a:p>
            <a:pPr lvl="1" eaLnBrk="1" hangingPunct="1">
              <a:lnSpc>
                <a:spcPct val="90000"/>
              </a:lnSpc>
            </a:pPr>
            <a:r>
              <a:rPr lang="tr-TR" sz="1600" dirty="0">
                <a:solidFill>
                  <a:srgbClr val="000000"/>
                </a:solidFill>
                <a:latin typeface="Comic Sans MS" pitchFamily="66" charset="0"/>
              </a:rPr>
              <a:t>Tokyo’daki etik açıdan yanlış bir karar verildiğinde, bunu Londra’dan duyabiliyoruz. </a:t>
            </a:r>
          </a:p>
          <a:p>
            <a:pPr lvl="1" eaLnBrk="1" hangingPunct="1">
              <a:lnSpc>
                <a:spcPct val="90000"/>
              </a:lnSpc>
            </a:pPr>
            <a:endParaRPr lang="tr-TR" sz="1400" dirty="0">
              <a:solidFill>
                <a:srgbClr val="000000"/>
              </a:solidFill>
              <a:latin typeface="Comic Sans MS" pitchFamily="66" charset="0"/>
            </a:endParaRPr>
          </a:p>
          <a:p>
            <a:pPr lvl="1" eaLnBrk="1" hangingPunct="1">
              <a:lnSpc>
                <a:spcPct val="90000"/>
              </a:lnSpc>
            </a:pPr>
            <a:endParaRPr lang="tr-TR" sz="1400" dirty="0">
              <a:solidFill>
                <a:srgbClr val="000000"/>
              </a:solidFill>
              <a:latin typeface="Comic Sans MS" pitchFamily="66" charset="0"/>
            </a:endParaRPr>
          </a:p>
          <a:p>
            <a:pPr lvl="1" eaLnBrk="1" hangingPunct="1">
              <a:lnSpc>
                <a:spcPct val="90000"/>
              </a:lnSpc>
            </a:pPr>
            <a:endParaRPr lang="tr-TR" sz="1400" dirty="0">
              <a:solidFill>
                <a:srgbClr val="000000"/>
              </a:solidFill>
              <a:latin typeface="Comic Sans MS" pitchFamily="66" charset="0"/>
            </a:endParaRPr>
          </a:p>
          <a:p>
            <a:pPr lvl="1" eaLnBrk="1" hangingPunct="1">
              <a:lnSpc>
                <a:spcPct val="90000"/>
              </a:lnSpc>
            </a:pPr>
            <a:endParaRPr lang="tr-TR" sz="1400" dirty="0">
              <a:solidFill>
                <a:srgbClr val="000000"/>
              </a:solidFill>
              <a:latin typeface="Comic Sans MS" pitchFamily="66" charset="0"/>
            </a:endParaRPr>
          </a:p>
          <a:p>
            <a:pPr eaLnBrk="1" hangingPunct="1">
              <a:lnSpc>
                <a:spcPct val="90000"/>
              </a:lnSpc>
              <a:buNone/>
            </a:pPr>
            <a:r>
              <a:rPr lang="tr-TR" sz="1800" b="1" dirty="0">
                <a:solidFill>
                  <a:srgbClr val="000000"/>
                </a:solidFill>
                <a:latin typeface="Comic Sans MS" pitchFamily="66" charset="0"/>
              </a:rPr>
              <a:t>Dolayısıyla pragmatik bir bakış açısıyla şunu söyleyebiliriz:</a:t>
            </a:r>
            <a:r>
              <a:rPr lang="tr-TR" sz="1800" dirty="0">
                <a:solidFill>
                  <a:srgbClr val="000000"/>
                </a:solidFill>
                <a:latin typeface="Comic Sans MS" pitchFamily="66" charset="0"/>
              </a:rPr>
              <a:t> şirketiniz etik değerlere uygun olmayan bir karar aldığında bir gün mutlaka haberlerde yer alırsınız.</a:t>
            </a:r>
            <a:endParaRPr lang="tr-TR" sz="2800" dirty="0">
              <a:solidFill>
                <a:srgbClr val="000000"/>
              </a:solidFill>
              <a:latin typeface="Comic Sans MS" pitchFamily="66" charset="0"/>
            </a:endParaRPr>
          </a:p>
        </p:txBody>
      </p:sp>
      <p:pic>
        <p:nvPicPr>
          <p:cNvPr id="54274" name="Picture 2" descr="http://t1.gstatic.com/images?q=tbn:zkz577HGBh2BeM:http://www.yeniasya.com.tr/2010/04/08/resim/h.jpg"/>
          <p:cNvPicPr>
            <a:picLocks noChangeAspect="1" noChangeArrowheads="1"/>
          </p:cNvPicPr>
          <p:nvPr/>
        </p:nvPicPr>
        <p:blipFill>
          <a:blip r:embed="rId3" cstate="print"/>
          <a:srcRect/>
          <a:stretch>
            <a:fillRect/>
          </a:stretch>
        </p:blipFill>
        <p:spPr bwMode="auto">
          <a:xfrm>
            <a:off x="239350" y="404664"/>
            <a:ext cx="1747727" cy="1844824"/>
          </a:xfrm>
          <a:prstGeom prst="rect">
            <a:avLst/>
          </a:prstGeom>
          <a:noFill/>
        </p:spPr>
      </p:pic>
    </p:spTree>
    <p:extLst>
      <p:ext uri="{BB962C8B-B14F-4D97-AF65-F5344CB8AC3E}">
        <p14:creationId xmlns:p14="http://schemas.microsoft.com/office/powerpoint/2010/main" val="20248349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AutoShape 2"/>
          <p:cNvSpPr>
            <a:spLocks noGrp="1" noChangeArrowheads="1"/>
          </p:cNvSpPr>
          <p:nvPr>
            <p:ph type="title"/>
          </p:nvPr>
        </p:nvSpPr>
        <p:spPr>
          <a:xfrm>
            <a:off x="1162052" y="904876"/>
            <a:ext cx="10265833" cy="931863"/>
          </a:xfrm>
        </p:spPr>
        <p:txBody>
          <a:bodyPr/>
          <a:lstStyle/>
          <a:p>
            <a:pPr algn="r" eaLnBrk="1" hangingPunct="1">
              <a:buFont typeface="Wingdings" pitchFamily="2" charset="2"/>
              <a:buNone/>
            </a:pPr>
            <a:r>
              <a:rPr lang="tr-TR" sz="2400" dirty="0">
                <a:solidFill>
                  <a:srgbClr val="FF3300"/>
                </a:solidFill>
                <a:latin typeface="Comic Sans MS" pitchFamily="66" charset="0"/>
              </a:rPr>
              <a:t>NEDEN ETİK DAVRANMALIYIZ? </a:t>
            </a:r>
            <a:br>
              <a:rPr lang="tr-TR" sz="2400" dirty="0">
                <a:solidFill>
                  <a:srgbClr val="FF3300"/>
                </a:solidFill>
                <a:latin typeface="Comic Sans MS" pitchFamily="66" charset="0"/>
              </a:rPr>
            </a:br>
            <a:r>
              <a:rPr lang="tr-TR" sz="2400" dirty="0">
                <a:solidFill>
                  <a:schemeClr val="hlink"/>
                </a:solidFill>
                <a:latin typeface="Comic Sans MS" pitchFamily="66" charset="0"/>
              </a:rPr>
              <a:t>(toplum açısından)</a:t>
            </a:r>
          </a:p>
        </p:txBody>
      </p:sp>
      <p:sp>
        <p:nvSpPr>
          <p:cNvPr id="36867" name="Rectangle 3"/>
          <p:cNvSpPr>
            <a:spLocks noGrp="1" noChangeArrowheads="1"/>
          </p:cNvSpPr>
          <p:nvPr>
            <p:ph sz="quarter" idx="1"/>
          </p:nvPr>
        </p:nvSpPr>
        <p:spPr>
          <a:xfrm>
            <a:off x="431371" y="2060848"/>
            <a:ext cx="7872875" cy="4464496"/>
          </a:xfrm>
        </p:spPr>
        <p:txBody>
          <a:bodyPr>
            <a:normAutofit/>
          </a:bodyPr>
          <a:lstStyle/>
          <a:p>
            <a:pPr eaLnBrk="1" hangingPunct="1">
              <a:buClr>
                <a:srgbClr val="000000"/>
              </a:buClr>
              <a:buFont typeface="Wingdings" pitchFamily="2" charset="2"/>
              <a:buChar char="§"/>
            </a:pPr>
            <a:r>
              <a:rPr lang="tr-TR" sz="2400" dirty="0">
                <a:solidFill>
                  <a:srgbClr val="000000"/>
                </a:solidFill>
                <a:latin typeface="Comic Sans MS" pitchFamily="66" charset="0"/>
                <a:cs typeface="Times New Roman" pitchFamily="18" charset="0"/>
              </a:rPr>
              <a:t>Etik programlar </a:t>
            </a:r>
            <a:r>
              <a:rPr lang="tr-TR" sz="2400" b="1" dirty="0">
                <a:solidFill>
                  <a:srgbClr val="7030A0"/>
                </a:solidFill>
                <a:latin typeface="Comic Sans MS" pitchFamily="66" charset="0"/>
                <a:cs typeface="Times New Roman" pitchFamily="18" charset="0"/>
              </a:rPr>
              <a:t>kurumların</a:t>
            </a:r>
            <a:r>
              <a:rPr lang="tr-TR" sz="2400" dirty="0">
                <a:solidFill>
                  <a:srgbClr val="7030A0"/>
                </a:solidFill>
                <a:latin typeface="Comic Sans MS" pitchFamily="66" charset="0"/>
                <a:cs typeface="Times New Roman" pitchFamily="18" charset="0"/>
              </a:rPr>
              <a:t> </a:t>
            </a:r>
            <a:r>
              <a:rPr lang="tr-TR" sz="2400" b="1" dirty="0">
                <a:solidFill>
                  <a:srgbClr val="7030A0"/>
                </a:solidFill>
                <a:latin typeface="Comic Sans MS" pitchFamily="66" charset="0"/>
                <a:cs typeface="Times New Roman" pitchFamily="18" charset="0"/>
              </a:rPr>
              <a:t>sosyal sorumluluklarını</a:t>
            </a:r>
            <a:r>
              <a:rPr lang="tr-TR" sz="2400" dirty="0">
                <a:solidFill>
                  <a:srgbClr val="7030A0"/>
                </a:solidFill>
                <a:latin typeface="Comic Sans MS" pitchFamily="66" charset="0"/>
                <a:cs typeface="Times New Roman" pitchFamily="18" charset="0"/>
              </a:rPr>
              <a:t> </a:t>
            </a:r>
            <a:r>
              <a:rPr lang="tr-TR" sz="2400" u="sng" dirty="0">
                <a:solidFill>
                  <a:srgbClr val="FF0000"/>
                </a:solidFill>
                <a:latin typeface="Comic Sans MS" pitchFamily="66" charset="0"/>
                <a:cs typeface="Times New Roman" pitchFamily="18" charset="0"/>
              </a:rPr>
              <a:t>düzenli</a:t>
            </a:r>
            <a:r>
              <a:rPr lang="tr-TR" sz="2400" dirty="0">
                <a:solidFill>
                  <a:srgbClr val="000000"/>
                </a:solidFill>
                <a:latin typeface="Comic Sans MS" pitchFamily="66" charset="0"/>
                <a:cs typeface="Times New Roman" pitchFamily="18" charset="0"/>
              </a:rPr>
              <a:t> bir şekilde yerine getirmesini sağlar.</a:t>
            </a:r>
          </a:p>
          <a:p>
            <a:pPr eaLnBrk="1" hangingPunct="1">
              <a:buClr>
                <a:srgbClr val="000000"/>
              </a:buClr>
              <a:buFont typeface="Wingdings" pitchFamily="2" charset="2"/>
              <a:buNone/>
            </a:pPr>
            <a:endParaRPr lang="tr-TR" sz="2400" b="1" dirty="0">
              <a:solidFill>
                <a:srgbClr val="000000"/>
              </a:solidFill>
              <a:latin typeface="Comic Sans MS" pitchFamily="66" charset="0"/>
              <a:cs typeface="Times New Roman" pitchFamily="18" charset="0"/>
            </a:endParaRPr>
          </a:p>
          <a:p>
            <a:pPr eaLnBrk="1" hangingPunct="1">
              <a:buClr>
                <a:srgbClr val="000000"/>
              </a:buClr>
              <a:buFont typeface="Wingdings" pitchFamily="2" charset="2"/>
              <a:buChar char="§"/>
            </a:pPr>
            <a:r>
              <a:rPr lang="tr-TR" sz="2400" dirty="0">
                <a:solidFill>
                  <a:srgbClr val="000000"/>
                </a:solidFill>
                <a:latin typeface="Comic Sans MS" pitchFamily="66" charset="0"/>
                <a:cs typeface="Times New Roman" pitchFamily="18" charset="0"/>
              </a:rPr>
              <a:t>Etik, </a:t>
            </a:r>
            <a:r>
              <a:rPr lang="tr-TR" sz="2400" b="1" dirty="0">
                <a:solidFill>
                  <a:srgbClr val="33CC33"/>
                </a:solidFill>
                <a:latin typeface="Comic Sans MS" pitchFamily="66" charset="0"/>
                <a:cs typeface="Times New Roman" pitchFamily="18" charset="0"/>
              </a:rPr>
              <a:t>haksız rekabetin engellenmesinde </a:t>
            </a:r>
            <a:r>
              <a:rPr lang="tr-TR" sz="2400" dirty="0">
                <a:solidFill>
                  <a:srgbClr val="000000"/>
                </a:solidFill>
                <a:latin typeface="Comic Sans MS" pitchFamily="66" charset="0"/>
                <a:cs typeface="Times New Roman" pitchFamily="18" charset="0"/>
              </a:rPr>
              <a:t>de rol oynar.</a:t>
            </a:r>
          </a:p>
          <a:p>
            <a:pPr eaLnBrk="1" hangingPunct="1">
              <a:buClr>
                <a:srgbClr val="000000"/>
              </a:buClr>
              <a:buFont typeface="Wingdings" pitchFamily="2" charset="2"/>
              <a:buNone/>
            </a:pPr>
            <a:endParaRPr lang="tr-TR" sz="2400" b="1" dirty="0">
              <a:solidFill>
                <a:srgbClr val="000000"/>
              </a:solidFill>
              <a:latin typeface="Comic Sans MS" pitchFamily="66" charset="0"/>
              <a:cs typeface="Times New Roman" pitchFamily="18" charset="0"/>
            </a:endParaRPr>
          </a:p>
          <a:p>
            <a:pPr eaLnBrk="1" hangingPunct="1">
              <a:buClr>
                <a:srgbClr val="000000"/>
              </a:buClr>
              <a:buFont typeface="Wingdings" pitchFamily="2" charset="2"/>
              <a:buChar char="§"/>
            </a:pPr>
            <a:r>
              <a:rPr lang="tr-TR" sz="2400" dirty="0">
                <a:solidFill>
                  <a:srgbClr val="000000"/>
                </a:solidFill>
                <a:latin typeface="Comic Sans MS" pitchFamily="66" charset="0"/>
                <a:cs typeface="Times New Roman" pitchFamily="18" charset="0"/>
              </a:rPr>
              <a:t>Kurumların iş etiği konusundaki adımları, </a:t>
            </a:r>
            <a:r>
              <a:rPr lang="tr-TR" sz="2400" b="1" dirty="0">
                <a:solidFill>
                  <a:srgbClr val="C00000"/>
                </a:solidFill>
                <a:latin typeface="Comic Sans MS" pitchFamily="66" charset="0"/>
                <a:cs typeface="Times New Roman" pitchFamily="18" charset="0"/>
              </a:rPr>
              <a:t>daha yaşanabilir bir topluma</a:t>
            </a:r>
            <a:r>
              <a:rPr lang="tr-TR" sz="2400" dirty="0">
                <a:solidFill>
                  <a:srgbClr val="C00000"/>
                </a:solidFill>
                <a:latin typeface="Comic Sans MS" pitchFamily="66" charset="0"/>
                <a:cs typeface="Times New Roman" pitchFamily="18" charset="0"/>
              </a:rPr>
              <a:t> </a:t>
            </a:r>
            <a:r>
              <a:rPr lang="tr-TR" sz="2400" dirty="0">
                <a:solidFill>
                  <a:srgbClr val="000000"/>
                </a:solidFill>
                <a:latin typeface="Comic Sans MS" pitchFamily="66" charset="0"/>
                <a:cs typeface="Times New Roman" pitchFamily="18" charset="0"/>
              </a:rPr>
              <a:t>doğru atılmış birer adımdır.</a:t>
            </a:r>
          </a:p>
          <a:p>
            <a:pPr eaLnBrk="1" hangingPunct="1">
              <a:buClr>
                <a:srgbClr val="000000"/>
              </a:buClr>
              <a:buFont typeface="Wingdings" pitchFamily="2" charset="2"/>
              <a:buChar char="§"/>
            </a:pPr>
            <a:endParaRPr lang="tr-TR" sz="2400" dirty="0">
              <a:latin typeface="Comic Sans MS" pitchFamily="66" charset="0"/>
            </a:endParaRPr>
          </a:p>
        </p:txBody>
      </p:sp>
      <p:pic>
        <p:nvPicPr>
          <p:cNvPr id="36869" name="Picture 7" descr="1127_b"/>
          <p:cNvPicPr>
            <a:picLocks noChangeAspect="1" noChangeArrowheads="1"/>
          </p:cNvPicPr>
          <p:nvPr/>
        </p:nvPicPr>
        <p:blipFill>
          <a:blip r:embed="rId2" cstate="print"/>
          <a:srcRect/>
          <a:stretch>
            <a:fillRect/>
          </a:stretch>
        </p:blipFill>
        <p:spPr bwMode="auto">
          <a:xfrm>
            <a:off x="8976321" y="4365104"/>
            <a:ext cx="2840100" cy="2016224"/>
          </a:xfrm>
          <a:prstGeom prst="rect">
            <a:avLst/>
          </a:prstGeom>
          <a:noFill/>
          <a:ln w="9525">
            <a:noFill/>
            <a:miter lim="800000"/>
            <a:headEnd/>
            <a:tailEnd/>
          </a:ln>
        </p:spPr>
      </p:pic>
      <p:pic>
        <p:nvPicPr>
          <p:cNvPr id="36868" name="Picture 5" descr="baba-beni-okula-gonder"/>
          <p:cNvPicPr>
            <a:picLocks noChangeAspect="1" noChangeArrowheads="1"/>
          </p:cNvPicPr>
          <p:nvPr/>
        </p:nvPicPr>
        <p:blipFill>
          <a:blip r:embed="rId3" cstate="print"/>
          <a:srcRect/>
          <a:stretch>
            <a:fillRect/>
          </a:stretch>
        </p:blipFill>
        <p:spPr bwMode="auto">
          <a:xfrm>
            <a:off x="9552384" y="2132856"/>
            <a:ext cx="1824203" cy="2065910"/>
          </a:xfrm>
          <a:prstGeom prst="rect">
            <a:avLst/>
          </a:prstGeom>
          <a:noFill/>
          <a:ln w="9525">
            <a:noFill/>
            <a:miter lim="800000"/>
            <a:headEnd/>
            <a:tailEnd/>
          </a:ln>
        </p:spPr>
      </p:pic>
    </p:spTree>
    <p:extLst>
      <p:ext uri="{BB962C8B-B14F-4D97-AF65-F5344CB8AC3E}">
        <p14:creationId xmlns:p14="http://schemas.microsoft.com/office/powerpoint/2010/main" val="72530474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k">
  <a:themeElements>
    <a:clrScheme name="Organik">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k">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k">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1007</TotalTime>
  <Words>5273</Words>
  <Application>Microsoft Office PowerPoint</Application>
  <PresentationFormat>Geniş ekran</PresentationFormat>
  <Paragraphs>533</Paragraphs>
  <Slides>77</Slides>
  <Notes>6</Notes>
  <HiddenSlides>0</HiddenSlides>
  <MMClips>0</MMClips>
  <ScaleCrop>false</ScaleCrop>
  <HeadingPairs>
    <vt:vector size="6" baseType="variant">
      <vt:variant>
        <vt:lpstr>Kullanılan Yazı Tipleri</vt:lpstr>
      </vt:variant>
      <vt:variant>
        <vt:i4>9</vt:i4>
      </vt:variant>
      <vt:variant>
        <vt:lpstr>Tema</vt:lpstr>
      </vt:variant>
      <vt:variant>
        <vt:i4>2</vt:i4>
      </vt:variant>
      <vt:variant>
        <vt:lpstr>Slayt Başlıkları</vt:lpstr>
      </vt:variant>
      <vt:variant>
        <vt:i4>77</vt:i4>
      </vt:variant>
    </vt:vector>
  </HeadingPairs>
  <TitlesOfParts>
    <vt:vector size="88" baseType="lpstr">
      <vt:lpstr>Arial</vt:lpstr>
      <vt:lpstr>Arial Black</vt:lpstr>
      <vt:lpstr>Arial Tur</vt:lpstr>
      <vt:lpstr>Calibri</vt:lpstr>
      <vt:lpstr>Comic Sans MS</vt:lpstr>
      <vt:lpstr>Constantia</vt:lpstr>
      <vt:lpstr>Garamond</vt:lpstr>
      <vt:lpstr>Times New Roman</vt:lpstr>
      <vt:lpstr>Wingdings</vt:lpstr>
      <vt:lpstr>Organik</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İş etiğine duyulan ihtiyacın artmasına neden olan faktörler</vt:lpstr>
      <vt:lpstr>İş etiğine duyulan ihtiyacın artmasına neden olan bazı faktörler</vt:lpstr>
      <vt:lpstr>İş etiğine duyulan ihtiyacın artmasına neden olan bazı faktörler</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Etik konusunda 2 önemli yanılgı…</vt:lpstr>
      <vt:lpstr>PowerPoint Sunusu</vt:lpstr>
      <vt:lpstr>PowerPoint Sunusu</vt:lpstr>
      <vt:lpstr>PowerPoint Sunusu</vt:lpstr>
      <vt:lpstr>Sonuç  olarak…</vt:lpstr>
      <vt:lpstr>Yaşanmış bir olay…</vt:lpstr>
      <vt:lpstr>ETİK İKİLEM</vt:lpstr>
      <vt:lpstr>ETİK İKİLEM</vt:lpstr>
      <vt:lpstr>Etik Eğitim </vt:lpstr>
      <vt:lpstr>PowerPoint Sunusu</vt:lpstr>
      <vt:lpstr>NEDEN ETİK DAVRANMALIYIZ?  (Kurum açısından)</vt:lpstr>
      <vt:lpstr>NEDEN ETİK DAVRANMALIYIZ?  (Kurum açısından)</vt:lpstr>
      <vt:lpstr>NEDEN ETİK DAVRANMALIYIZ?  (Kurum açısından devam)</vt:lpstr>
      <vt:lpstr>NEDEN ETİK DAVRANMALIYIZ?  (Kurum açısından devam)</vt:lpstr>
      <vt:lpstr>NEDEN ETİK DAVRANMALIYIZ?  (Kurum açısından devam)</vt:lpstr>
      <vt:lpstr>NEDEN ETİK DAVRANMALIYIZ?  (toplum açısından)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hp13</dc:creator>
  <cp:lastModifiedBy>;cengizhanTOP�U</cp:lastModifiedBy>
  <cp:revision>48</cp:revision>
  <dcterms:created xsi:type="dcterms:W3CDTF">2017-02-13T10:08:55Z</dcterms:created>
  <dcterms:modified xsi:type="dcterms:W3CDTF">2022-01-14T13:20:18Z</dcterms:modified>
</cp:coreProperties>
</file>